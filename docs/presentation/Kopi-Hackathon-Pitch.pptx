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screen16x9"/>
  <p:notesSz cx="6858000" cy="9144000"/>
  <p:defaultTextStyle>
    <a:defPPr>
      <a:defRPr lang="en-GB">
        <a:latin typeface="Segoe UI"/>
      </a:defRPr>
    </a:defPPr>
  </p:defaultTextStyle>
</p:presentation>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00:00–00:15 / 15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Kopi is designed to handle repeated browser work in the background. The idea started with something I kept doing myself: logging into university and going through verification every day. Once a supported verification workflow is learned and enabled, Kopi can recognise a matching challenge and execute it automatically.</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Origin story supplied by the user in this chat.</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https://github.com/MLouchini/Kopi/blob/main/README.md</a:t>
            </a:r>
            <a:endParaRPr lang="en-GB" sz="1200" b="0"/>
          </a:p>
          <a:p>
            <a:pPr algn="l">
              <a:lnSpc>
                <a:spcPct val="110000"/>
              </a:lnSpc>
            </a:pPr>
            <a:r>
              <a:rPr lang="en-GB" sz="1200" b="0">
                <a:solidFill>
                  <a:srgbClr val="201D1D"/>
                </a:solidFill>
                <a:latin typeface="Segoe UI"/>
                <a:ea typeface="Segoe UI"/>
                <a:cs typeface="Segoe UI"/>
              </a:rPr>
              <a:t xml:space="preserve">Brand assets: site/assets. Palette: site/style.css.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00:15–00:55 / 40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Every day I log into my university account, and every day I have to verify again. That means requesting a code, finding it in WhatsApp Web, going back to the university page and entering it. The verification protects the account, but manually moving through the same browser steps is repetitive. That repeated routine gave me a concrete problem to build around. I wanted to reduce the manual steps while keeping the verification itself.</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Personal motivation supplied by the user in this chat.</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https://github.com/MLouchini/Kopi/blob/main/HANDOFF.md</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00:55–01:35 / 40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My first thought was to automate that login routine. But a script written for one university page would only solve that one case. The wider idea was a local assistant that recognises repeated browser work and handles it in the background. It should understand which steps stay the same and which information changes, so I can carry on with my day. Current automatic execution covers explicitly enabled learned verification workflows. Broader background learning and automation remain the product direction.</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User-provided motivation.</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https://github.com/MLouchini/Kopi/blob/main/README.md</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https://github.com/MLouchini/Kopi/blob/main/src/Kopi.Core/Intelligence.cs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01:35–02:15 / 40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Kopi stays running with the paired browser extension. With page monitoring enabled, it receives page context and uses local Gemma to match that context to an approved learned workflow. When I reach a matching new verification challenge, Kopi runs the enabled workflow automatically, transfers a fresh code and checks the result. I do not have to open the app, start a recording or approve every repeat. Setup and enablement happen beforehand. Current automatic execution is scoped to supported fresh-value workflows. Ordinary workflows still require approval, and fully passive learning of arbitrary routines is not implemented.</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https://github.com/MLouchini/Kopi/blob/main/HANDOFF.md</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https://github.com/MLouchini/Kopi/blob/main/docs/verification-workflows.md</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02:15–02:55 / 40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After initial setup and enablement, reaching a matching new university challenge is the trigger. Kopi detects the page context in the background, requests a fresh code, finds the new matching message in the approved conversation, transfers the code, submits it and checks for a separate success state. No new recording or per-run approval is needed for this enabled workflow. The implementation checks freshness, source identity and destination identity, and stops if the new message is stale, missing or ambiguous. Browser tests exercise this flow on test pages. Real WhatsApp and university accounts still need validation.</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https://github.com/MLouchini/Kopi/blob/main/extension/fresh.js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https://github.com/MLouchini/Kopi/blob/main/src/Kopi.Core/FreshCompiler.cs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https://github.com/MLouchini/Kopi/blob/main/HANDOFF.md</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02:55–03:45 / 50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The problem shaped the architecture. First, I was already signed into my normal browser. Using an extension lets Kopi work there without another profile or another login. Second, browser evidence can contain personal information, so Gemma runs locally through llama.cpp rather than sending that evidence to cloud inference. Third, an AI proposal can be wrong. Kopi uses a reviewed workflow and fixed actions, with observed targets and checks around identity, freshness and success. The model interprets the task, while the execution code controls what can actually happen. Verification values stay transient in the extension and destination page.</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https://github.com/MLouchini/Kopi/blob/main/docs/architecture.md</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https://github.com/MLouchini/Kopi/blob/main/docs/privacy.md</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https://github.com/MLouchini/Kopi/blob/main/src/Kopi.Core/FreshCompiler.cs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03:45–04:30 / 45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The JavaScript browser extension monitors page context and performs browser actions. The desktop is C# with .NET 10 and WPF. An authenticated Kestrel loopback bridge connects it to the extension. The open-weight model is Google Gemma 4 E2B IT QAT Q4_0, running locally with llama.cpp on the CPU. It interprets task evidence, extracts changing values, resolves questions and matches the current page to a learned workflow. My application code supplies the observation adapter, workflow contracts and compiler, page-trigger matching, fresh-code coordinator and runtime manager. Model weights and llama.cpp are upstream dependencies. This product uses local inference rather than the Gemini API.</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https://github.com/MLouchini/Kopi/blob/main/model-manifest.json</a:t>
            </a:r>
            <a:endParaRPr lang="en-GB" sz="1200" b="0"/>
          </a:p>
          <a:p>
            <a:pPr algn="l">
              <a:lnSpc>
                <a:spcPct val="110000"/>
              </a:lnSpc>
            </a:pPr>
            <a:r>
              <a:rPr lang="en-GB" sz="1200" b="0">
                <a:solidFill>
                  <a:srgbClr val="201D1D"/>
                </a:solidFill>
                <a:latin typeface="Segoe UI"/>
                <a:ea typeface="Segoe UI"/>
                <a:cs typeface="Segoe UI"/>
              </a:rPr>
              <a:t xml:space="preserve">https://huggingface.co/google/gemma-4-E2B-it-qat-q4_0-gguf</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https://github.com/MLouchini/Kopi/blob/main/src/Kopi.Core/Intelligence.cs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https://github.com/MLouchini/Kopi/blob/main/src/Kopi.Core/ModelRuntime.cs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https://github.com/MLouchini/Kopi/blob/main/src/Kopi.Core/FreshCompiler.cs</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https://github.com/MLouchini/Kopi/blob/main/docs/architecture.md</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a:xfrm>
            <a:off x="457200" y="952500"/>
            <a:ext cx="5943600" cy="7429500"/>
          </a:xfrm>
        </p:spPr>
        <p:txBody>
          <a:bodyPr/>
          <a:lstStyle/>
          <a:p>
            <a:pPr algn="l">
              <a:lnSpc>
                <a:spcPct val="110000"/>
              </a:lnSpc>
            </a:pPr>
            <a:r>
              <a:rPr lang="en-GB" sz="1200" b="0">
                <a:solidFill>
                  <a:srgbClr val="201D1D"/>
                </a:solidFill>
                <a:latin typeface="Segoe UI"/>
                <a:ea typeface="Segoe UI"/>
                <a:cs typeface="Segoe UI"/>
              </a:rPr>
              <a:t xml:space="preserve">04:30–05:00 / 30 seconds</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The current implementation includes page monitoring, local task matching and automatic execution of explicitly enabled learned verification workflows. Fresh-code checks have browser-fixture coverage. General background learning and automation remain the wider goal, rather than a completed capability for arbitrary browser work. Next comes real university and WhatsApp account testing, performance measurement on the actual laptop and resolving the remaining expanded workflow QA issues. The aim is to let Kopi handle routine work while I carry on. No time-saving or adoption metrics have been measured.</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Sources</a:t>
            </a:r>
            <a:endParaRPr lang="en-GB" sz="1200" b="0"/>
          </a:p>
          <a:p>
            <a:pPr algn="l">
              <a:lnSpc>
                <a:spcPct val="110000"/>
              </a:lnSpc>
            </a:pPr>
            <a:r>
              <a:rPr lang="en-GB" sz="1200" b="0">
                <a:solidFill>
                  <a:srgbClr val="201D1D"/>
                </a:solidFill>
                <a:latin typeface="Segoe UI"/>
                <a:ea typeface="Segoe UI"/>
                <a:cs typeface="Segoe UI"/>
              </a:rPr>
              <a:t xml:space="preserve">https://github.com/MLouchini/Kopi</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https://github.com/MLouchini/Kopi/blob/main/HANDOFF.md</a:t>
            </a:r>
            <a:endParaRPr lang="en-GB" sz="1200" b="0"/>
          </a:p>
          <a:p>
            <a:pPr algn="l">
              <a:lnSpc>
                <a:spcPct val="110000"/>
              </a:lnSpc>
            </a:pPr>
            <a:r>
              <a:rPr lang="en-GB" sz="1200" b="0">
                <a:solidFill>
                  <a:srgbClr val="201D1D"/>
                </a:solidFill>
                <a:latin typeface="Segoe UI"/>
                <a:ea typeface="Segoe UI"/>
                <a:cs typeface="Segoe UI"/>
              </a:rPr>
              <a:t xml:space="preserve">https://github.com/MLouchini/Kopi/blob/main/docs/qa.md</a:t>
            </a:r>
            <a:endParaRPr lang="en-GB" sz="1200" b="0"/>
          </a:p>
          <a:p>
            <a:pPr algn="l">
              <a:lnSpc>
                <a:spcPct val="110000"/>
              </a:lnSpc>
            </a:pPr>
            <a:r>
              <a:rPr lang="en-GB" sz="1200" b="0">
                <a:solidFill>
                  <a:srgbClr val="201D1D"/>
                </a:solidFill>
                <a:latin typeface="Segoe UI"/>
                <a:ea typeface="Segoe UI"/>
                <a:cs typeface="Segoe UI"/>
              </a:rPr>
              <a:t xml:space="preserve">https://github.com/MLouchini/Kopi/actions/runs/40097950425</a:t>
            </a:r>
            <a:endParaRPr lang="en-GB" sz="1200" b="0"/>
          </a:p>
          <a:p>
            <a:pPr algn="l">
              <a:lnSpc>
                <a:spcPct val="110000"/>
              </a:lnSpc>
            </a:pPr>
            <a:r>
              <a:rPr lang="en-GB" sz="1200" b="0">
                <a:solidFill>
                  <a:srgbClr val="201D1D"/>
                </a:solidFill>
                <a:latin typeface="Segoe UI"/>
                <a:ea typeface="Segoe UI"/>
                <a:cs typeface="Segoe UI"/>
              </a:rPr>
              <a:t xml:space="preserve"/>
            </a:r>
            <a:endParaRPr lang="en-GB" sz="1200" b="0"/>
          </a:p>
          <a:p>
            <a:pPr algn="l">
              <a:lnSpc>
                <a:spcPct val="110000"/>
              </a:lnSpc>
            </a:pPr>
            <a:r>
              <a:rPr lang="en-GB" sz="1200" b="0">
                <a:solidFill>
                  <a:srgbClr val="201D1D"/>
                </a:solidFill>
                <a:latin typeface="Segoe UI"/>
                <a:ea typeface="Segoe UI"/>
                <a:cs typeface="Segoe UI"/>
              </a:rPr>
              <a:t xml:space="preserve">Visual: original AI-generated explanatory illustration, not an app screenshot or live-account evidence. Prompts and provenance are in docs/presentation/assets/image-prompts.json.</a:t>
            </a:r>
            <a:endParaRPr lang="en-GB" sz="1200" b="0"/>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kopi-wordmark.png"/><Relationship Id="rId4" Type="http://schemas.openxmlformats.org/officeDocument/2006/relationships/image" Target="../media/assets/01-cover.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assets/02-problem.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assets/03-idea.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assets/04-background.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assets/05-verification.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assets/06-choices.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assets/07-architecture.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assets/08-next.png"/></Relationships>
</file>

<file path=ppt/slides/slide1.xml><?xml version="1.0" encoding="utf-8"?>
<p:sld xmlns:a="http://schemas.openxmlformats.org/drawingml/2006/main" xmlns:r="http://schemas.openxmlformats.org/officeDocument/2006/relationships" xmlns:p="http://schemas.openxmlformats.org/presentationml/2006/main" show="1">
  <p:cSld name="Kopi">
    <p:bg>
      <p:bgPr>
        <a:solidFill>
          <a:srgbClr val="FFFEFA"/>
        </a:solidFill>
        <a:effectLst/>
      </p:bgPr>
    </p:bg>
    <p:spTree>
      <p:nvGrpSpPr>
        <p:cNvPr id="1" name=""/>
        <p:cNvGrpSpPr/>
        <p:nvPr/>
      </p:nvGrpSpPr>
      <p:grpSpPr>
        <a:xfrm>
          <a:off x="0" y="0"/>
          <a:ext cx="0" cy="0"/>
          <a:chOff x="0" y="0"/>
          <a:chExt cx="0" cy="0"/>
        </a:xfrm>
      </p:grpSpPr>
      <p:pic>
        <p:nvPicPr>
          <p:cNvPr id="2" name="Kopi illustration" descr="Kopi visual asset: kopi-wordmark.png"/>
          <p:cNvPicPr>
            <a:picLocks noChangeAspect="1"/>
          </p:cNvPicPr>
          <p:nvPr/>
        </p:nvPicPr>
        <p:blipFill>
          <a:blip r:embed="rId3"/>
          <a:stretch>
            <a:fillRect/>
          </a:stretch>
        </p:blipFill>
        <p:spPr>
          <a:xfrm>
            <a:off x="457200" y="1276350"/>
            <a:ext cx="5410200" cy="2028825"/>
          </a:xfrm>
          <a:prstGeom prst="rect">
            <a:avLst/>
          </a:prstGeom>
        </p:spPr>
      </p:pic>
      <p:sp>
        <p:nvSpPr>
          <p:cNvPr id="3" name="Local AI that completes repeated browser tasks in the b"/>
          <p:cNvSpPr txBox="1"/>
          <p:nvPr/>
        </p:nvSpPr>
        <p:spPr>
          <a:xfrm>
            <a:off x="685800" y="3943350"/>
            <a:ext cx="5143500" cy="1819275"/>
          </a:xfrm>
          <a:prstGeom prst="rect">
            <a:avLst/>
          </a:prstGeom>
          <a:noFill/>
          <a:ln>
            <a:noFill/>
          </a:ln>
        </p:spPr>
        <p:txBody>
          <a:bodyPr wrap="square" lIns="0" tIns="0" rIns="0" bIns="0" anchor="t"/>
          <a:lstStyle/>
          <a:p>
            <a:pPr algn="l">
              <a:lnSpc>
                <a:spcPct val="110000"/>
              </a:lnSpc>
            </a:pPr>
            <a:r>
              <a:rPr lang="en-GB" sz="2850" b="0">
                <a:solidFill>
                  <a:srgbClr val="201D1D"/>
                </a:solidFill>
                <a:latin typeface="Segoe UI"/>
                <a:ea typeface="Segoe UI"/>
                <a:cs typeface="Segoe UI"/>
              </a:rPr>
              <a:t xml:space="preserve">Local AI that completes</a:t>
            </a:r>
            <a:endParaRPr lang="en-GB" sz="2850" b="0"/>
          </a:p>
          <a:p>
            <a:pPr algn="l">
              <a:lnSpc>
                <a:spcPct val="110000"/>
              </a:lnSpc>
            </a:pPr>
            <a:r>
              <a:rPr lang="en-GB" sz="2850" b="0">
                <a:solidFill>
                  <a:srgbClr val="201D1D"/>
                </a:solidFill>
                <a:latin typeface="Segoe UI"/>
                <a:ea typeface="Segoe UI"/>
                <a:cs typeface="Segoe UI"/>
              </a:rPr>
              <a:t xml:space="preserve">repeated browser tasks</a:t>
            </a:r>
            <a:endParaRPr lang="en-GB" sz="2850" b="0"/>
          </a:p>
          <a:p>
            <a:pPr algn="l">
              <a:lnSpc>
                <a:spcPct val="110000"/>
              </a:lnSpc>
            </a:pPr>
            <a:r>
              <a:rPr lang="en-GB" sz="2850" b="0">
                <a:solidFill>
                  <a:srgbClr val="201D1D"/>
                </a:solidFill>
                <a:latin typeface="Segoe UI"/>
                <a:ea typeface="Segoe UI"/>
                <a:cs typeface="Segoe UI"/>
              </a:rPr>
              <a:t xml:space="preserve">in the background</a:t>
            </a:r>
            <a:endParaRPr lang="en-GB" sz="2850" b="0"/>
          </a:p>
        </p:txBody>
      </p:sp>
      <p:pic>
        <p:nvPicPr>
          <p:cNvPr id="4" name="Kopi illustration" descr="Kopi visual asset: assets/01-cover.png"/>
          <p:cNvPicPr>
            <a:picLocks noChangeAspect="1"/>
          </p:cNvPicPr>
          <p:nvPr/>
        </p:nvPicPr>
        <p:blipFill>
          <a:blip r:embed="rId4"/>
          <a:stretch>
            <a:fillRect/>
          </a:stretch>
        </p:blipFill>
        <p:spPr>
          <a:xfrm>
            <a:off x="6076950" y="1733550"/>
            <a:ext cx="5562600" cy="4171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1">
  <p:cSld name="The problem">
    <p:bg>
      <p:bgPr>
        <a:solidFill>
          <a:srgbClr val="FFFEFA"/>
        </a:solidFill>
        <a:effectLst/>
      </p:bgPr>
    </p:bg>
    <p:spTree>
      <p:nvGrpSpPr>
        <p:cNvPr id="1" name=""/>
        <p:cNvGrpSpPr/>
        <p:nvPr/>
      </p:nvGrpSpPr>
      <p:grpSpPr>
        <a:xfrm>
          <a:off x="0" y="0"/>
          <a:ext cx="0" cy="0"/>
          <a:chOff x="0" y="0"/>
          <a:chExt cx="0" cy="0"/>
        </a:xfrm>
      </p:grpSpPr>
      <p:sp>
        <p:nvSpPr>
          <p:cNvPr id="2" name="The problem: daily university verification"/>
          <p:cNvSpPr txBox="1"/>
          <p:nvPr/>
        </p:nvSpPr>
        <p:spPr>
          <a:xfrm>
            <a:off x="609600" y="619125"/>
            <a:ext cx="10972800" cy="1162050"/>
          </a:xfrm>
          <a:prstGeom prst="rect">
            <a:avLst/>
          </a:prstGeom>
          <a:noFill/>
          <a:ln>
            <a:noFill/>
          </a:ln>
        </p:spPr>
        <p:txBody>
          <a:bodyPr wrap="square" lIns="0" tIns="0" rIns="0" bIns="0" anchor="t"/>
          <a:lstStyle/>
          <a:p>
            <a:pPr algn="l">
              <a:lnSpc>
                <a:spcPct val="110000"/>
              </a:lnSpc>
            </a:pPr>
            <a:r>
              <a:rPr lang="en-GB" sz="3600" b="1">
                <a:solidFill>
                  <a:srgbClr val="201D1D"/>
                </a:solidFill>
                <a:latin typeface="Segoe UI"/>
                <a:ea typeface="Segoe UI"/>
                <a:cs typeface="Segoe UI"/>
              </a:rPr>
              <a:t xml:space="preserve">The problem: daily university verification</a:t>
            </a:r>
            <a:endParaRPr lang="en-GB" sz="3600" b="1"/>
          </a:p>
        </p:txBody>
      </p:sp>
      <p:sp>
        <p:nvSpPr>
          <p:cNvPr id="3" name="I repeat these steps every day just to sign in."/>
          <p:cNvSpPr txBox="1"/>
          <p:nvPr/>
        </p:nvSpPr>
        <p:spPr>
          <a:xfrm>
            <a:off x="609600" y="2038350"/>
            <a:ext cx="5238750" cy="990600"/>
          </a:xfrm>
          <a:prstGeom prst="rect">
            <a:avLst/>
          </a:prstGeom>
          <a:noFill/>
          <a:ln>
            <a:noFill/>
          </a:ln>
        </p:spPr>
        <p:txBody>
          <a:bodyPr wrap="square" lIns="0" tIns="0" rIns="0" bIns="0" anchor="t"/>
          <a:lstStyle/>
          <a:p>
            <a:pPr algn="l">
              <a:lnSpc>
                <a:spcPct val="110000"/>
              </a:lnSpc>
            </a:pPr>
            <a:r>
              <a:rPr lang="en-GB" sz="2775" b="1">
                <a:solidFill>
                  <a:srgbClr val="201D1D"/>
                </a:solidFill>
                <a:latin typeface="Segoe UI"/>
                <a:ea typeface="Segoe UI"/>
                <a:cs typeface="Segoe UI"/>
              </a:rPr>
              <a:t xml:space="preserve">I repeat these steps</a:t>
            </a:r>
            <a:endParaRPr lang="en-GB" sz="2775" b="1"/>
          </a:p>
          <a:p>
            <a:pPr algn="l">
              <a:lnSpc>
                <a:spcPct val="110000"/>
              </a:lnSpc>
            </a:pPr>
            <a:r>
              <a:rPr lang="en-GB" sz="2775" b="1">
                <a:solidFill>
                  <a:srgbClr val="201D1D"/>
                </a:solidFill>
                <a:latin typeface="Segoe UI"/>
                <a:ea typeface="Segoe UI"/>
                <a:cs typeface="Segoe UI"/>
              </a:rPr>
              <a:t xml:space="preserve">every day just to sign in.</a:t>
            </a:r>
            <a:endParaRPr lang="en-GB" sz="2775" b="1"/>
          </a:p>
        </p:txBody>
      </p:sp>
      <p:sp>
        <p:nvSpPr>
          <p:cNvPr id="4" name="1"/>
          <p:cNvSpPr txBox="1"/>
          <p:nvPr/>
        </p:nvSpPr>
        <p:spPr>
          <a:xfrm>
            <a:off x="609600" y="3486150"/>
            <a:ext cx="428625" cy="457200"/>
          </a:xfrm>
          <a:prstGeom prst="rect">
            <a:avLst/>
          </a:prstGeom>
          <a:noFill/>
          <a:ln>
            <a:noFill/>
          </a:ln>
        </p:spPr>
        <p:txBody>
          <a:bodyPr wrap="square" lIns="0" tIns="0" rIns="0" bIns="0" anchor="t"/>
          <a:lstStyle/>
          <a:p>
            <a:pPr algn="l">
              <a:lnSpc>
                <a:spcPct val="110000"/>
              </a:lnSpc>
            </a:pPr>
            <a:r>
              <a:rPr lang="en-GB" sz="2175" b="1">
                <a:solidFill>
                  <a:srgbClr val="FF7A1A"/>
                </a:solidFill>
                <a:latin typeface="Segoe UI"/>
                <a:ea typeface="Segoe UI"/>
                <a:cs typeface="Segoe UI"/>
              </a:rPr>
              <a:t xml:space="preserve">1</a:t>
            </a:r>
            <a:endParaRPr lang="en-GB" sz="2175" b="1"/>
          </a:p>
        </p:txBody>
      </p:sp>
      <p:sp>
        <p:nvSpPr>
          <p:cNvPr id="5" name="Sign in to university"/>
          <p:cNvSpPr txBox="1"/>
          <p:nvPr/>
        </p:nvSpPr>
        <p:spPr>
          <a:xfrm>
            <a:off x="1152525" y="3505200"/>
            <a:ext cx="4657725" cy="590550"/>
          </a:xfrm>
          <a:prstGeom prst="rect">
            <a:avLst/>
          </a:prstGeom>
          <a:noFill/>
          <a:ln>
            <a:noFill/>
          </a:ln>
        </p:spPr>
        <p:txBody>
          <a:bodyPr wrap="square" lIns="0" tIns="0" rIns="0" bIns="0" anchor="t"/>
          <a:lstStyle/>
          <a:p>
            <a:pPr algn="l">
              <a:lnSpc>
                <a:spcPct val="110000"/>
              </a:lnSpc>
            </a:pPr>
            <a:r>
              <a:rPr lang="en-GB" sz="2025" b="0">
                <a:solidFill>
                  <a:srgbClr val="201D1D"/>
                </a:solidFill>
                <a:latin typeface="Segoe UI"/>
                <a:ea typeface="Segoe UI"/>
                <a:cs typeface="Segoe UI"/>
              </a:rPr>
              <a:t xml:space="preserve">Sign in to university</a:t>
            </a:r>
            <a:endParaRPr lang="en-GB" sz="2025" b="0"/>
          </a:p>
        </p:txBody>
      </p:sp>
      <p:sp>
        <p:nvSpPr>
          <p:cNvPr id="6" name="2"/>
          <p:cNvSpPr txBox="1"/>
          <p:nvPr/>
        </p:nvSpPr>
        <p:spPr>
          <a:xfrm>
            <a:off x="609600" y="4171950"/>
            <a:ext cx="428625" cy="457200"/>
          </a:xfrm>
          <a:prstGeom prst="rect">
            <a:avLst/>
          </a:prstGeom>
          <a:noFill/>
          <a:ln>
            <a:noFill/>
          </a:ln>
        </p:spPr>
        <p:txBody>
          <a:bodyPr wrap="square" lIns="0" tIns="0" rIns="0" bIns="0" anchor="t"/>
          <a:lstStyle/>
          <a:p>
            <a:pPr algn="l">
              <a:lnSpc>
                <a:spcPct val="110000"/>
              </a:lnSpc>
            </a:pPr>
            <a:r>
              <a:rPr lang="en-GB" sz="2175" b="1">
                <a:solidFill>
                  <a:srgbClr val="FF7A1A"/>
                </a:solidFill>
                <a:latin typeface="Segoe UI"/>
                <a:ea typeface="Segoe UI"/>
                <a:cs typeface="Segoe UI"/>
              </a:rPr>
              <a:t xml:space="preserve">2</a:t>
            </a:r>
            <a:endParaRPr lang="en-GB" sz="2175" b="1"/>
          </a:p>
        </p:txBody>
      </p:sp>
      <p:sp>
        <p:nvSpPr>
          <p:cNvPr id="7" name="Request a verification code"/>
          <p:cNvSpPr txBox="1"/>
          <p:nvPr/>
        </p:nvSpPr>
        <p:spPr>
          <a:xfrm>
            <a:off x="1152525" y="4191000"/>
            <a:ext cx="4657725" cy="590550"/>
          </a:xfrm>
          <a:prstGeom prst="rect">
            <a:avLst/>
          </a:prstGeom>
          <a:noFill/>
          <a:ln>
            <a:noFill/>
          </a:ln>
        </p:spPr>
        <p:txBody>
          <a:bodyPr wrap="square" lIns="0" tIns="0" rIns="0" bIns="0" anchor="t"/>
          <a:lstStyle/>
          <a:p>
            <a:pPr algn="l">
              <a:lnSpc>
                <a:spcPct val="110000"/>
              </a:lnSpc>
            </a:pPr>
            <a:r>
              <a:rPr lang="en-GB" sz="2025" b="0">
                <a:solidFill>
                  <a:srgbClr val="201D1D"/>
                </a:solidFill>
                <a:latin typeface="Segoe UI"/>
                <a:ea typeface="Segoe UI"/>
                <a:cs typeface="Segoe UI"/>
              </a:rPr>
              <a:t xml:space="preserve">Request a verification code</a:t>
            </a:r>
            <a:endParaRPr lang="en-GB" sz="2025" b="0"/>
          </a:p>
        </p:txBody>
      </p:sp>
      <p:sp>
        <p:nvSpPr>
          <p:cNvPr id="8" name="3"/>
          <p:cNvSpPr txBox="1"/>
          <p:nvPr/>
        </p:nvSpPr>
        <p:spPr>
          <a:xfrm>
            <a:off x="609600" y="4857750"/>
            <a:ext cx="428625" cy="457200"/>
          </a:xfrm>
          <a:prstGeom prst="rect">
            <a:avLst/>
          </a:prstGeom>
          <a:noFill/>
          <a:ln>
            <a:noFill/>
          </a:ln>
        </p:spPr>
        <p:txBody>
          <a:bodyPr wrap="square" lIns="0" tIns="0" rIns="0" bIns="0" anchor="t"/>
          <a:lstStyle/>
          <a:p>
            <a:pPr algn="l">
              <a:lnSpc>
                <a:spcPct val="110000"/>
              </a:lnSpc>
            </a:pPr>
            <a:r>
              <a:rPr lang="en-GB" sz="2175" b="1">
                <a:solidFill>
                  <a:srgbClr val="FF7A1A"/>
                </a:solidFill>
                <a:latin typeface="Segoe UI"/>
                <a:ea typeface="Segoe UI"/>
                <a:cs typeface="Segoe UI"/>
              </a:rPr>
              <a:t xml:space="preserve">3</a:t>
            </a:r>
            <a:endParaRPr lang="en-GB" sz="2175" b="1"/>
          </a:p>
        </p:txBody>
      </p:sp>
      <p:sp>
        <p:nvSpPr>
          <p:cNvPr id="9" name="Find the code in WhatsApp Web"/>
          <p:cNvSpPr txBox="1"/>
          <p:nvPr/>
        </p:nvSpPr>
        <p:spPr>
          <a:xfrm>
            <a:off x="1152525" y="4876800"/>
            <a:ext cx="4657725" cy="590550"/>
          </a:xfrm>
          <a:prstGeom prst="rect">
            <a:avLst/>
          </a:prstGeom>
          <a:noFill/>
          <a:ln>
            <a:noFill/>
          </a:ln>
        </p:spPr>
        <p:txBody>
          <a:bodyPr wrap="square" lIns="0" tIns="0" rIns="0" bIns="0" anchor="t"/>
          <a:lstStyle/>
          <a:p>
            <a:pPr algn="l">
              <a:lnSpc>
                <a:spcPct val="110000"/>
              </a:lnSpc>
            </a:pPr>
            <a:r>
              <a:rPr lang="en-GB" sz="2025" b="0">
                <a:solidFill>
                  <a:srgbClr val="201D1D"/>
                </a:solidFill>
                <a:latin typeface="Segoe UI"/>
                <a:ea typeface="Segoe UI"/>
                <a:cs typeface="Segoe UI"/>
              </a:rPr>
              <a:t xml:space="preserve">Find the code in WhatsApp Web</a:t>
            </a:r>
            <a:endParaRPr lang="en-GB" sz="2025" b="0"/>
          </a:p>
        </p:txBody>
      </p:sp>
      <p:sp>
        <p:nvSpPr>
          <p:cNvPr id="10" name="4"/>
          <p:cNvSpPr txBox="1"/>
          <p:nvPr/>
        </p:nvSpPr>
        <p:spPr>
          <a:xfrm>
            <a:off x="609600" y="5543550"/>
            <a:ext cx="428625" cy="457200"/>
          </a:xfrm>
          <a:prstGeom prst="rect">
            <a:avLst/>
          </a:prstGeom>
          <a:noFill/>
          <a:ln>
            <a:noFill/>
          </a:ln>
        </p:spPr>
        <p:txBody>
          <a:bodyPr wrap="square" lIns="0" tIns="0" rIns="0" bIns="0" anchor="t"/>
          <a:lstStyle/>
          <a:p>
            <a:pPr algn="l">
              <a:lnSpc>
                <a:spcPct val="110000"/>
              </a:lnSpc>
            </a:pPr>
            <a:r>
              <a:rPr lang="en-GB" sz="2175" b="1">
                <a:solidFill>
                  <a:srgbClr val="FF7A1A"/>
                </a:solidFill>
                <a:latin typeface="Segoe UI"/>
                <a:ea typeface="Segoe UI"/>
                <a:cs typeface="Segoe UI"/>
              </a:rPr>
              <a:t xml:space="preserve">4</a:t>
            </a:r>
            <a:endParaRPr lang="en-GB" sz="2175" b="1"/>
          </a:p>
        </p:txBody>
      </p:sp>
      <p:sp>
        <p:nvSpPr>
          <p:cNvPr id="11" name="Return, enter it and verify"/>
          <p:cNvSpPr txBox="1"/>
          <p:nvPr/>
        </p:nvSpPr>
        <p:spPr>
          <a:xfrm>
            <a:off x="1152525" y="5562600"/>
            <a:ext cx="4657725" cy="590550"/>
          </a:xfrm>
          <a:prstGeom prst="rect">
            <a:avLst/>
          </a:prstGeom>
          <a:noFill/>
          <a:ln>
            <a:noFill/>
          </a:ln>
        </p:spPr>
        <p:txBody>
          <a:bodyPr wrap="square" lIns="0" tIns="0" rIns="0" bIns="0" anchor="t"/>
          <a:lstStyle/>
          <a:p>
            <a:pPr algn="l">
              <a:lnSpc>
                <a:spcPct val="110000"/>
              </a:lnSpc>
            </a:pPr>
            <a:r>
              <a:rPr lang="en-GB" sz="2025" b="0">
                <a:solidFill>
                  <a:srgbClr val="201D1D"/>
                </a:solidFill>
                <a:latin typeface="Segoe UI"/>
                <a:ea typeface="Segoe UI"/>
                <a:cs typeface="Segoe UI"/>
              </a:rPr>
              <a:t xml:space="preserve">Return, enter it and verify</a:t>
            </a:r>
            <a:endParaRPr lang="en-GB" sz="2025" b="0"/>
          </a:p>
        </p:txBody>
      </p:sp>
      <p:pic>
        <p:nvPicPr>
          <p:cNvPr id="12" name="Kopi illustration" descr="Kopi visual asset: assets/02-problem.png"/>
          <p:cNvPicPr>
            <a:picLocks noChangeAspect="1"/>
          </p:cNvPicPr>
          <p:nvPr/>
        </p:nvPicPr>
        <p:blipFill>
          <a:blip r:embed="rId3"/>
          <a:stretch>
            <a:fillRect/>
          </a:stretch>
        </p:blipFill>
        <p:spPr>
          <a:xfrm>
            <a:off x="6122988" y="2162175"/>
            <a:ext cx="5537200" cy="4152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1">
  <p:cSld name="The idea">
    <p:bg>
      <p:bgPr>
        <a:solidFill>
          <a:srgbClr val="FFFEFA"/>
        </a:solidFill>
        <a:effectLst/>
      </p:bgPr>
    </p:bg>
    <p:spTree>
      <p:nvGrpSpPr>
        <p:cNvPr id="1" name=""/>
        <p:cNvGrpSpPr/>
        <p:nvPr/>
      </p:nvGrpSpPr>
      <p:grpSpPr>
        <a:xfrm>
          <a:off x="0" y="0"/>
          <a:ext cx="0" cy="0"/>
          <a:chOff x="0" y="0"/>
          <a:chExt cx="0" cy="0"/>
        </a:xfrm>
      </p:grpSpPr>
      <p:sp>
        <p:nvSpPr>
          <p:cNvPr id="2" name="The idea: Kopi handles the repeated steps"/>
          <p:cNvSpPr txBox="1"/>
          <p:nvPr/>
        </p:nvSpPr>
        <p:spPr>
          <a:xfrm>
            <a:off x="609600" y="619125"/>
            <a:ext cx="10972800" cy="1162050"/>
          </a:xfrm>
          <a:prstGeom prst="rect">
            <a:avLst/>
          </a:prstGeom>
          <a:noFill/>
          <a:ln>
            <a:noFill/>
          </a:ln>
        </p:spPr>
        <p:txBody>
          <a:bodyPr wrap="square" lIns="0" tIns="0" rIns="0" bIns="0" anchor="t"/>
          <a:lstStyle/>
          <a:p>
            <a:pPr algn="l">
              <a:lnSpc>
                <a:spcPct val="110000"/>
              </a:lnSpc>
            </a:pPr>
            <a:r>
              <a:rPr lang="en-GB" sz="3600" b="1">
                <a:solidFill>
                  <a:srgbClr val="201D1D"/>
                </a:solidFill>
                <a:latin typeface="Segoe UI"/>
                <a:ea typeface="Segoe UI"/>
                <a:cs typeface="Segoe UI"/>
              </a:rPr>
              <a:t xml:space="preserve">The idea: Kopi handles the repeated steps</a:t>
            </a:r>
            <a:endParaRPr lang="en-GB" sz="3600" b="1"/>
          </a:p>
        </p:txBody>
      </p:sp>
      <p:sp>
        <p:nvSpPr>
          <p:cNvPr id="3" name="Kopi stays running as I browse. When verification is ne"/>
          <p:cNvSpPr txBox="1"/>
          <p:nvPr/>
        </p:nvSpPr>
        <p:spPr>
          <a:xfrm>
            <a:off x="609600" y="2171700"/>
            <a:ext cx="5257800" cy="1847850"/>
          </a:xfrm>
          <a:prstGeom prst="rect">
            <a:avLst/>
          </a:prstGeom>
          <a:noFill/>
          <a:ln>
            <a:noFill/>
          </a:ln>
        </p:spPr>
        <p:txBody>
          <a:bodyPr wrap="square" lIns="0" tIns="0" rIns="0" bIns="0" anchor="t"/>
          <a:lstStyle/>
          <a:p>
            <a:pPr algn="l">
              <a:lnSpc>
                <a:spcPct val="110000"/>
              </a:lnSpc>
            </a:pPr>
            <a:r>
              <a:rPr lang="en-GB" sz="2400" b="1">
                <a:solidFill>
                  <a:srgbClr val="201D1D"/>
                </a:solidFill>
                <a:latin typeface="Segoe UI"/>
                <a:ea typeface="Segoe UI"/>
                <a:cs typeface="Segoe UI"/>
              </a:rPr>
              <a:t xml:space="preserve">Kopi stays running as I browse.</a:t>
            </a:r>
            <a:endParaRPr lang="en-GB" sz="2400" b="1"/>
          </a:p>
          <a:p>
            <a:pPr algn="l">
              <a:lnSpc>
                <a:spcPct val="110000"/>
              </a:lnSpc>
            </a:pPr>
            <a:r>
              <a:rPr lang="en-GB" sz="2400" b="1">
                <a:solidFill>
                  <a:srgbClr val="201D1D"/>
                </a:solidFill>
                <a:latin typeface="Segoe UI"/>
                <a:ea typeface="Segoe UI"/>
                <a:cs typeface="Segoe UI"/>
              </a:rPr>
              <a:t xml:space="preserve">When verification is needed,</a:t>
            </a:r>
            <a:endParaRPr lang="en-GB" sz="2400" b="1"/>
          </a:p>
          <a:p>
            <a:pPr algn="l">
              <a:lnSpc>
                <a:spcPct val="110000"/>
              </a:lnSpc>
            </a:pPr>
            <a:r>
              <a:rPr lang="en-GB" sz="2400" b="1">
                <a:solidFill>
                  <a:srgbClr val="201D1D"/>
                </a:solidFill>
                <a:latin typeface="Segoe UI"/>
                <a:ea typeface="Segoe UI"/>
                <a:cs typeface="Segoe UI"/>
              </a:rPr>
              <a:t xml:space="preserve">it fetches and enters a fresh code.</a:t>
            </a:r>
            <a:endParaRPr lang="en-GB" sz="2400" b="1"/>
          </a:p>
        </p:txBody>
      </p:sp>
      <p:sp>
        <p:nvSpPr>
          <p:cNvPr id="4" name="I started with my login problem. The same approach coul"/>
          <p:cNvSpPr txBox="1"/>
          <p:nvPr/>
        </p:nvSpPr>
        <p:spPr>
          <a:xfrm>
            <a:off x="609600" y="4829175"/>
            <a:ext cx="5257800" cy="1066800"/>
          </a:xfrm>
          <a:prstGeom prst="rect">
            <a:avLst/>
          </a:prstGeom>
          <a:noFill/>
          <a:ln>
            <a:noFill/>
          </a:ln>
        </p:spPr>
        <p:txBody>
          <a:bodyPr wrap="square" lIns="0" tIns="0" rIns="0" bIns="0" anchor="t"/>
          <a:lstStyle/>
          <a:p>
            <a:pPr algn="l">
              <a:lnSpc>
                <a:spcPct val="110000"/>
              </a:lnSpc>
            </a:pPr>
            <a:r>
              <a:rPr lang="en-GB" sz="2025" b="0">
                <a:solidFill>
                  <a:srgbClr val="201D1D"/>
                </a:solidFill>
                <a:latin typeface="Segoe UI"/>
                <a:ea typeface="Segoe UI"/>
                <a:cs typeface="Segoe UI"/>
              </a:rPr>
              <a:t xml:space="preserve">I started with my login problem.</a:t>
            </a:r>
            <a:endParaRPr lang="en-GB" sz="2025" b="0"/>
          </a:p>
          <a:p>
            <a:pPr algn="l">
              <a:lnSpc>
                <a:spcPct val="110000"/>
              </a:lnSpc>
            </a:pPr>
            <a:r>
              <a:rPr lang="en-GB" sz="2025" b="0">
                <a:solidFill>
                  <a:srgbClr val="201D1D"/>
                </a:solidFill>
                <a:latin typeface="Segoe UI"/>
                <a:ea typeface="Segoe UI"/>
                <a:cs typeface="Segoe UI"/>
              </a:rPr>
              <a:t xml:space="preserve">The same approach could help with</a:t>
            </a:r>
            <a:endParaRPr lang="en-GB" sz="2025" b="0"/>
          </a:p>
          <a:p>
            <a:pPr algn="l">
              <a:lnSpc>
                <a:spcPct val="110000"/>
              </a:lnSpc>
            </a:pPr>
            <a:r>
              <a:rPr lang="en-GB" sz="2025" b="0">
                <a:solidFill>
                  <a:srgbClr val="201D1D"/>
                </a:solidFill>
                <a:latin typeface="Segoe UI"/>
                <a:ea typeface="Segoe UI"/>
                <a:cs typeface="Segoe UI"/>
              </a:rPr>
              <a:t xml:space="preserve">other repeated browser tasks.</a:t>
            </a:r>
            <a:endParaRPr lang="en-GB" sz="2025" b="0"/>
          </a:p>
        </p:txBody>
      </p:sp>
      <p:pic>
        <p:nvPicPr>
          <p:cNvPr id="5" name="Kopi illustration" descr="Kopi visual asset: assets/03-idea.png"/>
          <p:cNvPicPr>
            <a:picLocks noChangeAspect="1"/>
          </p:cNvPicPr>
          <p:nvPr/>
        </p:nvPicPr>
        <p:blipFill>
          <a:blip r:embed="rId3"/>
          <a:stretch>
            <a:fillRect/>
          </a:stretch>
        </p:blipFill>
        <p:spPr>
          <a:xfrm>
            <a:off x="6007100" y="2047875"/>
            <a:ext cx="5702300" cy="4276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1">
  <p:cSld name="What Kopi actually does">
    <p:bg>
      <p:bgPr>
        <a:solidFill>
          <a:srgbClr val="FFFEFA"/>
        </a:solidFill>
        <a:effectLst/>
      </p:bgPr>
    </p:bg>
    <p:spTree>
      <p:nvGrpSpPr>
        <p:cNvPr id="1" name=""/>
        <p:cNvGrpSpPr/>
        <p:nvPr/>
      </p:nvGrpSpPr>
      <p:grpSpPr>
        <a:xfrm>
          <a:off x="0" y="0"/>
          <a:ext cx="0" cy="0"/>
          <a:chOff x="0" y="0"/>
          <a:chExt cx="0" cy="0"/>
        </a:xfrm>
      </p:grpSpPr>
      <p:sp>
        <p:nvSpPr>
          <p:cNvPr id="2" name="What happens while Kopi is running"/>
          <p:cNvSpPr txBox="1"/>
          <p:nvPr/>
        </p:nvSpPr>
        <p:spPr>
          <a:xfrm>
            <a:off x="609600" y="619125"/>
            <a:ext cx="10972800" cy="1162050"/>
          </a:xfrm>
          <a:prstGeom prst="rect">
            <a:avLst/>
          </a:prstGeom>
          <a:noFill/>
          <a:ln>
            <a:noFill/>
          </a:ln>
        </p:spPr>
        <p:txBody>
          <a:bodyPr wrap="square" lIns="0" tIns="0" rIns="0" bIns="0" anchor="t"/>
          <a:lstStyle/>
          <a:p>
            <a:pPr algn="l">
              <a:lnSpc>
                <a:spcPct val="110000"/>
              </a:lnSpc>
            </a:pPr>
            <a:r>
              <a:rPr lang="en-GB" sz="3600" b="1">
                <a:solidFill>
                  <a:srgbClr val="201D1D"/>
                </a:solidFill>
                <a:latin typeface="Segoe UI"/>
                <a:ea typeface="Segoe UI"/>
                <a:cs typeface="Segoe UI"/>
              </a:rPr>
              <a:t xml:space="preserve">What happens while Kopi is running</a:t>
            </a:r>
            <a:endParaRPr lang="en-GB" sz="3600" b="1"/>
          </a:p>
        </p:txBody>
      </p:sp>
      <p:sp>
        <p:nvSpPr>
          <p:cNvPr id="3" name="1"/>
          <p:cNvSpPr txBox="1"/>
          <p:nvPr/>
        </p:nvSpPr>
        <p:spPr>
          <a:xfrm>
            <a:off x="609600" y="2076450"/>
            <a:ext cx="428625" cy="457200"/>
          </a:xfrm>
          <a:prstGeom prst="rect">
            <a:avLst/>
          </a:prstGeom>
          <a:noFill/>
          <a:ln>
            <a:noFill/>
          </a:ln>
        </p:spPr>
        <p:txBody>
          <a:bodyPr wrap="square" lIns="0" tIns="0" rIns="0" bIns="0" anchor="t"/>
          <a:lstStyle/>
          <a:p>
            <a:pPr algn="l">
              <a:lnSpc>
                <a:spcPct val="110000"/>
              </a:lnSpc>
            </a:pPr>
            <a:r>
              <a:rPr lang="en-GB" sz="2250" b="1">
                <a:solidFill>
                  <a:srgbClr val="FF7A1A"/>
                </a:solidFill>
                <a:latin typeface="Segoe UI"/>
                <a:ea typeface="Segoe UI"/>
                <a:cs typeface="Segoe UI"/>
              </a:rPr>
              <a:t xml:space="preserve">1</a:t>
            </a:r>
            <a:endParaRPr lang="en-GB" sz="2250" b="1"/>
          </a:p>
        </p:txBody>
      </p:sp>
      <p:sp>
        <p:nvSpPr>
          <p:cNvPr id="4" name="Notice the page"/>
          <p:cNvSpPr txBox="1"/>
          <p:nvPr/>
        </p:nvSpPr>
        <p:spPr>
          <a:xfrm>
            <a:off x="1152525" y="2076450"/>
            <a:ext cx="4676775" cy="447675"/>
          </a:xfrm>
          <a:prstGeom prst="rect">
            <a:avLst/>
          </a:prstGeom>
          <a:noFill/>
          <a:ln>
            <a:noFill/>
          </a:ln>
        </p:spPr>
        <p:txBody>
          <a:bodyPr wrap="square" lIns="0" tIns="0" rIns="0" bIns="0" anchor="t"/>
          <a:lstStyle/>
          <a:p>
            <a:pPr algn="l">
              <a:lnSpc>
                <a:spcPct val="110000"/>
              </a:lnSpc>
            </a:pPr>
            <a:r>
              <a:rPr lang="en-GB" sz="2175" b="1">
                <a:solidFill>
                  <a:srgbClr val="201D1D"/>
                </a:solidFill>
                <a:latin typeface="Segoe UI"/>
                <a:ea typeface="Segoe UI"/>
                <a:cs typeface="Segoe UI"/>
              </a:rPr>
              <a:t xml:space="preserve">Notice the page</a:t>
            </a:r>
            <a:endParaRPr lang="en-GB" sz="2175" b="1"/>
          </a:p>
        </p:txBody>
      </p:sp>
      <p:sp>
        <p:nvSpPr>
          <p:cNvPr id="5" name="A new browser page supplies context."/>
          <p:cNvSpPr txBox="1"/>
          <p:nvPr/>
        </p:nvSpPr>
        <p:spPr>
          <a:xfrm>
            <a:off x="1152525" y="2524125"/>
            <a:ext cx="4676775" cy="647700"/>
          </a:xfrm>
          <a:prstGeom prst="rect">
            <a:avLst/>
          </a:prstGeom>
          <a:noFill/>
          <a:ln>
            <a:noFill/>
          </a:ln>
        </p:spPr>
        <p:txBody>
          <a:bodyPr wrap="square" lIns="0" tIns="0" rIns="0" bIns="0" anchor="t"/>
          <a:lstStyle/>
          <a:p>
            <a:pPr algn="l">
              <a:lnSpc>
                <a:spcPct val="110000"/>
              </a:lnSpc>
            </a:pPr>
            <a:r>
              <a:rPr lang="en-GB" sz="1800" b="0">
                <a:solidFill>
                  <a:srgbClr val="201D1D"/>
                </a:solidFill>
                <a:latin typeface="Segoe UI"/>
                <a:ea typeface="Segoe UI"/>
                <a:cs typeface="Segoe UI"/>
              </a:rPr>
              <a:t xml:space="preserve">A new browser page supplies context.</a:t>
            </a:r>
            <a:endParaRPr lang="en-GB" sz="1800" b="0"/>
          </a:p>
        </p:txBody>
      </p:sp>
      <p:sp>
        <p:nvSpPr>
          <p:cNvPr id="6" name="2"/>
          <p:cNvSpPr txBox="1"/>
          <p:nvPr/>
        </p:nvSpPr>
        <p:spPr>
          <a:xfrm>
            <a:off x="609600" y="3133725"/>
            <a:ext cx="428625" cy="457200"/>
          </a:xfrm>
          <a:prstGeom prst="rect">
            <a:avLst/>
          </a:prstGeom>
          <a:noFill/>
          <a:ln>
            <a:noFill/>
          </a:ln>
        </p:spPr>
        <p:txBody>
          <a:bodyPr wrap="square" lIns="0" tIns="0" rIns="0" bIns="0" anchor="t"/>
          <a:lstStyle/>
          <a:p>
            <a:pPr algn="l">
              <a:lnSpc>
                <a:spcPct val="110000"/>
              </a:lnSpc>
            </a:pPr>
            <a:r>
              <a:rPr lang="en-GB" sz="2250" b="1">
                <a:solidFill>
                  <a:srgbClr val="FF7A1A"/>
                </a:solidFill>
                <a:latin typeface="Segoe UI"/>
                <a:ea typeface="Segoe UI"/>
                <a:cs typeface="Segoe UI"/>
              </a:rPr>
              <a:t xml:space="preserve">2</a:t>
            </a:r>
            <a:endParaRPr lang="en-GB" sz="2250" b="1"/>
          </a:p>
        </p:txBody>
      </p:sp>
      <p:sp>
        <p:nvSpPr>
          <p:cNvPr id="7" name="Match the routine"/>
          <p:cNvSpPr txBox="1"/>
          <p:nvPr/>
        </p:nvSpPr>
        <p:spPr>
          <a:xfrm>
            <a:off x="1152525" y="3133725"/>
            <a:ext cx="4676775" cy="447675"/>
          </a:xfrm>
          <a:prstGeom prst="rect">
            <a:avLst/>
          </a:prstGeom>
          <a:noFill/>
          <a:ln>
            <a:noFill/>
          </a:ln>
        </p:spPr>
        <p:txBody>
          <a:bodyPr wrap="square" lIns="0" tIns="0" rIns="0" bIns="0" anchor="t"/>
          <a:lstStyle/>
          <a:p>
            <a:pPr algn="l">
              <a:lnSpc>
                <a:spcPct val="110000"/>
              </a:lnSpc>
            </a:pPr>
            <a:r>
              <a:rPr lang="en-GB" sz="2175" b="1">
                <a:solidFill>
                  <a:srgbClr val="201D1D"/>
                </a:solidFill>
                <a:latin typeface="Segoe UI"/>
                <a:ea typeface="Segoe UI"/>
                <a:cs typeface="Segoe UI"/>
              </a:rPr>
              <a:t xml:space="preserve">Match the routine</a:t>
            </a:r>
            <a:endParaRPr lang="en-GB" sz="2175" b="1"/>
          </a:p>
        </p:txBody>
      </p:sp>
      <p:sp>
        <p:nvSpPr>
          <p:cNvPr id="8" name="Gemma checks for a learned workflow."/>
          <p:cNvSpPr txBox="1"/>
          <p:nvPr/>
        </p:nvSpPr>
        <p:spPr>
          <a:xfrm>
            <a:off x="1152525" y="3581400"/>
            <a:ext cx="4676775" cy="647700"/>
          </a:xfrm>
          <a:prstGeom prst="rect">
            <a:avLst/>
          </a:prstGeom>
          <a:noFill/>
          <a:ln>
            <a:noFill/>
          </a:ln>
        </p:spPr>
        <p:txBody>
          <a:bodyPr wrap="square" lIns="0" tIns="0" rIns="0" bIns="0" anchor="t"/>
          <a:lstStyle/>
          <a:p>
            <a:pPr algn="l">
              <a:lnSpc>
                <a:spcPct val="110000"/>
              </a:lnSpc>
            </a:pPr>
            <a:r>
              <a:rPr lang="en-GB" sz="1800" b="0">
                <a:solidFill>
                  <a:srgbClr val="201D1D"/>
                </a:solidFill>
                <a:latin typeface="Segoe UI"/>
                <a:ea typeface="Segoe UI"/>
                <a:cs typeface="Segoe UI"/>
              </a:rPr>
              <a:t xml:space="preserve">Gemma checks for a learned workflow.</a:t>
            </a:r>
            <a:endParaRPr lang="en-GB" sz="1800" b="0"/>
          </a:p>
        </p:txBody>
      </p:sp>
      <p:sp>
        <p:nvSpPr>
          <p:cNvPr id="9" name="3"/>
          <p:cNvSpPr txBox="1"/>
          <p:nvPr/>
        </p:nvSpPr>
        <p:spPr>
          <a:xfrm>
            <a:off x="609600" y="4191000"/>
            <a:ext cx="428625" cy="457200"/>
          </a:xfrm>
          <a:prstGeom prst="rect">
            <a:avLst/>
          </a:prstGeom>
          <a:noFill/>
          <a:ln>
            <a:noFill/>
          </a:ln>
        </p:spPr>
        <p:txBody>
          <a:bodyPr wrap="square" lIns="0" tIns="0" rIns="0" bIns="0" anchor="t"/>
          <a:lstStyle/>
          <a:p>
            <a:pPr algn="l">
              <a:lnSpc>
                <a:spcPct val="110000"/>
              </a:lnSpc>
            </a:pPr>
            <a:r>
              <a:rPr lang="en-GB" sz="2250" b="1">
                <a:solidFill>
                  <a:srgbClr val="FF7A1A"/>
                </a:solidFill>
                <a:latin typeface="Segoe UI"/>
                <a:ea typeface="Segoe UI"/>
                <a:cs typeface="Segoe UI"/>
              </a:rPr>
              <a:t xml:space="preserve">3</a:t>
            </a:r>
            <a:endParaRPr lang="en-GB" sz="2250" b="1"/>
          </a:p>
        </p:txBody>
      </p:sp>
      <p:sp>
        <p:nvSpPr>
          <p:cNvPr id="10" name="Complete the task"/>
          <p:cNvSpPr txBox="1"/>
          <p:nvPr/>
        </p:nvSpPr>
        <p:spPr>
          <a:xfrm>
            <a:off x="1152525" y="4191000"/>
            <a:ext cx="4676775" cy="447675"/>
          </a:xfrm>
          <a:prstGeom prst="rect">
            <a:avLst/>
          </a:prstGeom>
          <a:noFill/>
          <a:ln>
            <a:noFill/>
          </a:ln>
        </p:spPr>
        <p:txBody>
          <a:bodyPr wrap="square" lIns="0" tIns="0" rIns="0" bIns="0" anchor="t"/>
          <a:lstStyle/>
          <a:p>
            <a:pPr algn="l">
              <a:lnSpc>
                <a:spcPct val="110000"/>
              </a:lnSpc>
            </a:pPr>
            <a:r>
              <a:rPr lang="en-GB" sz="2175" b="1">
                <a:solidFill>
                  <a:srgbClr val="201D1D"/>
                </a:solidFill>
                <a:latin typeface="Segoe UI"/>
                <a:ea typeface="Segoe UI"/>
                <a:cs typeface="Segoe UI"/>
              </a:rPr>
              <a:t xml:space="preserve">Complete the task</a:t>
            </a:r>
            <a:endParaRPr lang="en-GB" sz="2175" b="1"/>
          </a:p>
        </p:txBody>
      </p:sp>
      <p:sp>
        <p:nvSpPr>
          <p:cNvPr id="11" name="Run enabled verification automatically."/>
          <p:cNvSpPr txBox="1"/>
          <p:nvPr/>
        </p:nvSpPr>
        <p:spPr>
          <a:xfrm>
            <a:off x="1152525" y="4638675"/>
            <a:ext cx="4676775" cy="647700"/>
          </a:xfrm>
          <a:prstGeom prst="rect">
            <a:avLst/>
          </a:prstGeom>
          <a:noFill/>
          <a:ln>
            <a:noFill/>
          </a:ln>
        </p:spPr>
        <p:txBody>
          <a:bodyPr wrap="square" lIns="0" tIns="0" rIns="0" bIns="0" anchor="t"/>
          <a:lstStyle/>
          <a:p>
            <a:pPr algn="l">
              <a:lnSpc>
                <a:spcPct val="110000"/>
              </a:lnSpc>
            </a:pPr>
            <a:r>
              <a:rPr lang="en-GB" sz="1800" b="0">
                <a:solidFill>
                  <a:srgbClr val="201D1D"/>
                </a:solidFill>
                <a:latin typeface="Segoe UI"/>
                <a:ea typeface="Segoe UI"/>
                <a:cs typeface="Segoe UI"/>
              </a:rPr>
              <a:t xml:space="preserve">Run enabled verification automatically.</a:t>
            </a:r>
            <a:endParaRPr lang="en-GB" sz="1800" b="0"/>
          </a:p>
        </p:txBody>
      </p:sp>
      <p:sp>
        <p:nvSpPr>
          <p:cNvPr id="12" name="4"/>
          <p:cNvSpPr txBox="1"/>
          <p:nvPr/>
        </p:nvSpPr>
        <p:spPr>
          <a:xfrm>
            <a:off x="609600" y="5248275"/>
            <a:ext cx="428625" cy="457200"/>
          </a:xfrm>
          <a:prstGeom prst="rect">
            <a:avLst/>
          </a:prstGeom>
          <a:noFill/>
          <a:ln>
            <a:noFill/>
          </a:ln>
        </p:spPr>
        <p:txBody>
          <a:bodyPr wrap="square" lIns="0" tIns="0" rIns="0" bIns="0" anchor="t"/>
          <a:lstStyle/>
          <a:p>
            <a:pPr algn="l">
              <a:lnSpc>
                <a:spcPct val="110000"/>
              </a:lnSpc>
            </a:pPr>
            <a:r>
              <a:rPr lang="en-GB" sz="2250" b="1">
                <a:solidFill>
                  <a:srgbClr val="FF7A1A"/>
                </a:solidFill>
                <a:latin typeface="Segoe UI"/>
                <a:ea typeface="Segoe UI"/>
                <a:cs typeface="Segoe UI"/>
              </a:rPr>
              <a:t xml:space="preserve">4</a:t>
            </a:r>
            <a:endParaRPr lang="en-GB" sz="2250" b="1"/>
          </a:p>
        </p:txBody>
      </p:sp>
      <p:sp>
        <p:nvSpPr>
          <p:cNvPr id="13" name="Check the result"/>
          <p:cNvSpPr txBox="1"/>
          <p:nvPr/>
        </p:nvSpPr>
        <p:spPr>
          <a:xfrm>
            <a:off x="1152525" y="5248275"/>
            <a:ext cx="4676775" cy="447675"/>
          </a:xfrm>
          <a:prstGeom prst="rect">
            <a:avLst/>
          </a:prstGeom>
          <a:noFill/>
          <a:ln>
            <a:noFill/>
          </a:ln>
        </p:spPr>
        <p:txBody>
          <a:bodyPr wrap="square" lIns="0" tIns="0" rIns="0" bIns="0" anchor="t"/>
          <a:lstStyle/>
          <a:p>
            <a:pPr algn="l">
              <a:lnSpc>
                <a:spcPct val="110000"/>
              </a:lnSpc>
            </a:pPr>
            <a:r>
              <a:rPr lang="en-GB" sz="2175" b="1">
                <a:solidFill>
                  <a:srgbClr val="201D1D"/>
                </a:solidFill>
                <a:latin typeface="Segoe UI"/>
                <a:ea typeface="Segoe UI"/>
                <a:cs typeface="Segoe UI"/>
              </a:rPr>
              <a:t xml:space="preserve">Check the result</a:t>
            </a:r>
            <a:endParaRPr lang="en-GB" sz="2175" b="1"/>
          </a:p>
        </p:txBody>
      </p:sp>
      <p:sp>
        <p:nvSpPr>
          <p:cNvPr id="14" name="Stop if the details do not match."/>
          <p:cNvSpPr txBox="1"/>
          <p:nvPr/>
        </p:nvSpPr>
        <p:spPr>
          <a:xfrm>
            <a:off x="1152525" y="5695950"/>
            <a:ext cx="4676775" cy="647700"/>
          </a:xfrm>
          <a:prstGeom prst="rect">
            <a:avLst/>
          </a:prstGeom>
          <a:noFill/>
          <a:ln>
            <a:noFill/>
          </a:ln>
        </p:spPr>
        <p:txBody>
          <a:bodyPr wrap="square" lIns="0" tIns="0" rIns="0" bIns="0" anchor="t"/>
          <a:lstStyle/>
          <a:p>
            <a:pPr algn="l">
              <a:lnSpc>
                <a:spcPct val="110000"/>
              </a:lnSpc>
            </a:pPr>
            <a:r>
              <a:rPr lang="en-GB" sz="1800" b="0">
                <a:solidFill>
                  <a:srgbClr val="201D1D"/>
                </a:solidFill>
                <a:latin typeface="Segoe UI"/>
                <a:ea typeface="Segoe UI"/>
                <a:cs typeface="Segoe UI"/>
              </a:rPr>
              <a:t xml:space="preserve">Stop if the details do not match.</a:t>
            </a:r>
            <a:endParaRPr lang="en-GB" sz="1800" b="0"/>
          </a:p>
        </p:txBody>
      </p:sp>
      <p:pic>
        <p:nvPicPr>
          <p:cNvPr id="15" name="Kopi illustration" descr="Kopi visual asset: assets/04-background.png"/>
          <p:cNvPicPr>
            <a:picLocks noChangeAspect="1"/>
          </p:cNvPicPr>
          <p:nvPr/>
        </p:nvPicPr>
        <p:blipFill>
          <a:blip r:embed="rId3"/>
          <a:stretch>
            <a:fillRect/>
          </a:stretch>
        </p:blipFill>
        <p:spPr>
          <a:xfrm>
            <a:off x="6121400" y="2114550"/>
            <a:ext cx="5549900" cy="4162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1">
  <p:cSld name="The university login example">
    <p:bg>
      <p:bgPr>
        <a:solidFill>
          <a:srgbClr val="FFFEFA"/>
        </a:solidFill>
        <a:effectLst/>
      </p:bgPr>
    </p:bg>
    <p:spTree>
      <p:nvGrpSpPr>
        <p:cNvPr id="1" name=""/>
        <p:cNvGrpSpPr/>
        <p:nvPr/>
      </p:nvGrpSpPr>
      <p:grpSpPr>
        <a:xfrm>
          <a:off x="0" y="0"/>
          <a:ext cx="0" cy="0"/>
          <a:chOff x="0" y="0"/>
          <a:chExt cx="0" cy="0"/>
        </a:xfrm>
      </p:grpSpPr>
      <p:sp>
        <p:nvSpPr>
          <p:cNvPr id="2" name="A new verification challenge triggers Kopi"/>
          <p:cNvSpPr txBox="1"/>
          <p:nvPr/>
        </p:nvSpPr>
        <p:spPr>
          <a:xfrm>
            <a:off x="609600" y="619125"/>
            <a:ext cx="10972800" cy="1162050"/>
          </a:xfrm>
          <a:prstGeom prst="rect">
            <a:avLst/>
          </a:prstGeom>
          <a:noFill/>
          <a:ln>
            <a:noFill/>
          </a:ln>
        </p:spPr>
        <p:txBody>
          <a:bodyPr wrap="square" lIns="0" tIns="0" rIns="0" bIns="0" anchor="t"/>
          <a:lstStyle/>
          <a:p>
            <a:pPr algn="l">
              <a:lnSpc>
                <a:spcPct val="110000"/>
              </a:lnSpc>
            </a:pPr>
            <a:r>
              <a:rPr lang="en-GB" sz="3600" b="1">
                <a:solidFill>
                  <a:srgbClr val="201D1D"/>
                </a:solidFill>
                <a:latin typeface="Segoe UI"/>
                <a:ea typeface="Segoe UI"/>
                <a:cs typeface="Segoe UI"/>
              </a:rPr>
              <a:t xml:space="preserve">A new verification challenge triggers Kopi</a:t>
            </a:r>
            <a:endParaRPr lang="en-GB" sz="3600" b="1"/>
          </a:p>
        </p:txBody>
      </p:sp>
      <p:sp>
        <p:nvSpPr>
          <p:cNvPr id="3" name="After I enable this workflow once:"/>
          <p:cNvSpPr txBox="1"/>
          <p:nvPr/>
        </p:nvSpPr>
        <p:spPr>
          <a:xfrm>
            <a:off x="609600" y="2066925"/>
            <a:ext cx="5257800" cy="619125"/>
          </a:xfrm>
          <a:prstGeom prst="rect">
            <a:avLst/>
          </a:prstGeom>
          <a:noFill/>
          <a:ln>
            <a:noFill/>
          </a:ln>
        </p:spPr>
        <p:txBody>
          <a:bodyPr wrap="square" lIns="0" tIns="0" rIns="0" bIns="0" anchor="t"/>
          <a:lstStyle/>
          <a:p>
            <a:pPr algn="l">
              <a:lnSpc>
                <a:spcPct val="110000"/>
              </a:lnSpc>
            </a:pPr>
            <a:r>
              <a:rPr lang="en-GB" sz="2100" b="0">
                <a:solidFill>
                  <a:srgbClr val="201D1D"/>
                </a:solidFill>
                <a:latin typeface="Segoe UI"/>
                <a:ea typeface="Segoe UI"/>
                <a:cs typeface="Segoe UI"/>
              </a:rPr>
              <a:t xml:space="preserve">After I enable this workflow once:</a:t>
            </a:r>
            <a:endParaRPr lang="en-GB" sz="2100" b="0"/>
          </a:p>
        </p:txBody>
      </p:sp>
      <p:sp>
        <p:nvSpPr>
          <p:cNvPr id="4" name="1"/>
          <p:cNvSpPr txBox="1"/>
          <p:nvPr/>
        </p:nvSpPr>
        <p:spPr>
          <a:xfrm>
            <a:off x="609600" y="3038475"/>
            <a:ext cx="428625" cy="457200"/>
          </a:xfrm>
          <a:prstGeom prst="rect">
            <a:avLst/>
          </a:prstGeom>
          <a:noFill/>
          <a:ln>
            <a:noFill/>
          </a:ln>
        </p:spPr>
        <p:txBody>
          <a:bodyPr wrap="square" lIns="0" tIns="0" rIns="0" bIns="0" anchor="t"/>
          <a:lstStyle/>
          <a:p>
            <a:pPr algn="l">
              <a:lnSpc>
                <a:spcPct val="110000"/>
              </a:lnSpc>
            </a:pPr>
            <a:r>
              <a:rPr lang="en-GB" sz="2250" b="1">
                <a:solidFill>
                  <a:srgbClr val="FF7A1A"/>
                </a:solidFill>
                <a:latin typeface="Segoe UI"/>
                <a:ea typeface="Segoe UI"/>
                <a:cs typeface="Segoe UI"/>
              </a:rPr>
              <a:t xml:space="preserve">1</a:t>
            </a:r>
            <a:endParaRPr lang="en-GB" sz="2250" b="1"/>
          </a:p>
        </p:txBody>
      </p:sp>
      <p:sp>
        <p:nvSpPr>
          <p:cNvPr id="5" name="Detect the challenge"/>
          <p:cNvSpPr txBox="1"/>
          <p:nvPr/>
        </p:nvSpPr>
        <p:spPr>
          <a:xfrm>
            <a:off x="1152525" y="3038475"/>
            <a:ext cx="4676775" cy="447675"/>
          </a:xfrm>
          <a:prstGeom prst="rect">
            <a:avLst/>
          </a:prstGeom>
          <a:noFill/>
          <a:ln>
            <a:noFill/>
          </a:ln>
        </p:spPr>
        <p:txBody>
          <a:bodyPr wrap="square" lIns="0" tIns="0" rIns="0" bIns="0" anchor="t"/>
          <a:lstStyle/>
          <a:p>
            <a:pPr algn="l">
              <a:lnSpc>
                <a:spcPct val="110000"/>
              </a:lnSpc>
            </a:pPr>
            <a:r>
              <a:rPr lang="en-GB" sz="2175" b="1">
                <a:solidFill>
                  <a:srgbClr val="201D1D"/>
                </a:solidFill>
                <a:latin typeface="Segoe UI"/>
                <a:ea typeface="Segoe UI"/>
                <a:cs typeface="Segoe UI"/>
              </a:rPr>
              <a:t xml:space="preserve">Detect the challenge</a:t>
            </a:r>
            <a:endParaRPr lang="en-GB" sz="2175" b="1"/>
          </a:p>
        </p:txBody>
      </p:sp>
      <p:sp>
        <p:nvSpPr>
          <p:cNvPr id="6" name="Match the approved university page."/>
          <p:cNvSpPr txBox="1"/>
          <p:nvPr/>
        </p:nvSpPr>
        <p:spPr>
          <a:xfrm>
            <a:off x="1152525" y="3486150"/>
            <a:ext cx="4676775" cy="647700"/>
          </a:xfrm>
          <a:prstGeom prst="rect">
            <a:avLst/>
          </a:prstGeom>
          <a:noFill/>
          <a:ln>
            <a:noFill/>
          </a:ln>
        </p:spPr>
        <p:txBody>
          <a:bodyPr wrap="square" lIns="0" tIns="0" rIns="0" bIns="0" anchor="t"/>
          <a:lstStyle/>
          <a:p>
            <a:pPr algn="l">
              <a:lnSpc>
                <a:spcPct val="110000"/>
              </a:lnSpc>
            </a:pPr>
            <a:r>
              <a:rPr lang="en-GB" sz="1800" b="0">
                <a:solidFill>
                  <a:srgbClr val="201D1D"/>
                </a:solidFill>
                <a:latin typeface="Segoe UI"/>
                <a:ea typeface="Segoe UI"/>
                <a:cs typeface="Segoe UI"/>
              </a:rPr>
              <a:t xml:space="preserve">Match the approved university page.</a:t>
            </a:r>
            <a:endParaRPr lang="en-GB" sz="1800" b="0"/>
          </a:p>
        </p:txBody>
      </p:sp>
      <p:sp>
        <p:nvSpPr>
          <p:cNvPr id="7" name="2"/>
          <p:cNvSpPr txBox="1"/>
          <p:nvPr/>
        </p:nvSpPr>
        <p:spPr>
          <a:xfrm>
            <a:off x="609600" y="4095750"/>
            <a:ext cx="428625" cy="457200"/>
          </a:xfrm>
          <a:prstGeom prst="rect">
            <a:avLst/>
          </a:prstGeom>
          <a:noFill/>
          <a:ln>
            <a:noFill/>
          </a:ln>
        </p:spPr>
        <p:txBody>
          <a:bodyPr wrap="square" lIns="0" tIns="0" rIns="0" bIns="0" anchor="t"/>
          <a:lstStyle/>
          <a:p>
            <a:pPr algn="l">
              <a:lnSpc>
                <a:spcPct val="110000"/>
              </a:lnSpc>
            </a:pPr>
            <a:r>
              <a:rPr lang="en-GB" sz="2250" b="1">
                <a:solidFill>
                  <a:srgbClr val="FF7A1A"/>
                </a:solidFill>
                <a:latin typeface="Segoe UI"/>
                <a:ea typeface="Segoe UI"/>
                <a:cs typeface="Segoe UI"/>
              </a:rPr>
              <a:t xml:space="preserve">2</a:t>
            </a:r>
            <a:endParaRPr lang="en-GB" sz="2250" b="1"/>
          </a:p>
        </p:txBody>
      </p:sp>
      <p:sp>
        <p:nvSpPr>
          <p:cNvPr id="8" name="Get a fresh code"/>
          <p:cNvSpPr txBox="1"/>
          <p:nvPr/>
        </p:nvSpPr>
        <p:spPr>
          <a:xfrm>
            <a:off x="1152525" y="4095750"/>
            <a:ext cx="4676775" cy="447675"/>
          </a:xfrm>
          <a:prstGeom prst="rect">
            <a:avLst/>
          </a:prstGeom>
          <a:noFill/>
          <a:ln>
            <a:noFill/>
          </a:ln>
        </p:spPr>
        <p:txBody>
          <a:bodyPr wrap="square" lIns="0" tIns="0" rIns="0" bIns="0" anchor="t"/>
          <a:lstStyle/>
          <a:p>
            <a:pPr algn="l">
              <a:lnSpc>
                <a:spcPct val="110000"/>
              </a:lnSpc>
            </a:pPr>
            <a:r>
              <a:rPr lang="en-GB" sz="2175" b="1">
                <a:solidFill>
                  <a:srgbClr val="201D1D"/>
                </a:solidFill>
                <a:latin typeface="Segoe UI"/>
                <a:ea typeface="Segoe UI"/>
                <a:cs typeface="Segoe UI"/>
              </a:rPr>
              <a:t xml:space="preserve">Get a fresh code</a:t>
            </a:r>
            <a:endParaRPr lang="en-GB" sz="2175" b="1"/>
          </a:p>
        </p:txBody>
      </p:sp>
      <p:sp>
        <p:nvSpPr>
          <p:cNvPr id="9" name="Request it and read the new message."/>
          <p:cNvSpPr txBox="1"/>
          <p:nvPr/>
        </p:nvSpPr>
        <p:spPr>
          <a:xfrm>
            <a:off x="1152525" y="4543425"/>
            <a:ext cx="4676775" cy="647700"/>
          </a:xfrm>
          <a:prstGeom prst="rect">
            <a:avLst/>
          </a:prstGeom>
          <a:noFill/>
          <a:ln>
            <a:noFill/>
          </a:ln>
        </p:spPr>
        <p:txBody>
          <a:bodyPr wrap="square" lIns="0" tIns="0" rIns="0" bIns="0" anchor="t"/>
          <a:lstStyle/>
          <a:p>
            <a:pPr algn="l">
              <a:lnSpc>
                <a:spcPct val="110000"/>
              </a:lnSpc>
            </a:pPr>
            <a:r>
              <a:rPr lang="en-GB" sz="1800" b="0">
                <a:solidFill>
                  <a:srgbClr val="201D1D"/>
                </a:solidFill>
                <a:latin typeface="Segoe UI"/>
                <a:ea typeface="Segoe UI"/>
                <a:cs typeface="Segoe UI"/>
              </a:rPr>
              <a:t xml:space="preserve">Request it and read the new message.</a:t>
            </a:r>
            <a:endParaRPr lang="en-GB" sz="1800" b="0"/>
          </a:p>
        </p:txBody>
      </p:sp>
      <p:sp>
        <p:nvSpPr>
          <p:cNvPr id="10" name="3"/>
          <p:cNvSpPr txBox="1"/>
          <p:nvPr/>
        </p:nvSpPr>
        <p:spPr>
          <a:xfrm>
            <a:off x="609600" y="5153025"/>
            <a:ext cx="428625" cy="457200"/>
          </a:xfrm>
          <a:prstGeom prst="rect">
            <a:avLst/>
          </a:prstGeom>
          <a:noFill/>
          <a:ln>
            <a:noFill/>
          </a:ln>
        </p:spPr>
        <p:txBody>
          <a:bodyPr wrap="square" lIns="0" tIns="0" rIns="0" bIns="0" anchor="t"/>
          <a:lstStyle/>
          <a:p>
            <a:pPr algn="l">
              <a:lnSpc>
                <a:spcPct val="110000"/>
              </a:lnSpc>
            </a:pPr>
            <a:r>
              <a:rPr lang="en-GB" sz="2250" b="1">
                <a:solidFill>
                  <a:srgbClr val="FF7A1A"/>
                </a:solidFill>
                <a:latin typeface="Segoe UI"/>
                <a:ea typeface="Segoe UI"/>
                <a:cs typeface="Segoe UI"/>
              </a:rPr>
              <a:t xml:space="preserve">3</a:t>
            </a:r>
            <a:endParaRPr lang="en-GB" sz="2250" b="1"/>
          </a:p>
        </p:txBody>
      </p:sp>
      <p:sp>
        <p:nvSpPr>
          <p:cNvPr id="11" name="Finish verification"/>
          <p:cNvSpPr txBox="1"/>
          <p:nvPr/>
        </p:nvSpPr>
        <p:spPr>
          <a:xfrm>
            <a:off x="1152525" y="5153025"/>
            <a:ext cx="4676775" cy="447675"/>
          </a:xfrm>
          <a:prstGeom prst="rect">
            <a:avLst/>
          </a:prstGeom>
          <a:noFill/>
          <a:ln>
            <a:noFill/>
          </a:ln>
        </p:spPr>
        <p:txBody>
          <a:bodyPr wrap="square" lIns="0" tIns="0" rIns="0" bIns="0" anchor="t"/>
          <a:lstStyle/>
          <a:p>
            <a:pPr algn="l">
              <a:lnSpc>
                <a:spcPct val="110000"/>
              </a:lnSpc>
            </a:pPr>
            <a:r>
              <a:rPr lang="en-GB" sz="2175" b="1">
                <a:solidFill>
                  <a:srgbClr val="201D1D"/>
                </a:solidFill>
                <a:latin typeface="Segoe UI"/>
                <a:ea typeface="Segoe UI"/>
                <a:cs typeface="Segoe UI"/>
              </a:rPr>
              <a:t xml:space="preserve">Finish verification</a:t>
            </a:r>
            <a:endParaRPr lang="en-GB" sz="2175" b="1"/>
          </a:p>
        </p:txBody>
      </p:sp>
      <p:sp>
        <p:nvSpPr>
          <p:cNvPr id="12" name="Enter, submit and confirm success."/>
          <p:cNvSpPr txBox="1"/>
          <p:nvPr/>
        </p:nvSpPr>
        <p:spPr>
          <a:xfrm>
            <a:off x="1152525" y="5600700"/>
            <a:ext cx="4676775" cy="647700"/>
          </a:xfrm>
          <a:prstGeom prst="rect">
            <a:avLst/>
          </a:prstGeom>
          <a:noFill/>
          <a:ln>
            <a:noFill/>
          </a:ln>
        </p:spPr>
        <p:txBody>
          <a:bodyPr wrap="square" lIns="0" tIns="0" rIns="0" bIns="0" anchor="t"/>
          <a:lstStyle/>
          <a:p>
            <a:pPr algn="l">
              <a:lnSpc>
                <a:spcPct val="110000"/>
              </a:lnSpc>
            </a:pPr>
            <a:r>
              <a:rPr lang="en-GB" sz="1800" b="0">
                <a:solidFill>
                  <a:srgbClr val="201D1D"/>
                </a:solidFill>
                <a:latin typeface="Segoe UI"/>
                <a:ea typeface="Segoe UI"/>
                <a:cs typeface="Segoe UI"/>
              </a:rPr>
              <a:t xml:space="preserve">Enter, submit and confirm success.</a:t>
            </a:r>
            <a:endParaRPr lang="en-GB" sz="1800" b="0"/>
          </a:p>
        </p:txBody>
      </p:sp>
      <p:pic>
        <p:nvPicPr>
          <p:cNvPr id="13" name="Kopi illustration" descr="Kopi visual asset: assets/05-verification.png"/>
          <p:cNvPicPr>
            <a:picLocks noChangeAspect="1"/>
          </p:cNvPicPr>
          <p:nvPr/>
        </p:nvPicPr>
        <p:blipFill>
          <a:blip r:embed="rId3"/>
          <a:stretch>
            <a:fillRect/>
          </a:stretch>
        </p:blipFill>
        <p:spPr>
          <a:xfrm>
            <a:off x="6121400" y="2114550"/>
            <a:ext cx="5549900" cy="41624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1">
  <p:cSld name="Why I built it this way">
    <p:bg>
      <p:bgPr>
        <a:solidFill>
          <a:srgbClr val="FFFEFA"/>
        </a:solidFill>
        <a:effectLst/>
      </p:bgPr>
    </p:bg>
    <p:spTree>
      <p:nvGrpSpPr>
        <p:cNvPr id="1" name=""/>
        <p:cNvGrpSpPr/>
        <p:nvPr/>
      </p:nvGrpSpPr>
      <p:grpSpPr>
        <a:xfrm>
          <a:off x="0" y="0"/>
          <a:ext cx="0" cy="0"/>
          <a:chOff x="0" y="0"/>
          <a:chExt cx="0" cy="0"/>
        </a:xfrm>
      </p:grpSpPr>
      <p:sp>
        <p:nvSpPr>
          <p:cNvPr id="2" name="Why these choices fit the problem"/>
          <p:cNvSpPr txBox="1"/>
          <p:nvPr/>
        </p:nvSpPr>
        <p:spPr>
          <a:xfrm>
            <a:off x="609600" y="619125"/>
            <a:ext cx="10972800" cy="1162050"/>
          </a:xfrm>
          <a:prstGeom prst="rect">
            <a:avLst/>
          </a:prstGeom>
          <a:noFill/>
          <a:ln>
            <a:noFill/>
          </a:ln>
        </p:spPr>
        <p:txBody>
          <a:bodyPr wrap="square" lIns="0" tIns="0" rIns="0" bIns="0" anchor="t"/>
          <a:lstStyle/>
          <a:p>
            <a:pPr algn="l">
              <a:lnSpc>
                <a:spcPct val="110000"/>
              </a:lnSpc>
            </a:pPr>
            <a:r>
              <a:rPr lang="en-GB" sz="3600" b="1">
                <a:solidFill>
                  <a:srgbClr val="201D1D"/>
                </a:solidFill>
                <a:latin typeface="Segoe UI"/>
                <a:ea typeface="Segoe UI"/>
                <a:cs typeface="Segoe UI"/>
              </a:rPr>
              <a:t xml:space="preserve">Why these choices fit the problem</a:t>
            </a:r>
            <a:endParaRPr lang="en-GB" sz="3600" b="1"/>
          </a:p>
        </p:txBody>
      </p:sp>
      <p:sp>
        <p:nvSpPr>
          <p:cNvPr id="3" name="Use my existing browser"/>
          <p:cNvSpPr txBox="1"/>
          <p:nvPr/>
        </p:nvSpPr>
        <p:spPr>
          <a:xfrm>
            <a:off x="609600" y="2181225"/>
            <a:ext cx="5238750" cy="504825"/>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Use my existing browser</a:t>
            </a:r>
            <a:endParaRPr lang="en-GB" sz="2250" b="1"/>
          </a:p>
        </p:txBody>
      </p:sp>
      <p:sp>
        <p:nvSpPr>
          <p:cNvPr id="4" name="Keep the account I am already signed into."/>
          <p:cNvSpPr txBox="1"/>
          <p:nvPr/>
        </p:nvSpPr>
        <p:spPr>
          <a:xfrm>
            <a:off x="609600" y="2771775"/>
            <a:ext cx="5238750" cy="781050"/>
          </a:xfrm>
          <a:prstGeom prst="rect">
            <a:avLst/>
          </a:prstGeom>
          <a:noFill/>
          <a:ln>
            <a:noFill/>
          </a:ln>
        </p:spPr>
        <p:txBody>
          <a:bodyPr wrap="square" lIns="0" tIns="0" rIns="0" bIns="0" anchor="t"/>
          <a:lstStyle/>
          <a:p>
            <a:pPr algn="l">
              <a:lnSpc>
                <a:spcPct val="110000"/>
              </a:lnSpc>
            </a:pPr>
            <a:r>
              <a:rPr lang="en-GB" sz="1950" b="0">
                <a:solidFill>
                  <a:srgbClr val="201D1D"/>
                </a:solidFill>
                <a:latin typeface="Segoe UI"/>
                <a:ea typeface="Segoe UI"/>
                <a:cs typeface="Segoe UI"/>
              </a:rPr>
              <a:t xml:space="preserve">Keep the account I am already signed into.</a:t>
            </a:r>
            <a:endParaRPr lang="en-GB" sz="1950" b="0"/>
          </a:p>
        </p:txBody>
      </p:sp>
      <p:sp>
        <p:nvSpPr>
          <p:cNvPr id="5" name="Run Gemma locally"/>
          <p:cNvSpPr txBox="1"/>
          <p:nvPr/>
        </p:nvSpPr>
        <p:spPr>
          <a:xfrm>
            <a:off x="609600" y="3590925"/>
            <a:ext cx="5238750" cy="504825"/>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Run Gemma locally</a:t>
            </a:r>
            <a:endParaRPr lang="en-GB" sz="2250" b="1"/>
          </a:p>
        </p:txBody>
      </p:sp>
      <p:sp>
        <p:nvSpPr>
          <p:cNvPr id="6" name="Keep page evidence on my computer."/>
          <p:cNvSpPr txBox="1"/>
          <p:nvPr/>
        </p:nvSpPr>
        <p:spPr>
          <a:xfrm>
            <a:off x="609600" y="4181475"/>
            <a:ext cx="5238750" cy="781050"/>
          </a:xfrm>
          <a:prstGeom prst="rect">
            <a:avLst/>
          </a:prstGeom>
          <a:noFill/>
          <a:ln>
            <a:noFill/>
          </a:ln>
        </p:spPr>
        <p:txBody>
          <a:bodyPr wrap="square" lIns="0" tIns="0" rIns="0" bIns="0" anchor="t"/>
          <a:lstStyle/>
          <a:p>
            <a:pPr algn="l">
              <a:lnSpc>
                <a:spcPct val="110000"/>
              </a:lnSpc>
            </a:pPr>
            <a:r>
              <a:rPr lang="en-GB" sz="1950" b="0">
                <a:solidFill>
                  <a:srgbClr val="201D1D"/>
                </a:solidFill>
                <a:latin typeface="Segoe UI"/>
                <a:ea typeface="Segoe UI"/>
                <a:cs typeface="Segoe UI"/>
              </a:rPr>
              <a:t xml:space="preserve">Keep page evidence on my computer.</a:t>
            </a:r>
            <a:endParaRPr lang="en-GB" sz="1950" b="0"/>
          </a:p>
        </p:txBody>
      </p:sp>
      <p:sp>
        <p:nvSpPr>
          <p:cNvPr id="7" name="Check before acting"/>
          <p:cNvSpPr txBox="1"/>
          <p:nvPr/>
        </p:nvSpPr>
        <p:spPr>
          <a:xfrm>
            <a:off x="609600" y="5000625"/>
            <a:ext cx="5238750" cy="504825"/>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Check before acting</a:t>
            </a:r>
            <a:endParaRPr lang="en-GB" sz="2250" b="1"/>
          </a:p>
        </p:txBody>
      </p:sp>
      <p:sp>
        <p:nvSpPr>
          <p:cNvPr id="8" name="Reject a wrong account or stale code."/>
          <p:cNvSpPr txBox="1"/>
          <p:nvPr/>
        </p:nvSpPr>
        <p:spPr>
          <a:xfrm>
            <a:off x="609600" y="5591175"/>
            <a:ext cx="5238750" cy="781050"/>
          </a:xfrm>
          <a:prstGeom prst="rect">
            <a:avLst/>
          </a:prstGeom>
          <a:noFill/>
          <a:ln>
            <a:noFill/>
          </a:ln>
        </p:spPr>
        <p:txBody>
          <a:bodyPr wrap="square" lIns="0" tIns="0" rIns="0" bIns="0" anchor="t"/>
          <a:lstStyle/>
          <a:p>
            <a:pPr algn="l">
              <a:lnSpc>
                <a:spcPct val="110000"/>
              </a:lnSpc>
            </a:pPr>
            <a:r>
              <a:rPr lang="en-GB" sz="1950" b="0">
                <a:solidFill>
                  <a:srgbClr val="201D1D"/>
                </a:solidFill>
                <a:latin typeface="Segoe UI"/>
                <a:ea typeface="Segoe UI"/>
                <a:cs typeface="Segoe UI"/>
              </a:rPr>
              <a:t xml:space="preserve">Reject a wrong account or stale code.</a:t>
            </a:r>
            <a:endParaRPr lang="en-GB" sz="1950" b="0"/>
          </a:p>
        </p:txBody>
      </p:sp>
      <p:pic>
        <p:nvPicPr>
          <p:cNvPr id="9" name="Kopi illustration" descr="Kopi visual asset: assets/06-choices.png"/>
          <p:cNvPicPr>
            <a:picLocks noChangeAspect="1"/>
          </p:cNvPicPr>
          <p:nvPr/>
        </p:nvPicPr>
        <p:blipFill>
          <a:blip r:embed="rId3"/>
          <a:stretch>
            <a:fillRect/>
          </a:stretch>
        </p:blipFill>
        <p:spPr>
          <a:xfrm>
            <a:off x="6122988" y="2133600"/>
            <a:ext cx="5537200" cy="4152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1">
  <p:cSld name="How I built it">
    <p:bg>
      <p:bgPr>
        <a:solidFill>
          <a:srgbClr val="FFFEFA"/>
        </a:solidFill>
        <a:effectLst/>
      </p:bgPr>
    </p:bg>
    <p:spTree>
      <p:nvGrpSpPr>
        <p:cNvPr id="1" name=""/>
        <p:cNvGrpSpPr/>
        <p:nvPr/>
      </p:nvGrpSpPr>
      <p:grpSpPr>
        <a:xfrm>
          <a:off x="0" y="0"/>
          <a:ext cx="0" cy="0"/>
          <a:chOff x="0" y="0"/>
          <a:chExt cx="0" cy="0"/>
        </a:xfrm>
      </p:grpSpPr>
      <p:sp>
        <p:nvSpPr>
          <p:cNvPr id="2" name="What I built"/>
          <p:cNvSpPr txBox="1"/>
          <p:nvPr/>
        </p:nvSpPr>
        <p:spPr>
          <a:xfrm>
            <a:off x="609600" y="619125"/>
            <a:ext cx="10972800" cy="1162050"/>
          </a:xfrm>
          <a:prstGeom prst="rect">
            <a:avLst/>
          </a:prstGeom>
          <a:noFill/>
          <a:ln>
            <a:noFill/>
          </a:ln>
        </p:spPr>
        <p:txBody>
          <a:bodyPr wrap="square" lIns="0" tIns="0" rIns="0" bIns="0" anchor="t"/>
          <a:lstStyle/>
          <a:p>
            <a:pPr algn="l">
              <a:lnSpc>
                <a:spcPct val="110000"/>
              </a:lnSpc>
            </a:pPr>
            <a:r>
              <a:rPr lang="en-GB" sz="3600" b="1">
                <a:solidFill>
                  <a:srgbClr val="201D1D"/>
                </a:solidFill>
                <a:latin typeface="Segoe UI"/>
                <a:ea typeface="Segoe UI"/>
                <a:cs typeface="Segoe UI"/>
              </a:rPr>
              <a:t xml:space="preserve">What I built</a:t>
            </a:r>
            <a:endParaRPr lang="en-GB" sz="3600" b="1"/>
          </a:p>
        </p:txBody>
      </p:sp>
      <p:sp>
        <p:nvSpPr>
          <p:cNvPr id="3" name="Browser extension"/>
          <p:cNvSpPr txBox="1"/>
          <p:nvPr/>
        </p:nvSpPr>
        <p:spPr>
          <a:xfrm>
            <a:off x="609600" y="2114550"/>
            <a:ext cx="5257800" cy="466725"/>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Browser extension</a:t>
            </a:r>
            <a:endParaRPr lang="en-GB" sz="2250" b="1"/>
          </a:p>
        </p:txBody>
      </p:sp>
      <p:sp>
        <p:nvSpPr>
          <p:cNvPr id="4" name="JavaScript watches pages and performs actions."/>
          <p:cNvSpPr txBox="1"/>
          <p:nvPr/>
        </p:nvSpPr>
        <p:spPr>
          <a:xfrm>
            <a:off x="609600" y="2619375"/>
            <a:ext cx="5257800" cy="838200"/>
          </a:xfrm>
          <a:prstGeom prst="rect">
            <a:avLst/>
          </a:prstGeom>
          <a:noFill/>
          <a:ln>
            <a:noFill/>
          </a:ln>
        </p:spPr>
        <p:txBody>
          <a:bodyPr wrap="square" lIns="0" tIns="0" rIns="0" bIns="0" anchor="t"/>
          <a:lstStyle/>
          <a:p>
            <a:pPr algn="l">
              <a:lnSpc>
                <a:spcPct val="110000"/>
              </a:lnSpc>
            </a:pPr>
            <a:r>
              <a:rPr lang="en-GB" sz="1875" b="0">
                <a:solidFill>
                  <a:srgbClr val="201D1D"/>
                </a:solidFill>
                <a:latin typeface="Segoe UI"/>
                <a:ea typeface="Segoe UI"/>
                <a:cs typeface="Segoe UI"/>
              </a:rPr>
              <a:t xml:space="preserve">JavaScript watches pages and performs actions.</a:t>
            </a:r>
            <a:endParaRPr lang="en-GB" sz="1875" b="0"/>
          </a:p>
        </p:txBody>
      </p:sp>
      <p:sp>
        <p:nvSpPr>
          <p:cNvPr id="5" name="Desktop app"/>
          <p:cNvSpPr txBox="1"/>
          <p:nvPr/>
        </p:nvSpPr>
        <p:spPr>
          <a:xfrm>
            <a:off x="609600" y="3390900"/>
            <a:ext cx="5257800" cy="466725"/>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Desktop app</a:t>
            </a:r>
            <a:endParaRPr lang="en-GB" sz="2250" b="1"/>
          </a:p>
        </p:txBody>
      </p:sp>
      <p:sp>
        <p:nvSpPr>
          <p:cNvPr id="6" name="C# / .NET 10 / WPF coordinates the workflows."/>
          <p:cNvSpPr txBox="1"/>
          <p:nvPr/>
        </p:nvSpPr>
        <p:spPr>
          <a:xfrm>
            <a:off x="609600" y="3895725"/>
            <a:ext cx="5257800" cy="838200"/>
          </a:xfrm>
          <a:prstGeom prst="rect">
            <a:avLst/>
          </a:prstGeom>
          <a:noFill/>
          <a:ln>
            <a:noFill/>
          </a:ln>
        </p:spPr>
        <p:txBody>
          <a:bodyPr wrap="square" lIns="0" tIns="0" rIns="0" bIns="0" anchor="t"/>
          <a:lstStyle/>
          <a:p>
            <a:pPr algn="l">
              <a:lnSpc>
                <a:spcPct val="110000"/>
              </a:lnSpc>
            </a:pPr>
            <a:r>
              <a:rPr lang="en-GB" sz="1875" b="0">
                <a:solidFill>
                  <a:srgbClr val="201D1D"/>
                </a:solidFill>
                <a:latin typeface="Segoe UI"/>
                <a:ea typeface="Segoe UI"/>
                <a:cs typeface="Segoe UI"/>
              </a:rPr>
              <a:t xml:space="preserve">C# / .NET 10 / WPF coordinates the workflows.</a:t>
            </a:r>
            <a:endParaRPr lang="en-GB" sz="1875" b="0"/>
          </a:p>
        </p:txBody>
      </p:sp>
      <p:sp>
        <p:nvSpPr>
          <p:cNvPr id="7" name="Local model"/>
          <p:cNvSpPr txBox="1"/>
          <p:nvPr/>
        </p:nvSpPr>
        <p:spPr>
          <a:xfrm>
            <a:off x="609600" y="4667250"/>
            <a:ext cx="5257800" cy="466725"/>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Local model</a:t>
            </a:r>
            <a:endParaRPr lang="en-GB" sz="2250" b="1"/>
          </a:p>
        </p:txBody>
      </p:sp>
      <p:sp>
        <p:nvSpPr>
          <p:cNvPr id="8" name="Gemma 4 E2B with llama.cpp recognises the task."/>
          <p:cNvSpPr txBox="1"/>
          <p:nvPr/>
        </p:nvSpPr>
        <p:spPr>
          <a:xfrm>
            <a:off x="609600" y="5172075"/>
            <a:ext cx="5257800" cy="838200"/>
          </a:xfrm>
          <a:prstGeom prst="rect">
            <a:avLst/>
          </a:prstGeom>
          <a:noFill/>
          <a:ln>
            <a:noFill/>
          </a:ln>
        </p:spPr>
        <p:txBody>
          <a:bodyPr wrap="square" lIns="0" tIns="0" rIns="0" bIns="0" anchor="t"/>
          <a:lstStyle/>
          <a:p>
            <a:pPr algn="l">
              <a:lnSpc>
                <a:spcPct val="110000"/>
              </a:lnSpc>
            </a:pPr>
            <a:r>
              <a:rPr lang="en-GB" sz="1875" b="0">
                <a:solidFill>
                  <a:srgbClr val="201D1D"/>
                </a:solidFill>
                <a:latin typeface="Segoe UI"/>
                <a:ea typeface="Segoe UI"/>
                <a:cs typeface="Segoe UI"/>
              </a:rPr>
              <a:t xml:space="preserve">Gemma 4 E2B with llama.cpp recognises the task.</a:t>
            </a:r>
            <a:endParaRPr lang="en-GB" sz="1875" b="0"/>
          </a:p>
        </p:txBody>
      </p:sp>
      <p:pic>
        <p:nvPicPr>
          <p:cNvPr id="9" name="Kopi illustration" descr="Kopi visual asset: assets/07-architecture.png"/>
          <p:cNvPicPr>
            <a:picLocks noChangeAspect="1"/>
          </p:cNvPicPr>
          <p:nvPr/>
        </p:nvPicPr>
        <p:blipFill>
          <a:blip r:embed="rId3"/>
          <a:stretch>
            <a:fillRect/>
          </a:stretch>
        </p:blipFill>
        <p:spPr>
          <a:xfrm>
            <a:off x="6218237" y="2124075"/>
            <a:ext cx="5346700" cy="4010025"/>
          </a:xfrm>
          <a:prstGeom prst="rect">
            <a:avLst/>
          </a:prstGeom>
        </p:spPr>
      </p:pic>
      <p:sp>
        <p:nvSpPr>
          <p:cNvPr id="10" name="Original work: page triggers, workflow compiler, code t"/>
          <p:cNvSpPr txBox="1"/>
          <p:nvPr/>
        </p:nvSpPr>
        <p:spPr>
          <a:xfrm>
            <a:off x="609600" y="6210300"/>
            <a:ext cx="10972800" cy="419100"/>
          </a:xfrm>
          <a:prstGeom prst="rect">
            <a:avLst/>
          </a:prstGeom>
          <a:noFill/>
          <a:ln>
            <a:noFill/>
          </a:ln>
        </p:spPr>
        <p:txBody>
          <a:bodyPr wrap="square" lIns="0" tIns="0" rIns="0" bIns="0" anchor="t"/>
          <a:lstStyle/>
          <a:p>
            <a:pPr algn="l">
              <a:lnSpc>
                <a:spcPct val="110000"/>
              </a:lnSpc>
            </a:pPr>
            <a:r>
              <a:rPr lang="en-GB" sz="1725" b="0">
                <a:solidFill>
                  <a:srgbClr val="201D1D"/>
                </a:solidFill>
                <a:latin typeface="Segoe UI"/>
                <a:ea typeface="Segoe UI"/>
                <a:cs typeface="Segoe UI"/>
              </a:rPr>
              <a:t xml:space="preserve">Original work: page triggers, workflow compiler, code transfer and runtime manager.</a:t>
            </a:r>
            <a:endParaRPr lang="en-GB" sz="1725" b="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1">
  <p:cSld name="What works and what comes next">
    <p:bg>
      <p:bgPr>
        <a:solidFill>
          <a:srgbClr val="FFFEFA"/>
        </a:solidFill>
        <a:effectLst/>
      </p:bgPr>
    </p:bg>
    <p:spTree>
      <p:nvGrpSpPr>
        <p:cNvPr id="1" name=""/>
        <p:cNvGrpSpPr/>
        <p:nvPr/>
      </p:nvGrpSpPr>
      <p:grpSpPr>
        <a:xfrm>
          <a:off x="0" y="0"/>
          <a:ext cx="0" cy="0"/>
          <a:chOff x="0" y="0"/>
          <a:chExt cx="0" cy="0"/>
        </a:xfrm>
      </p:grpSpPr>
      <p:sp>
        <p:nvSpPr>
          <p:cNvPr id="2" name="What works, and what I test next"/>
          <p:cNvSpPr txBox="1"/>
          <p:nvPr/>
        </p:nvSpPr>
        <p:spPr>
          <a:xfrm>
            <a:off x="609600" y="619125"/>
            <a:ext cx="10972800" cy="1162050"/>
          </a:xfrm>
          <a:prstGeom prst="rect">
            <a:avLst/>
          </a:prstGeom>
          <a:noFill/>
          <a:ln>
            <a:noFill/>
          </a:ln>
        </p:spPr>
        <p:txBody>
          <a:bodyPr wrap="square" lIns="0" tIns="0" rIns="0" bIns="0" anchor="t"/>
          <a:lstStyle/>
          <a:p>
            <a:pPr algn="l">
              <a:lnSpc>
                <a:spcPct val="110000"/>
              </a:lnSpc>
            </a:pPr>
            <a:r>
              <a:rPr lang="en-GB" sz="3600" b="1">
                <a:solidFill>
                  <a:srgbClr val="201D1D"/>
                </a:solidFill>
                <a:latin typeface="Segoe UI"/>
                <a:ea typeface="Segoe UI"/>
                <a:cs typeface="Segoe UI"/>
              </a:rPr>
              <a:t xml:space="preserve">What works, and what I test next</a:t>
            </a:r>
            <a:endParaRPr lang="en-GB" sz="3600" b="1"/>
          </a:p>
        </p:txBody>
      </p:sp>
      <p:sp>
        <p:nvSpPr>
          <p:cNvPr id="3" name="Implemented"/>
          <p:cNvSpPr txBox="1"/>
          <p:nvPr/>
        </p:nvSpPr>
        <p:spPr>
          <a:xfrm>
            <a:off x="609600" y="2057400"/>
            <a:ext cx="5257800" cy="457200"/>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Implemented</a:t>
            </a:r>
            <a:endParaRPr lang="en-GB" sz="2250" b="1"/>
          </a:p>
        </p:txBody>
      </p:sp>
      <p:sp>
        <p:nvSpPr>
          <p:cNvPr id="4" name="Background page monitoring Local Gemma task matching Au"/>
          <p:cNvSpPr txBox="1"/>
          <p:nvPr/>
        </p:nvSpPr>
        <p:spPr>
          <a:xfrm>
            <a:off x="609600" y="2657475"/>
            <a:ext cx="5257800" cy="1257300"/>
          </a:xfrm>
          <a:prstGeom prst="rect">
            <a:avLst/>
          </a:prstGeom>
          <a:noFill/>
          <a:ln>
            <a:noFill/>
          </a:ln>
        </p:spPr>
        <p:txBody>
          <a:bodyPr wrap="square" lIns="0" tIns="0" rIns="0" bIns="0" anchor="t"/>
          <a:lstStyle/>
          <a:p>
            <a:pPr algn="l">
              <a:lnSpc>
                <a:spcPct val="110000"/>
              </a:lnSpc>
            </a:pPr>
            <a:r>
              <a:rPr lang="en-GB" sz="1950" b="0">
                <a:solidFill>
                  <a:srgbClr val="201D1D"/>
                </a:solidFill>
                <a:latin typeface="Segoe UI"/>
                <a:ea typeface="Segoe UI"/>
                <a:cs typeface="Segoe UI"/>
              </a:rPr>
              <a:t xml:space="preserve">Background page monitoring</a:t>
            </a:r>
            <a:endParaRPr lang="en-GB" sz="1950" b="0"/>
          </a:p>
          <a:p>
            <a:pPr algn="l">
              <a:lnSpc>
                <a:spcPct val="110000"/>
              </a:lnSpc>
            </a:pPr>
            <a:r>
              <a:rPr lang="en-GB" sz="1950" b="0">
                <a:solidFill>
                  <a:srgbClr val="201D1D"/>
                </a:solidFill>
                <a:latin typeface="Segoe UI"/>
                <a:ea typeface="Segoe UI"/>
                <a:cs typeface="Segoe UI"/>
              </a:rPr>
              <a:t xml:space="preserve">Local Gemma task matching</a:t>
            </a:r>
            <a:endParaRPr lang="en-GB" sz="1950" b="0"/>
          </a:p>
          <a:p>
            <a:pPr algn="l">
              <a:lnSpc>
                <a:spcPct val="110000"/>
              </a:lnSpc>
            </a:pPr>
            <a:r>
              <a:rPr lang="en-GB" sz="1950" b="0">
                <a:solidFill>
                  <a:srgbClr val="201D1D"/>
                </a:solidFill>
                <a:latin typeface="Segoe UI"/>
                <a:ea typeface="Segoe UI"/>
                <a:cs typeface="Segoe UI"/>
              </a:rPr>
              <a:t xml:space="preserve">Automatic enabled verification</a:t>
            </a:r>
            <a:endParaRPr lang="en-GB" sz="1950" b="0"/>
          </a:p>
        </p:txBody>
      </p:sp>
      <p:sp>
        <p:nvSpPr>
          <p:cNvPr id="5" name="Next tests"/>
          <p:cNvSpPr txBox="1"/>
          <p:nvPr/>
        </p:nvSpPr>
        <p:spPr>
          <a:xfrm>
            <a:off x="609600" y="4238625"/>
            <a:ext cx="5257800" cy="457200"/>
          </a:xfrm>
          <a:prstGeom prst="rect">
            <a:avLst/>
          </a:prstGeom>
          <a:noFill/>
          <a:ln>
            <a:noFill/>
          </a:ln>
        </p:spPr>
        <p:txBody>
          <a:bodyPr wrap="square" lIns="0" tIns="0" rIns="0" bIns="0" anchor="t"/>
          <a:lstStyle/>
          <a:p>
            <a:pPr algn="l">
              <a:lnSpc>
                <a:spcPct val="110000"/>
              </a:lnSpc>
            </a:pPr>
            <a:r>
              <a:rPr lang="en-GB" sz="2250" b="1">
                <a:solidFill>
                  <a:srgbClr val="201D1D"/>
                </a:solidFill>
                <a:latin typeface="Segoe UI"/>
                <a:ea typeface="Segoe UI"/>
                <a:cs typeface="Segoe UI"/>
              </a:rPr>
              <a:t xml:space="preserve">Next tests</a:t>
            </a:r>
            <a:endParaRPr lang="en-GB" sz="2250" b="1"/>
          </a:p>
        </p:txBody>
      </p:sp>
      <p:sp>
        <p:nvSpPr>
          <p:cNvPr id="6" name="Real university and WhatsApp flows Speed and memory on "/>
          <p:cNvSpPr txBox="1"/>
          <p:nvPr/>
        </p:nvSpPr>
        <p:spPr>
          <a:xfrm>
            <a:off x="609600" y="4838700"/>
            <a:ext cx="5257800" cy="1285875"/>
          </a:xfrm>
          <a:prstGeom prst="rect">
            <a:avLst/>
          </a:prstGeom>
          <a:noFill/>
          <a:ln>
            <a:noFill/>
          </a:ln>
        </p:spPr>
        <p:txBody>
          <a:bodyPr wrap="square" lIns="0" tIns="0" rIns="0" bIns="0" anchor="t"/>
          <a:lstStyle/>
          <a:p>
            <a:pPr algn="l">
              <a:lnSpc>
                <a:spcPct val="110000"/>
              </a:lnSpc>
            </a:pPr>
            <a:r>
              <a:rPr lang="en-GB" sz="1950" b="0">
                <a:solidFill>
                  <a:srgbClr val="201D1D"/>
                </a:solidFill>
                <a:latin typeface="Segoe UI"/>
                <a:ea typeface="Segoe UI"/>
                <a:cs typeface="Segoe UI"/>
              </a:rPr>
              <a:t xml:space="preserve">Real university and WhatsApp flows</a:t>
            </a:r>
            <a:endParaRPr lang="en-GB" sz="1950" b="0"/>
          </a:p>
          <a:p>
            <a:pPr algn="l">
              <a:lnSpc>
                <a:spcPct val="110000"/>
              </a:lnSpc>
            </a:pPr>
            <a:r>
              <a:rPr lang="en-GB" sz="1950" b="0">
                <a:solidFill>
                  <a:srgbClr val="201D1D"/>
                </a:solidFill>
                <a:latin typeface="Segoe UI"/>
                <a:ea typeface="Segoe UI"/>
                <a:cs typeface="Segoe UI"/>
              </a:rPr>
              <a:t xml:space="preserve">Speed and memory on my laptop</a:t>
            </a:r>
            <a:endParaRPr lang="en-GB" sz="1950" b="0"/>
          </a:p>
          <a:p>
            <a:pPr algn="l">
              <a:lnSpc>
                <a:spcPct val="110000"/>
              </a:lnSpc>
            </a:pPr>
            <a:r>
              <a:rPr lang="en-GB" sz="1950" b="0">
                <a:solidFill>
                  <a:srgbClr val="201D1D"/>
                </a:solidFill>
                <a:latin typeface="Segoe UI"/>
                <a:ea typeface="Segoe UI"/>
                <a:cs typeface="Segoe UI"/>
              </a:rPr>
              <a:t xml:space="preserve">Remaining end-to-end QA issues</a:t>
            </a:r>
            <a:endParaRPr lang="en-GB" sz="1950" b="0"/>
          </a:p>
        </p:txBody>
      </p:sp>
      <p:pic>
        <p:nvPicPr>
          <p:cNvPr id="7" name="Kopi illustration" descr="Kopi visual asset: assets/08-next.png"/>
          <p:cNvPicPr>
            <a:picLocks noChangeAspect="1"/>
          </p:cNvPicPr>
          <p:nvPr/>
        </p:nvPicPr>
        <p:blipFill>
          <a:blip r:embed="rId3"/>
          <a:stretch>
            <a:fillRect/>
          </a:stretch>
        </p:blipFill>
        <p:spPr>
          <a:xfrm>
            <a:off x="6315075" y="2190750"/>
            <a:ext cx="5181600" cy="3886200"/>
          </a:xfrm>
          <a:prstGeom prst="rect">
            <a:avLst/>
          </a:prstGeom>
        </p:spPr>
      </p:pic>
      <p:sp>
        <p:nvSpPr>
          <p:cNvPr id="8" name="github.com/MLouchini/Kopi"/>
          <p:cNvSpPr txBox="1"/>
          <p:nvPr/>
        </p:nvSpPr>
        <p:spPr>
          <a:xfrm>
            <a:off x="609600" y="6324600"/>
            <a:ext cx="10972800" cy="314325"/>
          </a:xfrm>
          <a:prstGeom prst="rect">
            <a:avLst/>
          </a:prstGeom>
          <a:noFill/>
          <a:ln>
            <a:noFill/>
          </a:ln>
        </p:spPr>
        <p:txBody>
          <a:bodyPr wrap="square" lIns="0" tIns="0" rIns="0" bIns="0" anchor="t"/>
          <a:lstStyle/>
          <a:p>
            <a:pPr algn="l">
              <a:lnSpc>
                <a:spcPct val="110000"/>
              </a:lnSpc>
            </a:pPr>
            <a:r>
              <a:rPr lang="en-GB" sz="1575" b="1">
                <a:solidFill>
                  <a:srgbClr val="FF7A1A"/>
                </a:solidFill>
                <a:latin typeface="Segoe UI"/>
                <a:ea typeface="Segoe UI"/>
                <a:cs typeface="Segoe UI"/>
              </a:rPr>
              <a:t xml:space="preserve">github.com/MLouchini/Kopi</a:t>
            </a:r>
            <a:endParaRPr lang="en-GB" sz="1575" b="1"/>
          </a:p>
        </p:txBody>
      </p:sp>
    </p:spTree>
  </p:cSld>
  <p:clrMapOvr>
    <a:masterClrMapping/>
  </p:clrMapOvr>
</p:sld>
</file>

<file path=ppt/theme/theme1.xml><?xml version="1.0" encoding="utf-8"?>
<a:theme xmlns:a="http://schemas.openxmlformats.org/drawingml/2006/main" name="Kopi">
  <a:themeElements>
    <a:clrScheme name="Kopi">
      <a:dk1>
        <a:srgbClr val="201D1D"/>
      </a:dk1>
      <a:lt1>
        <a:srgbClr val="FFFEFA"/>
      </a:lt1>
      <a:dk2>
        <a:srgbClr val="776B62"/>
      </a:dk2>
      <a:lt2>
        <a:srgbClr val="FFDDBE"/>
      </a:lt2>
      <a:accent1>
        <a:srgbClr val="FF7A1A"/>
      </a:accent1>
      <a:accent2>
        <a:srgbClr val="FFDDBE"/>
      </a:accent2>
      <a:accent3>
        <a:srgbClr val="201D1D"/>
      </a:accent3>
      <a:accent4>
        <a:srgbClr val="BD6933"/>
      </a:accent4>
      <a:accent5>
        <a:srgbClr val="F4EDE5"/>
      </a:accent5>
      <a:accent6>
        <a:srgbClr val="776B62"/>
      </a:accent6>
      <a:hlink>
        <a:srgbClr val="B24E00"/>
      </a:hlink>
      <a:folHlink>
        <a:srgbClr val="776B62"/>
      </a:folHlink>
    </a:clrScheme>
    <a:fontScheme name="Kopi">
      <a:majorFont>
        <a:latin typeface="Segoe UI"/>
        <a:ea typeface=""/>
        <a:cs typeface=""/>
      </a:majorFont>
      <a:minorFont>
        <a:latin typeface="Segoe UI"/>
        <a:ea typeface=""/>
        <a:cs typeface=""/>
      </a:minorFont>
    </a:fontScheme>
    <a:fmtScheme name="Kopi">
      <a:fillStyleLst>
        <a:solidFill>
          <a:srgbClr val="FFFEFA"/>
        </a:solidFill>
        <a:solidFill>
          <a:srgbClr val="FF7A1A"/>
        </a:solidFill>
        <a:solidFill>
          <a:srgbClr val="FFDDBE"/>
        </a:solidFill>
      </a:fillStyleLst>
      <a:lnStyleLst>
        <a:ln w="9525">
          <a:solidFill>
            <a:srgbClr val="201D1D"/>
          </a:solidFill>
          <a:prstDash val="solid"/>
        </a:ln>
        <a:ln w="19050">
          <a:solidFill>
            <a:srgbClr val="201D1D"/>
          </a:solidFill>
          <a:prstDash val="solid"/>
        </a:ln>
        <a:ln w="28575">
          <a:solidFill>
            <a:srgbClr val="201D1D"/>
          </a:solidFill>
          <a:prstDash val="solid"/>
        </a:ln>
      </a:lnStyleLst>
      <a:effectStyleLst>
        <a:effectStyle>
          <a:effectLst/>
        </a:effectStyle>
        <a:effectStyle>
          <a:effectLst/>
        </a:effectStyle>
        <a:effectStyle>
          <a:effectLst/>
        </a:effectStyle>
      </a:effectStyleLst>
      <a:bgFillStyleLst>
        <a:solidFill>
          <a:srgbClr val="FFFEFA"/>
        </a:solidFill>
        <a:solidFill>
          <a:srgbClr val="FFFEFA"/>
        </a:solidFill>
        <a:solidFill>
          <a:srgbClr val="FFFEFA"/>
        </a:solidFill>
      </a:bgFillStyleLst>
    </a:fmtScheme>
  </a:themeElements>
</a:theme>
</file>

<file path=docProps/app.xml><?xml version="1.0" encoding="utf-8"?>
<Properties xmlns="http://schemas.openxmlformats.org/officeDocument/2006/extended-properties">
  <Application>Kopi</Application>
  <PresentationFormat>On-screen Show (16:9)</PresentationFormat>
  <Slides>8</Slides>
  <Notes>8</Notes>
</Properties>
</file>

<file path=docProps/core.xml><?xml version="1.0" encoding="utf-8"?>
<cp:coreProperties xmlns:cp="http://schemas.openxmlformats.org/package/2006/metadata/core-properties" xmlns:dc="http://purl.org/dc/elements/1.1/">
  <dc:title>Kopi — Hackathon Pitch</dc:title>
  <dc:creator>Kopi</dc:creator>
  <dc:subject>Local AI browser workflow learner</dc:subject>
</cp:coreProperties>
</file>
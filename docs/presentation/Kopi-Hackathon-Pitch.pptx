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Lst>
  <p:sldSz cx="12192000" cy="6858000" type="screen16x9"/>
  <p:notesSz cx="6858000" cy="9144000"/>
  <p:defaultTextStyle>
    <a:defPPr>
      <a:defRPr lang="en-GB">
        <a:latin typeface="Segoe UI"/>
      </a:defRPr>
    </a:defPPr>
  </p:defaultTextStyle>
</p:presentation>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00:00–00:15 / 15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Kopi is a local AI assistant that learns a supported browser task from a demonstration. The idea started with something I kept doing myself: logging into university and going through verification every day.</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Origin story supplied by the user in this chat.</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https://github.com/MLouchini/Kopi/blob/main/README.md</a:t>
            </a:r>
            <a:endParaRPr lang="en-GB" sz="1200" b="0"/>
          </a:p>
          <a:p>
            <a:pPr algn="l">
              <a:lnSpc>
                <a:spcPct val="110000"/>
              </a:lnSpc>
            </a:pPr>
            <a:r>
              <a:rPr lang="en-GB" sz="1200" b="0">
                <a:solidFill>
                  <a:srgbClr val="201D1D"/>
                </a:solidFill>
                <a:latin typeface="Segoe UI"/>
                <a:ea typeface="Segoe UI"/>
                <a:cs typeface="Segoe UI"/>
              </a:rPr>
              <a:t xml:space="preserve">Brand assets: site/assets. Palette: site/style.css.</a:t>
            </a:r>
            <a:endParaRPr lang="en-GB" sz="1200" b="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00:15–00:55 / 40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Every day I log into my university account, and every day I have to verify again. That means requesting a code, finding it in the right conversation, going back to the university page and entering it. The verification protects the account, but manually moving through the same browser steps is repetitive. That repeated routine gave me a concrete problem to build around. I wanted to reduce the manual steps while keeping the verification itself.</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Personal motivation supplied by the user in this chat.</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https://github.com/MLouchini/Kopi/blob/main/HANDOFF.md</a:t>
            </a:r>
            <a:endParaRPr lang="en-GB" sz="1200" b="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00:55–01:35 / 40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My first thought was to automate that login routine. But a script written for one university page would only solve that one case. The more useful idea was to let the user show a task, then use AI to understand which steps stay the same and which information changes. The login was the starting point. Kopi became a way to teach other supported browser routines through a demonstration.</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User-provided motivation.</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https://github.com/MLouchini/Kopi/blob/main/README.md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https://github.com/MLouchini/Kopi/blob/main/src/Kopi.Core/Intelligence.cs</a:t>
            </a:r>
            <a:endParaRPr lang="en-GB" sz="1200" b="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01:35–02:15 / 40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I start recording and complete a browser task. The extension captures selected actions and bounded page evidence. Gemma uses that demonstration to propose a workflow, identify changing inputs and ask about missing details. I review the proposal, answer questions and save it. Kopi can then use the saved workflow on a supported new page or challenge with fresh inputs. Normal workflows ask for run approval. For the supported fresh-code workflow, I can explicitly enable automatic execution once. A demonstration starts the process, but review is still part of it.</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https://github.com/MLouchini/Kopi/blob/main/HANDOFF.md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https://github.com/MLouchini/Kopi/blob/main/docs/verification-workflows.md</a:t>
            </a:r>
            <a:endParaRPr lang="en-GB" sz="1200" b="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02:15–02:55 / 40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This is the workflow I want Kopi to take over after I teach and enable it. A new university challenge requests a new code. Kopi looks in the demonstrated messaging conversation for a new matching message, transfers the code, submits it and checks for a separate success state. The code changes each time, so copying the old demonstrated value would be wrong. The implementation therefore checks freshness, source identity and destination identity, and stops if the new message is stale, missing or ambiguous. The browser tests exercise this flow on test pages. Real WhatsApp and university accounts still need validation.</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https://github.com/MLouchini/Kopi/blob/main/extension/fresh.js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https://github.com/MLouchini/Kopi/blob/main/src/Kopi.Core/FreshCompiler.cs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https://github.com/MLouchini/Kopi/blob/main/HANDOFF.md</a:t>
            </a:r>
            <a:endParaRPr lang="en-GB" sz="1200" b="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02:55–03:45 / 50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The problem shaped the architecture. First, I was already signed into my normal browser. Using an extension lets Kopi work there without another profile or another login. Second, browser evidence can contain personal information, so Gemma runs locally through llama.cpp rather than sending that evidence to cloud inference. Third, an AI proposal can be wrong. Kopi uses a reviewed workflow and fixed actions, with observed targets and checks around identity, freshness and success. The model interprets the task, while the execution code controls what can actually happen. Verification values stay transient in the extension and destination page.</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https://github.com/MLouchini/Kopi/blob/main/docs/architecture.md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https://github.com/MLouchini/Kopi/blob/main/docs/privacy.md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https://github.com/MLouchini/Kopi/blob/main/src/Kopi.Core/FreshCompiler.cs</a:t>
            </a:r>
            <a:endParaRPr lang="en-GB" sz="1200" b="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03:45–04:30 / 45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The browser extension is JavaScript and handles recording plus browser actions. The desktop is C# with .NET 10 and WPF. An authenticated Kestrel loopback bridge connects it to the extension. The open-weight model is Google Gemma 4 E2B IT QAT Q4_0, running locally with llama.cpp on the CPU. It is an important part of the product: it interprets a demonstration, extracts changing values, resolves questions and matches task context. My application code supplies the recorder, prompts and workflow contracts, the compiler that binds observed controls, the fresh-code coordinator and the model runtime manager. Model weights and llama.cpp are upstream dependencies. This product uses local inference, not the Gemini API.</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https://github.com/MLouchini/Kopi/blob/main/model-manifest.json</a:t>
            </a:r>
            <a:endParaRPr lang="en-GB" sz="1200" b="0"/>
          </a:p>
          <a:p>
            <a:pPr algn="l">
              <a:lnSpc>
                <a:spcPct val="110000"/>
              </a:lnSpc>
            </a:pPr>
            <a:r>
              <a:rPr lang="en-GB" sz="1200" b="0">
                <a:solidFill>
                  <a:srgbClr val="201D1D"/>
                </a:solidFill>
                <a:latin typeface="Segoe UI"/>
                <a:ea typeface="Segoe UI"/>
                <a:cs typeface="Segoe UI"/>
              </a:rPr>
              <a:t xml:space="preserve">https://huggingface.co/google/gemma-4-E2B-it-qat-q4_0-gguf</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https://github.com/MLouchini/Kopi/blob/main/src/Kopi.Core/Intelligence.cs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https://github.com/MLouchini/Kopi/blob/main/src/Kopi.Core/ModelRuntime.cs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https://github.com/MLouchini/Kopi/blob/main/src/Kopi.Core/FreshCompiler.cs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https://github.com/MLouchini/Kopi/blob/main/docs/architecture.md</a:t>
            </a:r>
            <a:endParaRPr lang="en-GB" sz="1200" b="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04:30–05:00 / 30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The current implementation includes task recording, workflow review, local Gemma learning and saved workflow execution for supported actions. Fresh-code checks have browser-fixture coverage. That gives the idea a concrete implementation, but it does not establish real WhatsApp or university compatibility. The next steps are a complete acceptance run on those live accounts and the actual laptop, plus fixing the expanded saved-rule model QA failure. The original goal stays simple: spend less effort manually repeating a browser routine I already know. The repository contains the implementation and its tests. No time-saving or adoption metrics have been measured.</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https://github.com/MLouchini/Kopi/blob/main/HANDOFF.md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https://github.com/MLouchini/Kopi/blob/main/docs/qa.md</a:t>
            </a:r>
            <a:endParaRPr lang="en-GB" sz="1200" b="0"/>
          </a:p>
          <a:p>
            <a:pPr algn="l">
              <a:lnSpc>
                <a:spcPct val="110000"/>
              </a:lnSpc>
            </a:pPr>
            <a:r>
              <a:rPr lang="en-GB" sz="1200" b="0">
                <a:solidFill>
                  <a:srgbClr val="201D1D"/>
                </a:solidFill>
                <a:latin typeface="Segoe UI"/>
                <a:ea typeface="Segoe UI"/>
                <a:cs typeface="Segoe UI"/>
              </a:rPr>
              <a:t xml:space="preserve">https://github.com/MLouchini/Kopi/actions/runs/40097950425</a:t>
            </a:r>
            <a:endParaRPr lang="en-GB" sz="1200" b="0"/>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1"/>
  </p:sldLayoutIdLst>
  <p:txStyles>
    <p:titleStyle/>
    <p:bodyStyle/>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kopi-wordmark.png"/><Relationship Id="rId4" Type="http://schemas.openxmlformats.org/officeDocument/2006/relationships/image" Target="../media/kopi-logo.png"/></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show="1">
  <p:cSld name="Kopi">
    <p:bg>
      <p:bgPr>
        <a:solidFill>
          <a:srgbClr val="FFFEFA"/>
        </a:solidFill>
        <a:effectLst/>
      </p:bgPr>
    </p:bg>
    <p:spTree>
      <p:nvGrpSpPr>
        <p:cNvPr id="1" name=""/>
        <p:cNvGrpSpPr/>
        <p:nvPr/>
      </p:nvGrpSpPr>
      <p:grpSpPr>
        <a:xfrm>
          <a:off x="0" y="0"/>
          <a:ext cx="0" cy="0"/>
          <a:chOff x="0" y="0"/>
          <a:chExt cx="0" cy="0"/>
        </a:xfrm>
      </p:grpSpPr>
      <p:pic>
        <p:nvPicPr>
          <p:cNvPr id="2" name="Kopi brand artwork" descr="Original Kopi brand asset: kopi-wordmark.png"/>
          <p:cNvPicPr>
            <a:picLocks noChangeAspect="1"/>
          </p:cNvPicPr>
          <p:nvPr/>
        </p:nvPicPr>
        <p:blipFill>
          <a:blip r:embed="rId3"/>
          <a:stretch>
            <a:fillRect/>
          </a:stretch>
        </p:blipFill>
        <p:spPr>
          <a:xfrm>
            <a:off x="457200" y="1466850"/>
            <a:ext cx="6096000" cy="2286000"/>
          </a:xfrm>
          <a:prstGeom prst="rect">
            <a:avLst/>
          </a:prstGeom>
        </p:spPr>
      </p:pic>
      <p:sp>
        <p:nvSpPr>
          <p:cNvPr id="3" name="A local AI assistant that learns browser tasks from a d"/>
          <p:cNvSpPr txBox="1"/>
          <p:nvPr/>
        </p:nvSpPr>
        <p:spPr>
          <a:xfrm>
            <a:off x="685800" y="4324350"/>
            <a:ext cx="6572250" cy="1257300"/>
          </a:xfrm>
          <a:prstGeom prst="rect">
            <a:avLst/>
          </a:prstGeom>
          <a:noFill/>
          <a:ln>
            <a:noFill/>
          </a:ln>
        </p:spPr>
        <p:txBody>
          <a:bodyPr wrap="square" lIns="0" tIns="0" rIns="0" bIns="0" anchor="t"/>
          <a:lstStyle/>
          <a:p>
            <a:pPr algn="l">
              <a:lnSpc>
                <a:spcPct val="110000"/>
              </a:lnSpc>
            </a:pPr>
            <a:r>
              <a:rPr lang="en-GB" sz="2550" b="0">
                <a:solidFill>
                  <a:srgbClr val="201D1D"/>
                </a:solidFill>
                <a:latin typeface="Segoe UI"/>
                <a:ea typeface="Segoe UI"/>
                <a:cs typeface="Segoe UI"/>
              </a:rPr>
              <a:t xml:space="preserve">A local AI assistant that learns</a:t>
            </a:r>
            <a:endParaRPr lang="en-GB" sz="2550" b="0"/>
          </a:p>
          <a:p>
            <a:pPr algn="l">
              <a:lnSpc>
                <a:spcPct val="110000"/>
              </a:lnSpc>
            </a:pPr>
            <a:r>
              <a:rPr lang="en-GB" sz="2550" b="0">
                <a:solidFill>
                  <a:srgbClr val="201D1D"/>
                </a:solidFill>
                <a:latin typeface="Segoe UI"/>
                <a:ea typeface="Segoe UI"/>
                <a:cs typeface="Segoe UI"/>
              </a:rPr>
              <a:t xml:space="preserve">browser tasks from a demonstration</a:t>
            </a:r>
            <a:endParaRPr lang="en-GB" sz="2550" b="0"/>
          </a:p>
        </p:txBody>
      </p:sp>
      <p:pic>
        <p:nvPicPr>
          <p:cNvPr id="4" name="Kopi brand artwork" descr="Original Kopi brand asset: kopi-logo.png"/>
          <p:cNvPicPr>
            <a:picLocks noChangeAspect="1"/>
          </p:cNvPicPr>
          <p:nvPr/>
        </p:nvPicPr>
        <p:blipFill>
          <a:blip r:embed="rId4"/>
          <a:stretch>
            <a:fillRect/>
          </a:stretch>
        </p:blipFill>
        <p:spPr>
          <a:xfrm>
            <a:off x="7334250" y="1600200"/>
            <a:ext cx="4191000" cy="4191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1">
  <p:cSld name="The problem">
    <p:bg>
      <p:bgPr>
        <a:solidFill>
          <a:srgbClr val="FFFEFA"/>
        </a:solidFill>
        <a:effectLst/>
      </p:bgPr>
    </p:bg>
    <p:spTree>
      <p:nvGrpSpPr>
        <p:cNvPr id="1" name=""/>
        <p:cNvGrpSpPr/>
        <p:nvPr/>
      </p:nvGrpSpPr>
      <p:grpSpPr>
        <a:xfrm>
          <a:off x="0" y="0"/>
          <a:ext cx="0" cy="0"/>
          <a:chOff x="0" y="0"/>
          <a:chExt cx="0" cy="0"/>
        </a:xfrm>
      </p:grpSpPr>
      <p:sp>
        <p:nvSpPr>
          <p:cNvPr id="2" name="The problem"/>
          <p:cNvSpPr txBox="1"/>
          <p:nvPr/>
        </p:nvSpPr>
        <p:spPr>
          <a:xfrm>
            <a:off x="609600" y="619125"/>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The problem</a:t>
            </a:r>
            <a:endParaRPr lang="en-GB" sz="3600" b="1"/>
          </a:p>
        </p:txBody>
      </p:sp>
      <p:sp>
        <p:nvSpPr>
          <p:cNvPr id="3" name="Every day, I log into university. Every day, I have to "/>
          <p:cNvSpPr txBox="1"/>
          <p:nvPr/>
        </p:nvSpPr>
        <p:spPr>
          <a:xfrm>
            <a:off x="609600" y="2200275"/>
            <a:ext cx="10972800" cy="1362075"/>
          </a:xfrm>
          <a:prstGeom prst="rect">
            <a:avLst/>
          </a:prstGeom>
          <a:noFill/>
          <a:ln>
            <a:noFill/>
          </a:ln>
        </p:spPr>
        <p:txBody>
          <a:bodyPr wrap="square" lIns="0" tIns="0" rIns="0" bIns="0" anchor="t"/>
          <a:lstStyle/>
          <a:p>
            <a:pPr algn="l">
              <a:lnSpc>
                <a:spcPct val="110000"/>
              </a:lnSpc>
            </a:pPr>
            <a:r>
              <a:rPr lang="en-GB" sz="3375" b="1">
                <a:solidFill>
                  <a:srgbClr val="201D1D"/>
                </a:solidFill>
                <a:latin typeface="Segoe UI"/>
                <a:ea typeface="Segoe UI"/>
                <a:cs typeface="Segoe UI"/>
              </a:rPr>
              <a:t xml:space="preserve">Every day, I log into university.</a:t>
            </a:r>
            <a:endParaRPr lang="en-GB" sz="3375" b="1"/>
          </a:p>
          <a:p>
            <a:pPr algn="l">
              <a:lnSpc>
                <a:spcPct val="110000"/>
              </a:lnSpc>
            </a:pPr>
            <a:r>
              <a:rPr lang="en-GB" sz="3375" b="1">
                <a:solidFill>
                  <a:srgbClr val="201D1D"/>
                </a:solidFill>
                <a:latin typeface="Segoe UI"/>
                <a:ea typeface="Segoe UI"/>
                <a:cs typeface="Segoe UI"/>
              </a:rPr>
              <a:t xml:space="preserve">Every day, I have to verify again.</a:t>
            </a:r>
            <a:endParaRPr lang="en-GB" sz="3375" b="1"/>
          </a:p>
        </p:txBody>
      </p:sp>
      <p:sp>
        <p:nvSpPr>
          <p:cNvPr id="4" name="Shape 4"/>
          <p:cNvSpPr/>
          <p:nvPr/>
        </p:nvSpPr>
        <p:spPr>
          <a:xfrm>
            <a:off x="609600" y="4343400"/>
            <a:ext cx="3333750" cy="12382"/>
          </a:xfrm>
          <a:prstGeom prst="rect">
            <a:avLst/>
          </a:prstGeom>
          <a:solidFill>
            <a:srgbClr val="E7DDD3"/>
          </a:solidFill>
          <a:ln w="9525">
            <a:noFill/>
          </a:ln>
        </p:spPr>
      </p:sp>
      <p:sp>
        <p:nvSpPr>
          <p:cNvPr id="5" name="01"/>
          <p:cNvSpPr txBox="1"/>
          <p:nvPr/>
        </p:nvSpPr>
        <p:spPr>
          <a:xfrm>
            <a:off x="609600" y="4619625"/>
            <a:ext cx="3333750" cy="619125"/>
          </a:xfrm>
          <a:prstGeom prst="rect">
            <a:avLst/>
          </a:prstGeom>
          <a:noFill/>
          <a:ln>
            <a:noFill/>
          </a:ln>
        </p:spPr>
        <p:txBody>
          <a:bodyPr wrap="square" lIns="0" tIns="0" rIns="0" bIns="0" anchor="t"/>
          <a:lstStyle/>
          <a:p>
            <a:pPr algn="l">
              <a:lnSpc>
                <a:spcPct val="110000"/>
              </a:lnSpc>
            </a:pPr>
            <a:r>
              <a:rPr lang="en-GB" sz="3600" b="0">
                <a:solidFill>
                  <a:srgbClr val="FF7A1A"/>
                </a:solidFill>
                <a:latin typeface="Segoe UI"/>
                <a:ea typeface="Segoe UI"/>
                <a:cs typeface="Segoe UI"/>
              </a:rPr>
              <a:t xml:space="preserve">01</a:t>
            </a:r>
            <a:endParaRPr lang="en-GB" sz="3600" b="0"/>
          </a:p>
        </p:txBody>
      </p:sp>
      <p:sp>
        <p:nvSpPr>
          <p:cNvPr id="6" name="Request a code"/>
          <p:cNvSpPr txBox="1"/>
          <p:nvPr/>
        </p:nvSpPr>
        <p:spPr>
          <a:xfrm>
            <a:off x="609600" y="5467350"/>
            <a:ext cx="3333750" cy="571500"/>
          </a:xfrm>
          <a:prstGeom prst="rect">
            <a:avLst/>
          </a:prstGeom>
          <a:noFill/>
          <a:ln>
            <a:noFill/>
          </a:ln>
        </p:spPr>
        <p:txBody>
          <a:bodyPr wrap="square" lIns="0" tIns="0" rIns="0" bIns="0" anchor="t"/>
          <a:lstStyle/>
          <a:p>
            <a:pPr algn="l">
              <a:lnSpc>
                <a:spcPct val="110000"/>
              </a:lnSpc>
            </a:pPr>
            <a:r>
              <a:rPr lang="en-GB" sz="2175" b="1">
                <a:solidFill>
                  <a:srgbClr val="201D1D"/>
                </a:solidFill>
                <a:latin typeface="Segoe UI"/>
                <a:ea typeface="Segoe UI"/>
                <a:cs typeface="Segoe UI"/>
              </a:rPr>
              <a:t xml:space="preserve">Request a code</a:t>
            </a:r>
            <a:endParaRPr lang="en-GB" sz="2175" b="1"/>
          </a:p>
        </p:txBody>
      </p:sp>
      <p:sp>
        <p:nvSpPr>
          <p:cNvPr id="7" name="Shape 7"/>
          <p:cNvSpPr/>
          <p:nvPr/>
        </p:nvSpPr>
        <p:spPr>
          <a:xfrm>
            <a:off x="4391025" y="4343400"/>
            <a:ext cx="3333750" cy="12382"/>
          </a:xfrm>
          <a:prstGeom prst="rect">
            <a:avLst/>
          </a:prstGeom>
          <a:solidFill>
            <a:srgbClr val="E7DDD3"/>
          </a:solidFill>
          <a:ln w="9525">
            <a:noFill/>
          </a:ln>
        </p:spPr>
      </p:sp>
      <p:sp>
        <p:nvSpPr>
          <p:cNvPr id="8" name="02"/>
          <p:cNvSpPr txBox="1"/>
          <p:nvPr/>
        </p:nvSpPr>
        <p:spPr>
          <a:xfrm>
            <a:off x="4391025" y="4619625"/>
            <a:ext cx="3333750" cy="619125"/>
          </a:xfrm>
          <a:prstGeom prst="rect">
            <a:avLst/>
          </a:prstGeom>
          <a:noFill/>
          <a:ln>
            <a:noFill/>
          </a:ln>
        </p:spPr>
        <p:txBody>
          <a:bodyPr wrap="square" lIns="0" tIns="0" rIns="0" bIns="0" anchor="t"/>
          <a:lstStyle/>
          <a:p>
            <a:pPr algn="l">
              <a:lnSpc>
                <a:spcPct val="110000"/>
              </a:lnSpc>
            </a:pPr>
            <a:r>
              <a:rPr lang="en-GB" sz="3600" b="0">
                <a:solidFill>
                  <a:srgbClr val="FF7A1A"/>
                </a:solidFill>
                <a:latin typeface="Segoe UI"/>
                <a:ea typeface="Segoe UI"/>
                <a:cs typeface="Segoe UI"/>
              </a:rPr>
              <a:t xml:space="preserve">02</a:t>
            </a:r>
            <a:endParaRPr lang="en-GB" sz="3600" b="0"/>
          </a:p>
        </p:txBody>
      </p:sp>
      <p:sp>
        <p:nvSpPr>
          <p:cNvPr id="9" name="Find the message"/>
          <p:cNvSpPr txBox="1"/>
          <p:nvPr/>
        </p:nvSpPr>
        <p:spPr>
          <a:xfrm>
            <a:off x="4391025" y="5467350"/>
            <a:ext cx="3333750" cy="571500"/>
          </a:xfrm>
          <a:prstGeom prst="rect">
            <a:avLst/>
          </a:prstGeom>
          <a:noFill/>
          <a:ln>
            <a:noFill/>
          </a:ln>
        </p:spPr>
        <p:txBody>
          <a:bodyPr wrap="square" lIns="0" tIns="0" rIns="0" bIns="0" anchor="t"/>
          <a:lstStyle/>
          <a:p>
            <a:pPr algn="l">
              <a:lnSpc>
                <a:spcPct val="110000"/>
              </a:lnSpc>
            </a:pPr>
            <a:r>
              <a:rPr lang="en-GB" sz="2175" b="1">
                <a:solidFill>
                  <a:srgbClr val="201D1D"/>
                </a:solidFill>
                <a:latin typeface="Segoe UI"/>
                <a:ea typeface="Segoe UI"/>
                <a:cs typeface="Segoe UI"/>
              </a:rPr>
              <a:t xml:space="preserve">Find the message</a:t>
            </a:r>
            <a:endParaRPr lang="en-GB" sz="2175" b="1"/>
          </a:p>
        </p:txBody>
      </p:sp>
      <p:sp>
        <p:nvSpPr>
          <p:cNvPr id="10" name="Shape 10"/>
          <p:cNvSpPr/>
          <p:nvPr/>
        </p:nvSpPr>
        <p:spPr>
          <a:xfrm>
            <a:off x="8172450" y="4343400"/>
            <a:ext cx="3333750" cy="12382"/>
          </a:xfrm>
          <a:prstGeom prst="rect">
            <a:avLst/>
          </a:prstGeom>
          <a:solidFill>
            <a:srgbClr val="E7DDD3"/>
          </a:solidFill>
          <a:ln w="9525">
            <a:noFill/>
          </a:ln>
        </p:spPr>
      </p:sp>
      <p:sp>
        <p:nvSpPr>
          <p:cNvPr id="11" name="03"/>
          <p:cNvSpPr txBox="1"/>
          <p:nvPr/>
        </p:nvSpPr>
        <p:spPr>
          <a:xfrm>
            <a:off x="8172450" y="4619625"/>
            <a:ext cx="3333750" cy="619125"/>
          </a:xfrm>
          <a:prstGeom prst="rect">
            <a:avLst/>
          </a:prstGeom>
          <a:noFill/>
          <a:ln>
            <a:noFill/>
          </a:ln>
        </p:spPr>
        <p:txBody>
          <a:bodyPr wrap="square" lIns="0" tIns="0" rIns="0" bIns="0" anchor="t"/>
          <a:lstStyle/>
          <a:p>
            <a:pPr algn="l">
              <a:lnSpc>
                <a:spcPct val="110000"/>
              </a:lnSpc>
            </a:pPr>
            <a:r>
              <a:rPr lang="en-GB" sz="3600" b="0">
                <a:solidFill>
                  <a:srgbClr val="FF7A1A"/>
                </a:solidFill>
                <a:latin typeface="Segoe UI"/>
                <a:ea typeface="Segoe UI"/>
                <a:cs typeface="Segoe UI"/>
              </a:rPr>
              <a:t xml:space="preserve">03</a:t>
            </a:r>
            <a:endParaRPr lang="en-GB" sz="3600" b="0"/>
          </a:p>
        </p:txBody>
      </p:sp>
      <p:sp>
        <p:nvSpPr>
          <p:cNvPr id="12" name="Return and verify"/>
          <p:cNvSpPr txBox="1"/>
          <p:nvPr/>
        </p:nvSpPr>
        <p:spPr>
          <a:xfrm>
            <a:off x="8172450" y="5467350"/>
            <a:ext cx="3333750" cy="571500"/>
          </a:xfrm>
          <a:prstGeom prst="rect">
            <a:avLst/>
          </a:prstGeom>
          <a:noFill/>
          <a:ln>
            <a:noFill/>
          </a:ln>
        </p:spPr>
        <p:txBody>
          <a:bodyPr wrap="square" lIns="0" tIns="0" rIns="0" bIns="0" anchor="t"/>
          <a:lstStyle/>
          <a:p>
            <a:pPr algn="l">
              <a:lnSpc>
                <a:spcPct val="110000"/>
              </a:lnSpc>
            </a:pPr>
            <a:r>
              <a:rPr lang="en-GB" sz="2175" b="1">
                <a:solidFill>
                  <a:srgbClr val="201D1D"/>
                </a:solidFill>
                <a:latin typeface="Segoe UI"/>
                <a:ea typeface="Segoe UI"/>
                <a:cs typeface="Segoe UI"/>
              </a:rPr>
              <a:t xml:space="preserve">Return and verify</a:t>
            </a:r>
            <a:endParaRPr lang="en-GB" sz="2175" b="1"/>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1">
  <p:cSld name="The idea">
    <p:bg>
      <p:bgPr>
        <a:solidFill>
          <a:srgbClr val="FFFEFA"/>
        </a:solidFill>
        <a:effectLst/>
      </p:bgPr>
    </p:bg>
    <p:spTree>
      <p:nvGrpSpPr>
        <p:cNvPr id="1" name=""/>
        <p:cNvGrpSpPr/>
        <p:nvPr/>
      </p:nvGrpSpPr>
      <p:grpSpPr>
        <a:xfrm>
          <a:off x="0" y="0"/>
          <a:ext cx="0" cy="0"/>
          <a:chOff x="0" y="0"/>
          <a:chExt cx="0" cy="0"/>
        </a:xfrm>
      </p:grpSpPr>
      <p:sp>
        <p:nvSpPr>
          <p:cNvPr id="2" name="The idea"/>
          <p:cNvSpPr txBox="1"/>
          <p:nvPr/>
        </p:nvSpPr>
        <p:spPr>
          <a:xfrm>
            <a:off x="609600" y="619125"/>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The idea</a:t>
            </a:r>
            <a:endParaRPr lang="en-GB" sz="3600" b="1"/>
          </a:p>
        </p:txBody>
      </p:sp>
      <p:sp>
        <p:nvSpPr>
          <p:cNvPr id="3" name="Shape 3"/>
          <p:cNvSpPr/>
          <p:nvPr/>
        </p:nvSpPr>
        <p:spPr>
          <a:xfrm>
            <a:off x="609600" y="2457450"/>
            <a:ext cx="85725" cy="2181225"/>
          </a:xfrm>
          <a:prstGeom prst="rect">
            <a:avLst/>
          </a:prstGeom>
          <a:solidFill>
            <a:srgbClr val="FF7A1A"/>
          </a:solidFill>
          <a:ln w="9525">
            <a:noFill/>
          </a:ln>
        </p:spPr>
      </p:sp>
      <p:sp>
        <p:nvSpPr>
          <p:cNvPr id="4" name="What if I could show my browser a task once, and teach "/>
          <p:cNvSpPr txBox="1"/>
          <p:nvPr/>
        </p:nvSpPr>
        <p:spPr>
          <a:xfrm>
            <a:off x="971550" y="2352675"/>
            <a:ext cx="10382250" cy="2295525"/>
          </a:xfrm>
          <a:prstGeom prst="rect">
            <a:avLst/>
          </a:prstGeom>
          <a:noFill/>
          <a:ln>
            <a:noFill/>
          </a:ln>
        </p:spPr>
        <p:txBody>
          <a:bodyPr wrap="square" lIns="0" tIns="0" rIns="0" bIns="0" anchor="t"/>
          <a:lstStyle/>
          <a:p>
            <a:pPr algn="l">
              <a:lnSpc>
                <a:spcPct val="110000"/>
              </a:lnSpc>
            </a:pPr>
            <a:r>
              <a:rPr lang="en-GB" sz="3675" b="1">
                <a:solidFill>
                  <a:srgbClr val="201D1D"/>
                </a:solidFill>
                <a:latin typeface="Segoe UI"/>
                <a:ea typeface="Segoe UI"/>
                <a:cs typeface="Segoe UI"/>
              </a:rPr>
              <a:t xml:space="preserve">What if I could show my browser</a:t>
            </a:r>
            <a:endParaRPr lang="en-GB" sz="3675" b="1"/>
          </a:p>
          <a:p>
            <a:pPr algn="l">
              <a:lnSpc>
                <a:spcPct val="110000"/>
              </a:lnSpc>
            </a:pPr>
            <a:r>
              <a:rPr lang="en-GB" sz="3675" b="1">
                <a:solidFill>
                  <a:srgbClr val="201D1D"/>
                </a:solidFill>
                <a:latin typeface="Segoe UI"/>
                <a:ea typeface="Segoe UI"/>
                <a:cs typeface="Segoe UI"/>
              </a:rPr>
              <a:t xml:space="preserve">a task once, and teach it</a:t>
            </a:r>
            <a:endParaRPr lang="en-GB" sz="3675" b="1"/>
          </a:p>
          <a:p>
            <a:pPr algn="l">
              <a:lnSpc>
                <a:spcPct val="110000"/>
              </a:lnSpc>
            </a:pPr>
            <a:r>
              <a:rPr lang="en-GB" sz="3675" b="1">
                <a:solidFill>
                  <a:srgbClr val="201D1D"/>
                </a:solidFill>
                <a:latin typeface="Segoe UI"/>
                <a:ea typeface="Segoe UI"/>
                <a:cs typeface="Segoe UI"/>
              </a:rPr>
              <a:t xml:space="preserve">to repeat the routine?</a:t>
            </a:r>
            <a:endParaRPr lang="en-GB" sz="3675" b="1"/>
          </a:p>
        </p:txBody>
      </p:sp>
      <p:sp>
        <p:nvSpPr>
          <p:cNvPr id="5" name="Start with my university login. Make the same approach "/>
          <p:cNvSpPr txBox="1"/>
          <p:nvPr/>
        </p:nvSpPr>
        <p:spPr>
          <a:xfrm>
            <a:off x="971550" y="5257800"/>
            <a:ext cx="10382250" cy="1000125"/>
          </a:xfrm>
          <a:prstGeom prst="rect">
            <a:avLst/>
          </a:prstGeom>
          <a:noFill/>
          <a:ln>
            <a:noFill/>
          </a:ln>
        </p:spPr>
        <p:txBody>
          <a:bodyPr wrap="square" lIns="0" tIns="0" rIns="0" bIns="0" anchor="t"/>
          <a:lstStyle/>
          <a:p>
            <a:pPr algn="l">
              <a:lnSpc>
                <a:spcPct val="110000"/>
              </a:lnSpc>
            </a:pPr>
            <a:r>
              <a:rPr lang="en-GB" sz="2175" b="0">
                <a:solidFill>
                  <a:srgbClr val="776B62"/>
                </a:solidFill>
                <a:latin typeface="Segoe UI"/>
                <a:ea typeface="Segoe UI"/>
                <a:cs typeface="Segoe UI"/>
              </a:rPr>
              <a:t xml:space="preserve">Start with my university login.</a:t>
            </a:r>
            <a:endParaRPr lang="en-GB" sz="2175" b="0"/>
          </a:p>
          <a:p>
            <a:pPr algn="l">
              <a:lnSpc>
                <a:spcPct val="110000"/>
              </a:lnSpc>
            </a:pPr>
            <a:r>
              <a:rPr lang="en-GB" sz="2175" b="0">
                <a:solidFill>
                  <a:srgbClr val="776B62"/>
                </a:solidFill>
                <a:latin typeface="Segoe UI"/>
                <a:ea typeface="Segoe UI"/>
                <a:cs typeface="Segoe UI"/>
              </a:rPr>
              <a:t xml:space="preserve">Make the same approach reusable for other browser tasks.</a:t>
            </a:r>
            <a:endParaRPr lang="en-GB" sz="2175" b="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1">
  <p:cSld name="What Kopi actually does">
    <p:bg>
      <p:bgPr>
        <a:solidFill>
          <a:srgbClr val="FFFEFA"/>
        </a:solidFill>
        <a:effectLst/>
      </p:bgPr>
    </p:bg>
    <p:spTree>
      <p:nvGrpSpPr>
        <p:cNvPr id="1" name=""/>
        <p:cNvGrpSpPr/>
        <p:nvPr/>
      </p:nvGrpSpPr>
      <p:grpSpPr>
        <a:xfrm>
          <a:off x="0" y="0"/>
          <a:ext cx="0" cy="0"/>
          <a:chOff x="0" y="0"/>
          <a:chExt cx="0" cy="0"/>
        </a:xfrm>
      </p:grpSpPr>
      <p:sp>
        <p:nvSpPr>
          <p:cNvPr id="2" name="What Kopi actually does"/>
          <p:cNvSpPr txBox="1"/>
          <p:nvPr/>
        </p:nvSpPr>
        <p:spPr>
          <a:xfrm>
            <a:off x="609600" y="619125"/>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What Kopi actually does</a:t>
            </a:r>
            <a:endParaRPr lang="en-GB" sz="3600" b="1"/>
          </a:p>
        </p:txBody>
      </p:sp>
      <p:sp>
        <p:nvSpPr>
          <p:cNvPr id="3" name="01"/>
          <p:cNvSpPr txBox="1"/>
          <p:nvPr/>
        </p:nvSpPr>
        <p:spPr>
          <a:xfrm>
            <a:off x="609600" y="2095500"/>
            <a:ext cx="800100" cy="571500"/>
          </a:xfrm>
          <a:prstGeom prst="rect">
            <a:avLst/>
          </a:prstGeom>
          <a:noFill/>
          <a:ln>
            <a:noFill/>
          </a:ln>
        </p:spPr>
        <p:txBody>
          <a:bodyPr wrap="square" lIns="0" tIns="0" rIns="0" bIns="0" anchor="t"/>
          <a:lstStyle/>
          <a:p>
            <a:pPr algn="l">
              <a:lnSpc>
                <a:spcPct val="110000"/>
              </a:lnSpc>
            </a:pPr>
            <a:r>
              <a:rPr lang="en-GB" sz="3000" b="0">
                <a:solidFill>
                  <a:srgbClr val="FF7A1A"/>
                </a:solidFill>
                <a:latin typeface="Segoe UI"/>
                <a:ea typeface="Segoe UI"/>
                <a:cs typeface="Segoe UI"/>
              </a:rPr>
              <a:t xml:space="preserve">01</a:t>
            </a:r>
            <a:endParaRPr lang="en-GB" sz="3000" b="0"/>
          </a:p>
        </p:txBody>
      </p:sp>
      <p:sp>
        <p:nvSpPr>
          <p:cNvPr id="4" name="Observe"/>
          <p:cNvSpPr txBox="1"/>
          <p:nvPr/>
        </p:nvSpPr>
        <p:spPr>
          <a:xfrm>
            <a:off x="1666875" y="2133600"/>
            <a:ext cx="2143125" cy="552450"/>
          </a:xfrm>
          <a:prstGeom prst="rect">
            <a:avLst/>
          </a:prstGeom>
          <a:noFill/>
          <a:ln>
            <a:noFill/>
          </a:ln>
        </p:spPr>
        <p:txBody>
          <a:bodyPr wrap="square" lIns="0" tIns="0" rIns="0" bIns="0" anchor="t"/>
          <a:lstStyle/>
          <a:p>
            <a:pPr algn="l">
              <a:lnSpc>
                <a:spcPct val="110000"/>
              </a:lnSpc>
            </a:pPr>
            <a:r>
              <a:rPr lang="en-GB" sz="2400" b="1">
                <a:solidFill>
                  <a:srgbClr val="201D1D"/>
                </a:solidFill>
                <a:latin typeface="Segoe UI"/>
                <a:ea typeface="Segoe UI"/>
                <a:cs typeface="Segoe UI"/>
              </a:rPr>
              <a:t xml:space="preserve">Observe</a:t>
            </a:r>
            <a:endParaRPr lang="en-GB" sz="2400" b="1"/>
          </a:p>
        </p:txBody>
      </p:sp>
      <p:sp>
        <p:nvSpPr>
          <p:cNvPr id="5" name="Record a task in the browser I already use."/>
          <p:cNvSpPr txBox="1"/>
          <p:nvPr/>
        </p:nvSpPr>
        <p:spPr>
          <a:xfrm>
            <a:off x="4191000" y="2171700"/>
            <a:ext cx="7391400" cy="733425"/>
          </a:xfrm>
          <a:prstGeom prst="rect">
            <a:avLst/>
          </a:prstGeom>
          <a:noFill/>
          <a:ln>
            <a:noFill/>
          </a:ln>
        </p:spPr>
        <p:txBody>
          <a:bodyPr wrap="square" lIns="0" tIns="0" rIns="0" bIns="0" anchor="t"/>
          <a:lstStyle/>
          <a:p>
            <a:pPr algn="l">
              <a:lnSpc>
                <a:spcPct val="110000"/>
              </a:lnSpc>
            </a:pPr>
            <a:r>
              <a:rPr lang="en-GB" sz="2100" b="0">
                <a:solidFill>
                  <a:srgbClr val="201D1D"/>
                </a:solidFill>
                <a:latin typeface="Segoe UI"/>
                <a:ea typeface="Segoe UI"/>
                <a:cs typeface="Segoe UI"/>
              </a:rPr>
              <a:t xml:space="preserve">Record a task in the browser I already use.</a:t>
            </a:r>
            <a:endParaRPr lang="en-GB" sz="2100" b="0"/>
          </a:p>
        </p:txBody>
      </p:sp>
      <p:sp>
        <p:nvSpPr>
          <p:cNvPr id="6" name="Shape 6"/>
          <p:cNvSpPr/>
          <p:nvPr/>
        </p:nvSpPr>
        <p:spPr>
          <a:xfrm>
            <a:off x="609600" y="2943225"/>
            <a:ext cx="10972800" cy="12382"/>
          </a:xfrm>
          <a:prstGeom prst="rect">
            <a:avLst/>
          </a:prstGeom>
          <a:solidFill>
            <a:srgbClr val="E7DDD3"/>
          </a:solidFill>
          <a:ln w="9525">
            <a:noFill/>
          </a:ln>
        </p:spPr>
      </p:sp>
      <p:sp>
        <p:nvSpPr>
          <p:cNvPr id="7" name="02"/>
          <p:cNvSpPr txBox="1"/>
          <p:nvPr/>
        </p:nvSpPr>
        <p:spPr>
          <a:xfrm>
            <a:off x="609600" y="3133725"/>
            <a:ext cx="800100" cy="571500"/>
          </a:xfrm>
          <a:prstGeom prst="rect">
            <a:avLst/>
          </a:prstGeom>
          <a:noFill/>
          <a:ln>
            <a:noFill/>
          </a:ln>
        </p:spPr>
        <p:txBody>
          <a:bodyPr wrap="square" lIns="0" tIns="0" rIns="0" bIns="0" anchor="t"/>
          <a:lstStyle/>
          <a:p>
            <a:pPr algn="l">
              <a:lnSpc>
                <a:spcPct val="110000"/>
              </a:lnSpc>
            </a:pPr>
            <a:r>
              <a:rPr lang="en-GB" sz="3000" b="0">
                <a:solidFill>
                  <a:srgbClr val="FF7A1A"/>
                </a:solidFill>
                <a:latin typeface="Segoe UI"/>
                <a:ea typeface="Segoe UI"/>
                <a:cs typeface="Segoe UI"/>
              </a:rPr>
              <a:t xml:space="preserve">02</a:t>
            </a:r>
            <a:endParaRPr lang="en-GB" sz="3000" b="0"/>
          </a:p>
        </p:txBody>
      </p:sp>
      <p:sp>
        <p:nvSpPr>
          <p:cNvPr id="8" name="Learn"/>
          <p:cNvSpPr txBox="1"/>
          <p:nvPr/>
        </p:nvSpPr>
        <p:spPr>
          <a:xfrm>
            <a:off x="1666875" y="3171825"/>
            <a:ext cx="2143125" cy="552450"/>
          </a:xfrm>
          <a:prstGeom prst="rect">
            <a:avLst/>
          </a:prstGeom>
          <a:noFill/>
          <a:ln>
            <a:noFill/>
          </a:ln>
        </p:spPr>
        <p:txBody>
          <a:bodyPr wrap="square" lIns="0" tIns="0" rIns="0" bIns="0" anchor="t"/>
          <a:lstStyle/>
          <a:p>
            <a:pPr algn="l">
              <a:lnSpc>
                <a:spcPct val="110000"/>
              </a:lnSpc>
            </a:pPr>
            <a:r>
              <a:rPr lang="en-GB" sz="2400" b="1">
                <a:solidFill>
                  <a:srgbClr val="201D1D"/>
                </a:solidFill>
                <a:latin typeface="Segoe UI"/>
                <a:ea typeface="Segoe UI"/>
                <a:cs typeface="Segoe UI"/>
              </a:rPr>
              <a:t xml:space="preserve">Learn</a:t>
            </a:r>
            <a:endParaRPr lang="en-GB" sz="2400" b="1"/>
          </a:p>
        </p:txBody>
      </p:sp>
      <p:sp>
        <p:nvSpPr>
          <p:cNvPr id="9" name="Gemma identifies the steps and changing inputs."/>
          <p:cNvSpPr txBox="1"/>
          <p:nvPr/>
        </p:nvSpPr>
        <p:spPr>
          <a:xfrm>
            <a:off x="4191000" y="3209925"/>
            <a:ext cx="7391400" cy="733425"/>
          </a:xfrm>
          <a:prstGeom prst="rect">
            <a:avLst/>
          </a:prstGeom>
          <a:noFill/>
          <a:ln>
            <a:noFill/>
          </a:ln>
        </p:spPr>
        <p:txBody>
          <a:bodyPr wrap="square" lIns="0" tIns="0" rIns="0" bIns="0" anchor="t"/>
          <a:lstStyle/>
          <a:p>
            <a:pPr algn="l">
              <a:lnSpc>
                <a:spcPct val="110000"/>
              </a:lnSpc>
            </a:pPr>
            <a:r>
              <a:rPr lang="en-GB" sz="2100" b="0">
                <a:solidFill>
                  <a:srgbClr val="201D1D"/>
                </a:solidFill>
                <a:latin typeface="Segoe UI"/>
                <a:ea typeface="Segoe UI"/>
                <a:cs typeface="Segoe UI"/>
              </a:rPr>
              <a:t xml:space="preserve">Gemma identifies the steps and changing inputs.</a:t>
            </a:r>
            <a:endParaRPr lang="en-GB" sz="2100" b="0"/>
          </a:p>
        </p:txBody>
      </p:sp>
      <p:sp>
        <p:nvSpPr>
          <p:cNvPr id="10" name="Shape 10"/>
          <p:cNvSpPr/>
          <p:nvPr/>
        </p:nvSpPr>
        <p:spPr>
          <a:xfrm>
            <a:off x="609600" y="3981450"/>
            <a:ext cx="10972800" cy="12382"/>
          </a:xfrm>
          <a:prstGeom prst="rect">
            <a:avLst/>
          </a:prstGeom>
          <a:solidFill>
            <a:srgbClr val="E7DDD3"/>
          </a:solidFill>
          <a:ln w="9525">
            <a:noFill/>
          </a:ln>
        </p:spPr>
      </p:sp>
      <p:sp>
        <p:nvSpPr>
          <p:cNvPr id="11" name="03"/>
          <p:cNvSpPr txBox="1"/>
          <p:nvPr/>
        </p:nvSpPr>
        <p:spPr>
          <a:xfrm>
            <a:off x="609600" y="4171950"/>
            <a:ext cx="800100" cy="571500"/>
          </a:xfrm>
          <a:prstGeom prst="rect">
            <a:avLst/>
          </a:prstGeom>
          <a:noFill/>
          <a:ln>
            <a:noFill/>
          </a:ln>
        </p:spPr>
        <p:txBody>
          <a:bodyPr wrap="square" lIns="0" tIns="0" rIns="0" bIns="0" anchor="t"/>
          <a:lstStyle/>
          <a:p>
            <a:pPr algn="l">
              <a:lnSpc>
                <a:spcPct val="110000"/>
              </a:lnSpc>
            </a:pPr>
            <a:r>
              <a:rPr lang="en-GB" sz="3000" b="0">
                <a:solidFill>
                  <a:srgbClr val="FF7A1A"/>
                </a:solidFill>
                <a:latin typeface="Segoe UI"/>
                <a:ea typeface="Segoe UI"/>
                <a:cs typeface="Segoe UI"/>
              </a:rPr>
              <a:t xml:space="preserve">03</a:t>
            </a:r>
            <a:endParaRPr lang="en-GB" sz="3000" b="0"/>
          </a:p>
        </p:txBody>
      </p:sp>
      <p:sp>
        <p:nvSpPr>
          <p:cNvPr id="12" name="Review"/>
          <p:cNvSpPr txBox="1"/>
          <p:nvPr/>
        </p:nvSpPr>
        <p:spPr>
          <a:xfrm>
            <a:off x="1666875" y="4210050"/>
            <a:ext cx="2143125" cy="552450"/>
          </a:xfrm>
          <a:prstGeom prst="rect">
            <a:avLst/>
          </a:prstGeom>
          <a:noFill/>
          <a:ln>
            <a:noFill/>
          </a:ln>
        </p:spPr>
        <p:txBody>
          <a:bodyPr wrap="square" lIns="0" tIns="0" rIns="0" bIns="0" anchor="t"/>
          <a:lstStyle/>
          <a:p>
            <a:pPr algn="l">
              <a:lnSpc>
                <a:spcPct val="110000"/>
              </a:lnSpc>
            </a:pPr>
            <a:r>
              <a:rPr lang="en-GB" sz="2400" b="1">
                <a:solidFill>
                  <a:srgbClr val="201D1D"/>
                </a:solidFill>
                <a:latin typeface="Segoe UI"/>
                <a:ea typeface="Segoe UI"/>
                <a:cs typeface="Segoe UI"/>
              </a:rPr>
              <a:t xml:space="preserve">Review</a:t>
            </a:r>
            <a:endParaRPr lang="en-GB" sz="2400" b="1"/>
          </a:p>
        </p:txBody>
      </p:sp>
      <p:sp>
        <p:nvSpPr>
          <p:cNvPr id="13" name="Resolve missing details and save the workflow."/>
          <p:cNvSpPr txBox="1"/>
          <p:nvPr/>
        </p:nvSpPr>
        <p:spPr>
          <a:xfrm>
            <a:off x="4191000" y="4248150"/>
            <a:ext cx="7391400" cy="733425"/>
          </a:xfrm>
          <a:prstGeom prst="rect">
            <a:avLst/>
          </a:prstGeom>
          <a:noFill/>
          <a:ln>
            <a:noFill/>
          </a:ln>
        </p:spPr>
        <p:txBody>
          <a:bodyPr wrap="square" lIns="0" tIns="0" rIns="0" bIns="0" anchor="t"/>
          <a:lstStyle/>
          <a:p>
            <a:pPr algn="l">
              <a:lnSpc>
                <a:spcPct val="110000"/>
              </a:lnSpc>
            </a:pPr>
            <a:r>
              <a:rPr lang="en-GB" sz="2100" b="0">
                <a:solidFill>
                  <a:srgbClr val="201D1D"/>
                </a:solidFill>
                <a:latin typeface="Segoe UI"/>
                <a:ea typeface="Segoe UI"/>
                <a:cs typeface="Segoe UI"/>
              </a:rPr>
              <a:t xml:space="preserve">Resolve missing details and save the workflow.</a:t>
            </a:r>
            <a:endParaRPr lang="en-GB" sz="2100" b="0"/>
          </a:p>
        </p:txBody>
      </p:sp>
      <p:sp>
        <p:nvSpPr>
          <p:cNvPr id="14" name="Shape 14"/>
          <p:cNvSpPr/>
          <p:nvPr/>
        </p:nvSpPr>
        <p:spPr>
          <a:xfrm>
            <a:off x="609600" y="5019675"/>
            <a:ext cx="10972800" cy="12382"/>
          </a:xfrm>
          <a:prstGeom prst="rect">
            <a:avLst/>
          </a:prstGeom>
          <a:solidFill>
            <a:srgbClr val="E7DDD3"/>
          </a:solidFill>
          <a:ln w="9525">
            <a:noFill/>
          </a:ln>
        </p:spPr>
      </p:sp>
      <p:sp>
        <p:nvSpPr>
          <p:cNvPr id="15" name="04"/>
          <p:cNvSpPr txBox="1"/>
          <p:nvPr/>
        </p:nvSpPr>
        <p:spPr>
          <a:xfrm>
            <a:off x="609600" y="5210175"/>
            <a:ext cx="800100" cy="571500"/>
          </a:xfrm>
          <a:prstGeom prst="rect">
            <a:avLst/>
          </a:prstGeom>
          <a:noFill/>
          <a:ln>
            <a:noFill/>
          </a:ln>
        </p:spPr>
        <p:txBody>
          <a:bodyPr wrap="square" lIns="0" tIns="0" rIns="0" bIns="0" anchor="t"/>
          <a:lstStyle/>
          <a:p>
            <a:pPr algn="l">
              <a:lnSpc>
                <a:spcPct val="110000"/>
              </a:lnSpc>
            </a:pPr>
            <a:r>
              <a:rPr lang="en-GB" sz="3000" b="0">
                <a:solidFill>
                  <a:srgbClr val="FF7A1A"/>
                </a:solidFill>
                <a:latin typeface="Segoe UI"/>
                <a:ea typeface="Segoe UI"/>
                <a:cs typeface="Segoe UI"/>
              </a:rPr>
              <a:t xml:space="preserve">04</a:t>
            </a:r>
            <a:endParaRPr lang="en-GB" sz="3000" b="0"/>
          </a:p>
        </p:txBody>
      </p:sp>
      <p:sp>
        <p:nvSpPr>
          <p:cNvPr id="16" name="Repeat"/>
          <p:cNvSpPr txBox="1"/>
          <p:nvPr/>
        </p:nvSpPr>
        <p:spPr>
          <a:xfrm>
            <a:off x="1666875" y="5248275"/>
            <a:ext cx="2143125" cy="552450"/>
          </a:xfrm>
          <a:prstGeom prst="rect">
            <a:avLst/>
          </a:prstGeom>
          <a:noFill/>
          <a:ln>
            <a:noFill/>
          </a:ln>
        </p:spPr>
        <p:txBody>
          <a:bodyPr wrap="square" lIns="0" tIns="0" rIns="0" bIns="0" anchor="t"/>
          <a:lstStyle/>
          <a:p>
            <a:pPr algn="l">
              <a:lnSpc>
                <a:spcPct val="110000"/>
              </a:lnSpc>
            </a:pPr>
            <a:r>
              <a:rPr lang="en-GB" sz="2400" b="1">
                <a:solidFill>
                  <a:srgbClr val="201D1D"/>
                </a:solidFill>
                <a:latin typeface="Segoe UI"/>
                <a:ea typeface="Segoe UI"/>
                <a:cs typeface="Segoe UI"/>
              </a:rPr>
              <a:t xml:space="preserve">Repeat</a:t>
            </a:r>
            <a:endParaRPr lang="en-GB" sz="2400" b="1"/>
          </a:p>
        </p:txBody>
      </p:sp>
      <p:sp>
        <p:nvSpPr>
          <p:cNvPr id="17" name="Run the saved routine with fresh information."/>
          <p:cNvSpPr txBox="1"/>
          <p:nvPr/>
        </p:nvSpPr>
        <p:spPr>
          <a:xfrm>
            <a:off x="4191000" y="5286375"/>
            <a:ext cx="7391400" cy="733425"/>
          </a:xfrm>
          <a:prstGeom prst="rect">
            <a:avLst/>
          </a:prstGeom>
          <a:noFill/>
          <a:ln>
            <a:noFill/>
          </a:ln>
        </p:spPr>
        <p:txBody>
          <a:bodyPr wrap="square" lIns="0" tIns="0" rIns="0" bIns="0" anchor="t"/>
          <a:lstStyle/>
          <a:p>
            <a:pPr algn="l">
              <a:lnSpc>
                <a:spcPct val="110000"/>
              </a:lnSpc>
            </a:pPr>
            <a:r>
              <a:rPr lang="en-GB" sz="2100" b="0">
                <a:solidFill>
                  <a:srgbClr val="201D1D"/>
                </a:solidFill>
                <a:latin typeface="Segoe UI"/>
                <a:ea typeface="Segoe UI"/>
                <a:cs typeface="Segoe UI"/>
              </a:rPr>
              <a:t xml:space="preserve">Run the saved routine with fresh information.</a:t>
            </a:r>
            <a:endParaRPr lang="en-GB" sz="2100" b="0"/>
          </a:p>
        </p:txBody>
      </p:sp>
      <p:sp>
        <p:nvSpPr>
          <p:cNvPr id="18" name="Shape 18"/>
          <p:cNvSpPr/>
          <p:nvPr/>
        </p:nvSpPr>
        <p:spPr>
          <a:xfrm>
            <a:off x="609600" y="6057900"/>
            <a:ext cx="10972800" cy="12382"/>
          </a:xfrm>
          <a:prstGeom prst="rect">
            <a:avLst/>
          </a:prstGeom>
          <a:solidFill>
            <a:srgbClr val="E7DDD3"/>
          </a:solidFill>
          <a:ln w="9525">
            <a:no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1">
  <p:cSld name="The university login example">
    <p:bg>
      <p:bgPr>
        <a:solidFill>
          <a:srgbClr val="FFFEFA"/>
        </a:solidFill>
        <a:effectLst/>
      </p:bgPr>
    </p:bg>
    <p:spTree>
      <p:nvGrpSpPr>
        <p:cNvPr id="1" name=""/>
        <p:cNvGrpSpPr/>
        <p:nvPr/>
      </p:nvGrpSpPr>
      <p:grpSpPr>
        <a:xfrm>
          <a:off x="0" y="0"/>
          <a:ext cx="0" cy="0"/>
          <a:chOff x="0" y="0"/>
          <a:chExt cx="0" cy="0"/>
        </a:xfrm>
      </p:grpSpPr>
      <p:sp>
        <p:nvSpPr>
          <p:cNvPr id="2" name="The university login example"/>
          <p:cNvSpPr txBox="1"/>
          <p:nvPr/>
        </p:nvSpPr>
        <p:spPr>
          <a:xfrm>
            <a:off x="609600" y="619125"/>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The university login example</a:t>
            </a:r>
            <a:endParaRPr lang="en-GB" sz="3600" b="1"/>
          </a:p>
        </p:txBody>
      </p:sp>
      <p:sp>
        <p:nvSpPr>
          <p:cNvPr id="3" name="Shape 3"/>
          <p:cNvSpPr/>
          <p:nvPr/>
        </p:nvSpPr>
        <p:spPr>
          <a:xfrm>
            <a:off x="609600" y="2209800"/>
            <a:ext cx="3333750" cy="66675"/>
          </a:xfrm>
          <a:prstGeom prst="rect">
            <a:avLst/>
          </a:prstGeom>
          <a:solidFill>
            <a:srgbClr val="FF7A1A"/>
          </a:solidFill>
          <a:ln w="9525">
            <a:noFill/>
          </a:ln>
        </p:spPr>
      </p:sp>
      <p:sp>
        <p:nvSpPr>
          <p:cNvPr id="4" name="01"/>
          <p:cNvSpPr txBox="1"/>
          <p:nvPr/>
        </p:nvSpPr>
        <p:spPr>
          <a:xfrm>
            <a:off x="609600" y="2686050"/>
            <a:ext cx="3333750" cy="952500"/>
          </a:xfrm>
          <a:prstGeom prst="rect">
            <a:avLst/>
          </a:prstGeom>
          <a:noFill/>
          <a:ln>
            <a:noFill/>
          </a:ln>
        </p:spPr>
        <p:txBody>
          <a:bodyPr wrap="square" lIns="0" tIns="0" rIns="0" bIns="0" anchor="t"/>
          <a:lstStyle/>
          <a:p>
            <a:pPr algn="l">
              <a:lnSpc>
                <a:spcPct val="110000"/>
              </a:lnSpc>
            </a:pPr>
            <a:r>
              <a:rPr lang="en-GB" sz="5700" b="0">
                <a:solidFill>
                  <a:srgbClr val="FF7A1A"/>
                </a:solidFill>
                <a:latin typeface="Segoe UI"/>
                <a:ea typeface="Segoe UI"/>
                <a:cs typeface="Segoe UI"/>
              </a:rPr>
              <a:t xml:space="preserve">01</a:t>
            </a:r>
            <a:endParaRPr lang="en-GB" sz="5700" b="0"/>
          </a:p>
        </p:txBody>
      </p:sp>
      <p:sp>
        <p:nvSpPr>
          <p:cNvPr id="5" name="Request"/>
          <p:cNvSpPr txBox="1"/>
          <p:nvPr/>
        </p:nvSpPr>
        <p:spPr>
          <a:xfrm>
            <a:off x="609600" y="3981450"/>
            <a:ext cx="3333750" cy="666750"/>
          </a:xfrm>
          <a:prstGeom prst="rect">
            <a:avLst/>
          </a:prstGeom>
          <a:noFill/>
          <a:ln>
            <a:noFill/>
          </a:ln>
        </p:spPr>
        <p:txBody>
          <a:bodyPr wrap="square" lIns="0" tIns="0" rIns="0" bIns="0" anchor="t"/>
          <a:lstStyle/>
          <a:p>
            <a:pPr algn="l">
              <a:lnSpc>
                <a:spcPct val="110000"/>
              </a:lnSpc>
            </a:pPr>
            <a:r>
              <a:rPr lang="en-GB" sz="2925" b="1">
                <a:solidFill>
                  <a:srgbClr val="201D1D"/>
                </a:solidFill>
                <a:latin typeface="Segoe UI"/>
                <a:ea typeface="Segoe UI"/>
                <a:cs typeface="Segoe UI"/>
              </a:rPr>
              <a:t xml:space="preserve">Request</a:t>
            </a:r>
            <a:endParaRPr lang="en-GB" sz="2925" b="1"/>
          </a:p>
        </p:txBody>
      </p:sp>
      <p:sp>
        <p:nvSpPr>
          <p:cNvPr id="6" name="A new challenge asks for a fresh code."/>
          <p:cNvSpPr txBox="1"/>
          <p:nvPr/>
        </p:nvSpPr>
        <p:spPr>
          <a:xfrm>
            <a:off x="609600" y="4924425"/>
            <a:ext cx="3333750" cy="1133475"/>
          </a:xfrm>
          <a:prstGeom prst="rect">
            <a:avLst/>
          </a:prstGeom>
          <a:noFill/>
          <a:ln>
            <a:noFill/>
          </a:ln>
        </p:spPr>
        <p:txBody>
          <a:bodyPr wrap="square" lIns="0" tIns="0" rIns="0" bIns="0" anchor="t"/>
          <a:lstStyle/>
          <a:p>
            <a:pPr algn="l">
              <a:lnSpc>
                <a:spcPct val="110000"/>
              </a:lnSpc>
            </a:pPr>
            <a:r>
              <a:rPr lang="en-GB" sz="2175" b="0">
                <a:solidFill>
                  <a:srgbClr val="201D1D"/>
                </a:solidFill>
                <a:latin typeface="Segoe UI"/>
                <a:ea typeface="Segoe UI"/>
                <a:cs typeface="Segoe UI"/>
              </a:rPr>
              <a:t xml:space="preserve">A new challenge asks</a:t>
            </a:r>
            <a:endParaRPr lang="en-GB" sz="2175" b="0"/>
          </a:p>
          <a:p>
            <a:pPr algn="l">
              <a:lnSpc>
                <a:spcPct val="110000"/>
              </a:lnSpc>
            </a:pPr>
            <a:r>
              <a:rPr lang="en-GB" sz="2175" b="0">
                <a:solidFill>
                  <a:srgbClr val="201D1D"/>
                </a:solidFill>
                <a:latin typeface="Segoe UI"/>
                <a:ea typeface="Segoe UI"/>
                <a:cs typeface="Segoe UI"/>
              </a:rPr>
              <a:t xml:space="preserve">for a fresh code.</a:t>
            </a:r>
            <a:endParaRPr lang="en-GB" sz="2175" b="0"/>
          </a:p>
        </p:txBody>
      </p:sp>
      <p:sp>
        <p:nvSpPr>
          <p:cNvPr id="7" name="Shape 7"/>
          <p:cNvSpPr/>
          <p:nvPr/>
        </p:nvSpPr>
        <p:spPr>
          <a:xfrm>
            <a:off x="4391025" y="2209800"/>
            <a:ext cx="3333750" cy="66675"/>
          </a:xfrm>
          <a:prstGeom prst="rect">
            <a:avLst/>
          </a:prstGeom>
          <a:solidFill>
            <a:srgbClr val="FF7A1A"/>
          </a:solidFill>
          <a:ln w="9525">
            <a:noFill/>
          </a:ln>
        </p:spPr>
      </p:sp>
      <p:sp>
        <p:nvSpPr>
          <p:cNvPr id="8" name="02"/>
          <p:cNvSpPr txBox="1"/>
          <p:nvPr/>
        </p:nvSpPr>
        <p:spPr>
          <a:xfrm>
            <a:off x="4391025" y="2686050"/>
            <a:ext cx="3333750" cy="952500"/>
          </a:xfrm>
          <a:prstGeom prst="rect">
            <a:avLst/>
          </a:prstGeom>
          <a:noFill/>
          <a:ln>
            <a:noFill/>
          </a:ln>
        </p:spPr>
        <p:txBody>
          <a:bodyPr wrap="square" lIns="0" tIns="0" rIns="0" bIns="0" anchor="t"/>
          <a:lstStyle/>
          <a:p>
            <a:pPr algn="l">
              <a:lnSpc>
                <a:spcPct val="110000"/>
              </a:lnSpc>
            </a:pPr>
            <a:r>
              <a:rPr lang="en-GB" sz="5700" b="0">
                <a:solidFill>
                  <a:srgbClr val="FF7A1A"/>
                </a:solidFill>
                <a:latin typeface="Segoe UI"/>
                <a:ea typeface="Segoe UI"/>
                <a:cs typeface="Segoe UI"/>
              </a:rPr>
              <a:t xml:space="preserve">02</a:t>
            </a:r>
            <a:endParaRPr lang="en-GB" sz="5700" b="0"/>
          </a:p>
        </p:txBody>
      </p:sp>
      <p:sp>
        <p:nvSpPr>
          <p:cNvPr id="9" name="Read"/>
          <p:cNvSpPr txBox="1"/>
          <p:nvPr/>
        </p:nvSpPr>
        <p:spPr>
          <a:xfrm>
            <a:off x="4391025" y="3981450"/>
            <a:ext cx="3333750" cy="666750"/>
          </a:xfrm>
          <a:prstGeom prst="rect">
            <a:avLst/>
          </a:prstGeom>
          <a:noFill/>
          <a:ln>
            <a:noFill/>
          </a:ln>
        </p:spPr>
        <p:txBody>
          <a:bodyPr wrap="square" lIns="0" tIns="0" rIns="0" bIns="0" anchor="t"/>
          <a:lstStyle/>
          <a:p>
            <a:pPr algn="l">
              <a:lnSpc>
                <a:spcPct val="110000"/>
              </a:lnSpc>
            </a:pPr>
            <a:r>
              <a:rPr lang="en-GB" sz="2925" b="1">
                <a:solidFill>
                  <a:srgbClr val="201D1D"/>
                </a:solidFill>
                <a:latin typeface="Segoe UI"/>
                <a:ea typeface="Segoe UI"/>
                <a:cs typeface="Segoe UI"/>
              </a:rPr>
              <a:t xml:space="preserve">Read</a:t>
            </a:r>
            <a:endParaRPr lang="en-GB" sz="2925" b="1"/>
          </a:p>
        </p:txBody>
      </p:sp>
      <p:sp>
        <p:nvSpPr>
          <p:cNvPr id="10" name="Find the new code in the correct conversation."/>
          <p:cNvSpPr txBox="1"/>
          <p:nvPr/>
        </p:nvSpPr>
        <p:spPr>
          <a:xfrm>
            <a:off x="4391025" y="4924425"/>
            <a:ext cx="3333750" cy="1133475"/>
          </a:xfrm>
          <a:prstGeom prst="rect">
            <a:avLst/>
          </a:prstGeom>
          <a:noFill/>
          <a:ln>
            <a:noFill/>
          </a:ln>
        </p:spPr>
        <p:txBody>
          <a:bodyPr wrap="square" lIns="0" tIns="0" rIns="0" bIns="0" anchor="t"/>
          <a:lstStyle/>
          <a:p>
            <a:pPr algn="l">
              <a:lnSpc>
                <a:spcPct val="110000"/>
              </a:lnSpc>
            </a:pPr>
            <a:r>
              <a:rPr lang="en-GB" sz="2175" b="0">
                <a:solidFill>
                  <a:srgbClr val="201D1D"/>
                </a:solidFill>
                <a:latin typeface="Segoe UI"/>
                <a:ea typeface="Segoe UI"/>
                <a:cs typeface="Segoe UI"/>
              </a:rPr>
              <a:t xml:space="preserve">Find the new code in</a:t>
            </a:r>
            <a:endParaRPr lang="en-GB" sz="2175" b="0"/>
          </a:p>
          <a:p>
            <a:pPr algn="l">
              <a:lnSpc>
                <a:spcPct val="110000"/>
              </a:lnSpc>
            </a:pPr>
            <a:r>
              <a:rPr lang="en-GB" sz="2175" b="0">
                <a:solidFill>
                  <a:srgbClr val="201D1D"/>
                </a:solidFill>
                <a:latin typeface="Segoe UI"/>
                <a:ea typeface="Segoe UI"/>
                <a:cs typeface="Segoe UI"/>
              </a:rPr>
              <a:t xml:space="preserve">the correct conversation.</a:t>
            </a:r>
            <a:endParaRPr lang="en-GB" sz="2175" b="0"/>
          </a:p>
        </p:txBody>
      </p:sp>
      <p:sp>
        <p:nvSpPr>
          <p:cNvPr id="11" name="Shape 11"/>
          <p:cNvSpPr/>
          <p:nvPr/>
        </p:nvSpPr>
        <p:spPr>
          <a:xfrm>
            <a:off x="8172450" y="2209800"/>
            <a:ext cx="3333750" cy="66675"/>
          </a:xfrm>
          <a:prstGeom prst="rect">
            <a:avLst/>
          </a:prstGeom>
          <a:solidFill>
            <a:srgbClr val="FF7A1A"/>
          </a:solidFill>
          <a:ln w="9525">
            <a:noFill/>
          </a:ln>
        </p:spPr>
      </p:sp>
      <p:sp>
        <p:nvSpPr>
          <p:cNvPr id="12" name="03"/>
          <p:cNvSpPr txBox="1"/>
          <p:nvPr/>
        </p:nvSpPr>
        <p:spPr>
          <a:xfrm>
            <a:off x="8172450" y="2686050"/>
            <a:ext cx="3333750" cy="952500"/>
          </a:xfrm>
          <a:prstGeom prst="rect">
            <a:avLst/>
          </a:prstGeom>
          <a:noFill/>
          <a:ln>
            <a:noFill/>
          </a:ln>
        </p:spPr>
        <p:txBody>
          <a:bodyPr wrap="square" lIns="0" tIns="0" rIns="0" bIns="0" anchor="t"/>
          <a:lstStyle/>
          <a:p>
            <a:pPr algn="l">
              <a:lnSpc>
                <a:spcPct val="110000"/>
              </a:lnSpc>
            </a:pPr>
            <a:r>
              <a:rPr lang="en-GB" sz="5700" b="0">
                <a:solidFill>
                  <a:srgbClr val="FF7A1A"/>
                </a:solidFill>
                <a:latin typeface="Segoe UI"/>
                <a:ea typeface="Segoe UI"/>
                <a:cs typeface="Segoe UI"/>
              </a:rPr>
              <a:t xml:space="preserve">03</a:t>
            </a:r>
            <a:endParaRPr lang="en-GB" sz="5700" b="0"/>
          </a:p>
        </p:txBody>
      </p:sp>
      <p:sp>
        <p:nvSpPr>
          <p:cNvPr id="13" name="Verify"/>
          <p:cNvSpPr txBox="1"/>
          <p:nvPr/>
        </p:nvSpPr>
        <p:spPr>
          <a:xfrm>
            <a:off x="8172450" y="3981450"/>
            <a:ext cx="3333750" cy="666750"/>
          </a:xfrm>
          <a:prstGeom prst="rect">
            <a:avLst/>
          </a:prstGeom>
          <a:noFill/>
          <a:ln>
            <a:noFill/>
          </a:ln>
        </p:spPr>
        <p:txBody>
          <a:bodyPr wrap="square" lIns="0" tIns="0" rIns="0" bIns="0" anchor="t"/>
          <a:lstStyle/>
          <a:p>
            <a:pPr algn="l">
              <a:lnSpc>
                <a:spcPct val="110000"/>
              </a:lnSpc>
            </a:pPr>
            <a:r>
              <a:rPr lang="en-GB" sz="2925" b="1">
                <a:solidFill>
                  <a:srgbClr val="201D1D"/>
                </a:solidFill>
                <a:latin typeface="Segoe UI"/>
                <a:ea typeface="Segoe UI"/>
                <a:cs typeface="Segoe UI"/>
              </a:rPr>
              <a:t xml:space="preserve">Verify</a:t>
            </a:r>
            <a:endParaRPr lang="en-GB" sz="2925" b="1"/>
          </a:p>
        </p:txBody>
      </p:sp>
      <p:sp>
        <p:nvSpPr>
          <p:cNvPr id="14" name="Enter it, submit and check the result."/>
          <p:cNvSpPr txBox="1"/>
          <p:nvPr/>
        </p:nvSpPr>
        <p:spPr>
          <a:xfrm>
            <a:off x="8172450" y="4924425"/>
            <a:ext cx="3333750" cy="1133475"/>
          </a:xfrm>
          <a:prstGeom prst="rect">
            <a:avLst/>
          </a:prstGeom>
          <a:noFill/>
          <a:ln>
            <a:noFill/>
          </a:ln>
        </p:spPr>
        <p:txBody>
          <a:bodyPr wrap="square" lIns="0" tIns="0" rIns="0" bIns="0" anchor="t"/>
          <a:lstStyle/>
          <a:p>
            <a:pPr algn="l">
              <a:lnSpc>
                <a:spcPct val="110000"/>
              </a:lnSpc>
            </a:pPr>
            <a:r>
              <a:rPr lang="en-GB" sz="2175" b="0">
                <a:solidFill>
                  <a:srgbClr val="201D1D"/>
                </a:solidFill>
                <a:latin typeface="Segoe UI"/>
                <a:ea typeface="Segoe UI"/>
                <a:cs typeface="Segoe UI"/>
              </a:rPr>
              <a:t xml:space="preserve">Enter it, submit and</a:t>
            </a:r>
            <a:endParaRPr lang="en-GB" sz="2175" b="0"/>
          </a:p>
          <a:p>
            <a:pPr algn="l">
              <a:lnSpc>
                <a:spcPct val="110000"/>
              </a:lnSpc>
            </a:pPr>
            <a:r>
              <a:rPr lang="en-GB" sz="2175" b="0">
                <a:solidFill>
                  <a:srgbClr val="201D1D"/>
                </a:solidFill>
                <a:latin typeface="Segoe UI"/>
                <a:ea typeface="Segoe UI"/>
                <a:cs typeface="Segoe UI"/>
              </a:rPr>
              <a:t xml:space="preserve">check the result.</a:t>
            </a:r>
            <a:endParaRPr lang="en-GB" sz="2175" b="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1">
  <p:cSld name="Why I built it this way">
    <p:bg>
      <p:bgPr>
        <a:solidFill>
          <a:srgbClr val="FFFEFA"/>
        </a:solidFill>
        <a:effectLst/>
      </p:bgPr>
    </p:bg>
    <p:spTree>
      <p:nvGrpSpPr>
        <p:cNvPr id="1" name=""/>
        <p:cNvGrpSpPr/>
        <p:nvPr/>
      </p:nvGrpSpPr>
      <p:grpSpPr>
        <a:xfrm>
          <a:off x="0" y="0"/>
          <a:ext cx="0" cy="0"/>
          <a:chOff x="0" y="0"/>
          <a:chExt cx="0" cy="0"/>
        </a:xfrm>
      </p:grpSpPr>
      <p:sp>
        <p:nvSpPr>
          <p:cNvPr id="2" name="Why I built it this way"/>
          <p:cNvSpPr txBox="1"/>
          <p:nvPr/>
        </p:nvSpPr>
        <p:spPr>
          <a:xfrm>
            <a:off x="609600" y="619125"/>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Why I built it this way</a:t>
            </a:r>
            <a:endParaRPr lang="en-GB" sz="3600" b="1"/>
          </a:p>
        </p:txBody>
      </p:sp>
      <p:sp>
        <p:nvSpPr>
          <p:cNvPr id="3" name="Existing browser"/>
          <p:cNvSpPr txBox="1"/>
          <p:nvPr/>
        </p:nvSpPr>
        <p:spPr>
          <a:xfrm>
            <a:off x="609600" y="2228850"/>
            <a:ext cx="3352800" cy="647700"/>
          </a:xfrm>
          <a:prstGeom prst="rect">
            <a:avLst/>
          </a:prstGeom>
          <a:noFill/>
          <a:ln>
            <a:noFill/>
          </a:ln>
        </p:spPr>
        <p:txBody>
          <a:bodyPr wrap="square" lIns="0" tIns="0" rIns="0" bIns="0" anchor="t"/>
          <a:lstStyle/>
          <a:p>
            <a:pPr algn="l">
              <a:lnSpc>
                <a:spcPct val="110000"/>
              </a:lnSpc>
            </a:pPr>
            <a:r>
              <a:rPr lang="en-GB" sz="2625" b="1">
                <a:solidFill>
                  <a:srgbClr val="201D1D"/>
                </a:solidFill>
                <a:latin typeface="Segoe UI"/>
                <a:ea typeface="Segoe UI"/>
                <a:cs typeface="Segoe UI"/>
              </a:rPr>
              <a:t xml:space="preserve">Existing browser</a:t>
            </a:r>
            <a:endParaRPr lang="en-GB" sz="2625" b="1"/>
          </a:p>
        </p:txBody>
      </p:sp>
      <p:sp>
        <p:nvSpPr>
          <p:cNvPr id="4" name="I was already signed in, so Kopi works inside my curren"/>
          <p:cNvSpPr txBox="1"/>
          <p:nvPr/>
        </p:nvSpPr>
        <p:spPr>
          <a:xfrm>
            <a:off x="4381500" y="2238375"/>
            <a:ext cx="7200900" cy="1057275"/>
          </a:xfrm>
          <a:prstGeom prst="rect">
            <a:avLst/>
          </a:prstGeom>
          <a:noFill/>
          <a:ln>
            <a:noFill/>
          </a:ln>
        </p:spPr>
        <p:txBody>
          <a:bodyPr wrap="square" lIns="0" tIns="0" rIns="0" bIns="0" anchor="t"/>
          <a:lstStyle/>
          <a:p>
            <a:pPr algn="l">
              <a:lnSpc>
                <a:spcPct val="110000"/>
              </a:lnSpc>
            </a:pPr>
            <a:r>
              <a:rPr lang="en-GB" sz="2175" b="0">
                <a:solidFill>
                  <a:srgbClr val="201D1D"/>
                </a:solidFill>
                <a:latin typeface="Segoe UI"/>
                <a:ea typeface="Segoe UI"/>
                <a:cs typeface="Segoe UI"/>
              </a:rPr>
              <a:t xml:space="preserve">I was already signed in, so Kopi works</a:t>
            </a:r>
            <a:endParaRPr lang="en-GB" sz="2175" b="0"/>
          </a:p>
          <a:p>
            <a:pPr algn="l">
              <a:lnSpc>
                <a:spcPct val="110000"/>
              </a:lnSpc>
            </a:pPr>
            <a:r>
              <a:rPr lang="en-GB" sz="2175" b="0">
                <a:solidFill>
                  <a:srgbClr val="201D1D"/>
                </a:solidFill>
                <a:latin typeface="Segoe UI"/>
                <a:ea typeface="Segoe UI"/>
                <a:cs typeface="Segoe UI"/>
              </a:rPr>
              <a:t xml:space="preserve">inside my current Chrome or Edge session.</a:t>
            </a:r>
            <a:endParaRPr lang="en-GB" sz="2175" b="0"/>
          </a:p>
        </p:txBody>
      </p:sp>
      <p:sp>
        <p:nvSpPr>
          <p:cNvPr id="5" name="Shape 5"/>
          <p:cNvSpPr/>
          <p:nvPr/>
        </p:nvSpPr>
        <p:spPr>
          <a:xfrm>
            <a:off x="609600" y="3371850"/>
            <a:ext cx="10972800" cy="12382"/>
          </a:xfrm>
          <a:prstGeom prst="rect">
            <a:avLst/>
          </a:prstGeom>
          <a:solidFill>
            <a:srgbClr val="E7DDD3"/>
          </a:solidFill>
          <a:ln w="9525">
            <a:noFill/>
          </a:ln>
        </p:spPr>
      </p:sp>
      <p:sp>
        <p:nvSpPr>
          <p:cNvPr id="6" name="Local AI"/>
          <p:cNvSpPr txBox="1"/>
          <p:nvPr/>
        </p:nvSpPr>
        <p:spPr>
          <a:xfrm>
            <a:off x="609600" y="3648075"/>
            <a:ext cx="3352800" cy="647700"/>
          </a:xfrm>
          <a:prstGeom prst="rect">
            <a:avLst/>
          </a:prstGeom>
          <a:noFill/>
          <a:ln>
            <a:noFill/>
          </a:ln>
        </p:spPr>
        <p:txBody>
          <a:bodyPr wrap="square" lIns="0" tIns="0" rIns="0" bIns="0" anchor="t"/>
          <a:lstStyle/>
          <a:p>
            <a:pPr algn="l">
              <a:lnSpc>
                <a:spcPct val="110000"/>
              </a:lnSpc>
            </a:pPr>
            <a:r>
              <a:rPr lang="en-GB" sz="2625" b="1">
                <a:solidFill>
                  <a:srgbClr val="201D1D"/>
                </a:solidFill>
                <a:latin typeface="Segoe UI"/>
                <a:ea typeface="Segoe UI"/>
                <a:cs typeface="Segoe UI"/>
              </a:rPr>
              <a:t xml:space="preserve">Local AI</a:t>
            </a:r>
            <a:endParaRPr lang="en-GB" sz="2625" b="1"/>
          </a:p>
        </p:txBody>
      </p:sp>
      <p:sp>
        <p:nvSpPr>
          <p:cNvPr id="7" name="Browser evidence can be personal, so Gemma runs on my c"/>
          <p:cNvSpPr txBox="1"/>
          <p:nvPr/>
        </p:nvSpPr>
        <p:spPr>
          <a:xfrm>
            <a:off x="4381500" y="3657600"/>
            <a:ext cx="7200900" cy="1057275"/>
          </a:xfrm>
          <a:prstGeom prst="rect">
            <a:avLst/>
          </a:prstGeom>
          <a:noFill/>
          <a:ln>
            <a:noFill/>
          </a:ln>
        </p:spPr>
        <p:txBody>
          <a:bodyPr wrap="square" lIns="0" tIns="0" rIns="0" bIns="0" anchor="t"/>
          <a:lstStyle/>
          <a:p>
            <a:pPr algn="l">
              <a:lnSpc>
                <a:spcPct val="110000"/>
              </a:lnSpc>
            </a:pPr>
            <a:r>
              <a:rPr lang="en-GB" sz="2175" b="0">
                <a:solidFill>
                  <a:srgbClr val="201D1D"/>
                </a:solidFill>
                <a:latin typeface="Segoe UI"/>
                <a:ea typeface="Segoe UI"/>
                <a:cs typeface="Segoe UI"/>
              </a:rPr>
              <a:t xml:space="preserve">Browser evidence can be personal,</a:t>
            </a:r>
            <a:endParaRPr lang="en-GB" sz="2175" b="0"/>
          </a:p>
          <a:p>
            <a:pPr algn="l">
              <a:lnSpc>
                <a:spcPct val="110000"/>
              </a:lnSpc>
            </a:pPr>
            <a:r>
              <a:rPr lang="en-GB" sz="2175" b="0">
                <a:solidFill>
                  <a:srgbClr val="201D1D"/>
                </a:solidFill>
                <a:latin typeface="Segoe UI"/>
                <a:ea typeface="Segoe UI"/>
                <a:cs typeface="Segoe UI"/>
              </a:rPr>
              <a:t xml:space="preserve">so Gemma runs on my computer.</a:t>
            </a:r>
            <a:endParaRPr lang="en-GB" sz="2175" b="0"/>
          </a:p>
        </p:txBody>
      </p:sp>
      <p:sp>
        <p:nvSpPr>
          <p:cNvPr id="8" name="Shape 8"/>
          <p:cNvSpPr/>
          <p:nvPr/>
        </p:nvSpPr>
        <p:spPr>
          <a:xfrm>
            <a:off x="609600" y="4791075"/>
            <a:ext cx="10972800" cy="12382"/>
          </a:xfrm>
          <a:prstGeom prst="rect">
            <a:avLst/>
          </a:prstGeom>
          <a:solidFill>
            <a:srgbClr val="E7DDD3"/>
          </a:solidFill>
          <a:ln w="9525">
            <a:noFill/>
          </a:ln>
        </p:spPr>
      </p:sp>
      <p:sp>
        <p:nvSpPr>
          <p:cNvPr id="9" name="Checked actions"/>
          <p:cNvSpPr txBox="1"/>
          <p:nvPr/>
        </p:nvSpPr>
        <p:spPr>
          <a:xfrm>
            <a:off x="609600" y="5067300"/>
            <a:ext cx="3352800" cy="647700"/>
          </a:xfrm>
          <a:prstGeom prst="rect">
            <a:avLst/>
          </a:prstGeom>
          <a:noFill/>
          <a:ln>
            <a:noFill/>
          </a:ln>
        </p:spPr>
        <p:txBody>
          <a:bodyPr wrap="square" lIns="0" tIns="0" rIns="0" bIns="0" anchor="t"/>
          <a:lstStyle/>
          <a:p>
            <a:pPr algn="l">
              <a:lnSpc>
                <a:spcPct val="110000"/>
              </a:lnSpc>
            </a:pPr>
            <a:r>
              <a:rPr lang="en-GB" sz="2625" b="1">
                <a:solidFill>
                  <a:srgbClr val="201D1D"/>
                </a:solidFill>
                <a:latin typeface="Segoe UI"/>
                <a:ea typeface="Segoe UI"/>
                <a:cs typeface="Segoe UI"/>
              </a:rPr>
              <a:t xml:space="preserve">Checked actions</a:t>
            </a:r>
            <a:endParaRPr lang="en-GB" sz="2625" b="1"/>
          </a:p>
        </p:txBody>
      </p:sp>
      <p:sp>
        <p:nvSpPr>
          <p:cNvPr id="10" name="The model can misunderstand a task, so execution checks"/>
          <p:cNvSpPr txBox="1"/>
          <p:nvPr/>
        </p:nvSpPr>
        <p:spPr>
          <a:xfrm>
            <a:off x="4381500" y="5076825"/>
            <a:ext cx="7200900" cy="1057275"/>
          </a:xfrm>
          <a:prstGeom prst="rect">
            <a:avLst/>
          </a:prstGeom>
          <a:noFill/>
          <a:ln>
            <a:noFill/>
          </a:ln>
        </p:spPr>
        <p:txBody>
          <a:bodyPr wrap="square" lIns="0" tIns="0" rIns="0" bIns="0" anchor="t"/>
          <a:lstStyle/>
          <a:p>
            <a:pPr algn="l">
              <a:lnSpc>
                <a:spcPct val="110000"/>
              </a:lnSpc>
            </a:pPr>
            <a:r>
              <a:rPr lang="en-GB" sz="2175" b="0">
                <a:solidFill>
                  <a:srgbClr val="201D1D"/>
                </a:solidFill>
                <a:latin typeface="Segoe UI"/>
                <a:ea typeface="Segoe UI"/>
                <a:cs typeface="Segoe UI"/>
              </a:rPr>
              <a:t xml:space="preserve">The model can misunderstand a task,</a:t>
            </a:r>
            <a:endParaRPr lang="en-GB" sz="2175" b="0"/>
          </a:p>
          <a:p>
            <a:pPr algn="l">
              <a:lnSpc>
                <a:spcPct val="110000"/>
              </a:lnSpc>
            </a:pPr>
            <a:r>
              <a:rPr lang="en-GB" sz="2175" b="0">
                <a:solidFill>
                  <a:srgbClr val="201D1D"/>
                </a:solidFill>
                <a:latin typeface="Segoe UI"/>
                <a:ea typeface="Segoe UI"/>
                <a:cs typeface="Segoe UI"/>
              </a:rPr>
              <a:t xml:space="preserve">so execution checks targets and results.</a:t>
            </a:r>
            <a:endParaRPr lang="en-GB" sz="2175" b="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1">
  <p:cSld name="How I built it">
    <p:bg>
      <p:bgPr>
        <a:solidFill>
          <a:srgbClr val="FFFEFA"/>
        </a:solidFill>
        <a:effectLst/>
      </p:bgPr>
    </p:bg>
    <p:spTree>
      <p:nvGrpSpPr>
        <p:cNvPr id="1" name=""/>
        <p:cNvGrpSpPr/>
        <p:nvPr/>
      </p:nvGrpSpPr>
      <p:grpSpPr>
        <a:xfrm>
          <a:off x="0" y="0"/>
          <a:ext cx="0" cy="0"/>
          <a:chOff x="0" y="0"/>
          <a:chExt cx="0" cy="0"/>
        </a:xfrm>
      </p:grpSpPr>
      <p:sp>
        <p:nvSpPr>
          <p:cNvPr id="2" name="How I built it"/>
          <p:cNvSpPr txBox="1"/>
          <p:nvPr/>
        </p:nvSpPr>
        <p:spPr>
          <a:xfrm>
            <a:off x="609600" y="619125"/>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How I built it</a:t>
            </a:r>
            <a:endParaRPr lang="en-GB" sz="3600" b="1"/>
          </a:p>
        </p:txBody>
      </p:sp>
      <p:sp>
        <p:nvSpPr>
          <p:cNvPr id="3" name="Shape 3"/>
          <p:cNvSpPr/>
          <p:nvPr/>
        </p:nvSpPr>
        <p:spPr>
          <a:xfrm>
            <a:off x="609600" y="2228850"/>
            <a:ext cx="3219450" cy="1685925"/>
          </a:xfrm>
          <a:prstGeom prst="rect">
            <a:avLst/>
          </a:prstGeom>
          <a:solidFill>
            <a:srgbClr val="FFDDBE"/>
          </a:solidFill>
          <a:ln w="9525">
            <a:noFill/>
          </a:ln>
        </p:spPr>
      </p:sp>
      <p:sp>
        <p:nvSpPr>
          <p:cNvPr id="4" name="Browser extension"/>
          <p:cNvSpPr txBox="1"/>
          <p:nvPr/>
        </p:nvSpPr>
        <p:spPr>
          <a:xfrm>
            <a:off x="819150" y="2457450"/>
            <a:ext cx="2800350" cy="495300"/>
          </a:xfrm>
          <a:prstGeom prst="rect">
            <a:avLst/>
          </a:prstGeom>
          <a:noFill/>
          <a:ln>
            <a:noFill/>
          </a:ln>
        </p:spPr>
        <p:txBody>
          <a:bodyPr wrap="square" lIns="0" tIns="0" rIns="0" bIns="0" anchor="t"/>
          <a:lstStyle/>
          <a:p>
            <a:pPr algn="l">
              <a:lnSpc>
                <a:spcPct val="110000"/>
              </a:lnSpc>
            </a:pPr>
            <a:r>
              <a:rPr lang="en-GB" sz="2100" b="1">
                <a:solidFill>
                  <a:srgbClr val="201D1D"/>
                </a:solidFill>
                <a:latin typeface="Segoe UI"/>
                <a:ea typeface="Segoe UI"/>
                <a:cs typeface="Segoe UI"/>
              </a:rPr>
              <a:t xml:space="preserve">Browser extension</a:t>
            </a:r>
            <a:endParaRPr lang="en-GB" sz="2100" b="1"/>
          </a:p>
        </p:txBody>
      </p:sp>
      <p:sp>
        <p:nvSpPr>
          <p:cNvPr id="5" name="JavaScript Records and acts"/>
          <p:cNvSpPr txBox="1"/>
          <p:nvPr/>
        </p:nvSpPr>
        <p:spPr>
          <a:xfrm>
            <a:off x="819150" y="3133725"/>
            <a:ext cx="2800350" cy="685800"/>
          </a:xfrm>
          <a:prstGeom prst="rect">
            <a:avLst/>
          </a:prstGeom>
          <a:noFill/>
          <a:ln>
            <a:noFill/>
          </a:ln>
        </p:spPr>
        <p:txBody>
          <a:bodyPr wrap="square" lIns="0" tIns="0" rIns="0" bIns="0" anchor="t"/>
          <a:lstStyle/>
          <a:p>
            <a:pPr algn="l">
              <a:lnSpc>
                <a:spcPct val="110000"/>
              </a:lnSpc>
            </a:pPr>
            <a:r>
              <a:rPr lang="en-GB" sz="1725" b="0">
                <a:solidFill>
                  <a:srgbClr val="201D1D"/>
                </a:solidFill>
                <a:latin typeface="Segoe UI"/>
                <a:ea typeface="Segoe UI"/>
                <a:cs typeface="Segoe UI"/>
              </a:rPr>
              <a:t xml:space="preserve">JavaScript</a:t>
            </a:r>
            <a:endParaRPr lang="en-GB" sz="1725" b="0"/>
          </a:p>
          <a:p>
            <a:pPr algn="l">
              <a:lnSpc>
                <a:spcPct val="110000"/>
              </a:lnSpc>
            </a:pPr>
            <a:r>
              <a:rPr lang="en-GB" sz="1725" b="0">
                <a:solidFill>
                  <a:srgbClr val="201D1D"/>
                </a:solidFill>
                <a:latin typeface="Segoe UI"/>
                <a:ea typeface="Segoe UI"/>
                <a:cs typeface="Segoe UI"/>
              </a:rPr>
              <a:t xml:space="preserve">Records and acts</a:t>
            </a:r>
            <a:endParaRPr lang="en-GB" sz="1725" b="0"/>
          </a:p>
        </p:txBody>
      </p:sp>
      <p:sp>
        <p:nvSpPr>
          <p:cNvPr id="6" name="Shape 6"/>
          <p:cNvSpPr/>
          <p:nvPr/>
        </p:nvSpPr>
        <p:spPr>
          <a:xfrm>
            <a:off x="4486275" y="2228850"/>
            <a:ext cx="3219450" cy="1685925"/>
          </a:xfrm>
          <a:prstGeom prst="rect">
            <a:avLst/>
          </a:prstGeom>
          <a:solidFill>
            <a:srgbClr val="F4EDE5"/>
          </a:solidFill>
          <a:ln w="9525">
            <a:noFill/>
          </a:ln>
        </p:spPr>
      </p:sp>
      <p:sp>
        <p:nvSpPr>
          <p:cNvPr id="7" name="Desktop app"/>
          <p:cNvSpPr txBox="1"/>
          <p:nvPr/>
        </p:nvSpPr>
        <p:spPr>
          <a:xfrm>
            <a:off x="4695825" y="2457450"/>
            <a:ext cx="2800350" cy="495300"/>
          </a:xfrm>
          <a:prstGeom prst="rect">
            <a:avLst/>
          </a:prstGeom>
          <a:noFill/>
          <a:ln>
            <a:noFill/>
          </a:ln>
        </p:spPr>
        <p:txBody>
          <a:bodyPr wrap="square" lIns="0" tIns="0" rIns="0" bIns="0" anchor="t"/>
          <a:lstStyle/>
          <a:p>
            <a:pPr algn="l">
              <a:lnSpc>
                <a:spcPct val="110000"/>
              </a:lnSpc>
            </a:pPr>
            <a:r>
              <a:rPr lang="en-GB" sz="2100" b="1">
                <a:solidFill>
                  <a:srgbClr val="201D1D"/>
                </a:solidFill>
                <a:latin typeface="Segoe UI"/>
                <a:ea typeface="Segoe UI"/>
                <a:cs typeface="Segoe UI"/>
              </a:rPr>
              <a:t xml:space="preserve">Desktop app</a:t>
            </a:r>
            <a:endParaRPr lang="en-GB" sz="2100" b="1"/>
          </a:p>
        </p:txBody>
      </p:sp>
      <p:sp>
        <p:nvSpPr>
          <p:cNvPr id="8" name="C# / .NET 10 / WPF Reviews and validates"/>
          <p:cNvSpPr txBox="1"/>
          <p:nvPr/>
        </p:nvSpPr>
        <p:spPr>
          <a:xfrm>
            <a:off x="4695825" y="3133725"/>
            <a:ext cx="2800350" cy="685800"/>
          </a:xfrm>
          <a:prstGeom prst="rect">
            <a:avLst/>
          </a:prstGeom>
          <a:noFill/>
          <a:ln>
            <a:noFill/>
          </a:ln>
        </p:spPr>
        <p:txBody>
          <a:bodyPr wrap="square" lIns="0" tIns="0" rIns="0" bIns="0" anchor="t"/>
          <a:lstStyle/>
          <a:p>
            <a:pPr algn="l">
              <a:lnSpc>
                <a:spcPct val="110000"/>
              </a:lnSpc>
            </a:pPr>
            <a:r>
              <a:rPr lang="en-GB" sz="1725" b="0">
                <a:solidFill>
                  <a:srgbClr val="201D1D"/>
                </a:solidFill>
                <a:latin typeface="Segoe UI"/>
                <a:ea typeface="Segoe UI"/>
                <a:cs typeface="Segoe UI"/>
              </a:rPr>
              <a:t xml:space="preserve">C# / .NET 10 / WPF</a:t>
            </a:r>
            <a:endParaRPr lang="en-GB" sz="1725" b="0"/>
          </a:p>
          <a:p>
            <a:pPr algn="l">
              <a:lnSpc>
                <a:spcPct val="110000"/>
              </a:lnSpc>
            </a:pPr>
            <a:r>
              <a:rPr lang="en-GB" sz="1725" b="0">
                <a:solidFill>
                  <a:srgbClr val="201D1D"/>
                </a:solidFill>
                <a:latin typeface="Segoe UI"/>
                <a:ea typeface="Segoe UI"/>
                <a:cs typeface="Segoe UI"/>
              </a:rPr>
              <a:t xml:space="preserve">Reviews and validates</a:t>
            </a:r>
            <a:endParaRPr lang="en-GB" sz="1725" b="0"/>
          </a:p>
        </p:txBody>
      </p:sp>
      <p:sp>
        <p:nvSpPr>
          <p:cNvPr id="9" name="Shape 9"/>
          <p:cNvSpPr/>
          <p:nvPr/>
        </p:nvSpPr>
        <p:spPr>
          <a:xfrm>
            <a:off x="8362950" y="2228850"/>
            <a:ext cx="3219450" cy="1685925"/>
          </a:xfrm>
          <a:prstGeom prst="rect">
            <a:avLst/>
          </a:prstGeom>
          <a:solidFill>
            <a:srgbClr val="201D1D"/>
          </a:solidFill>
          <a:ln w="9525">
            <a:noFill/>
          </a:ln>
        </p:spPr>
      </p:sp>
      <p:sp>
        <p:nvSpPr>
          <p:cNvPr id="10" name="Local model"/>
          <p:cNvSpPr txBox="1"/>
          <p:nvPr/>
        </p:nvSpPr>
        <p:spPr>
          <a:xfrm>
            <a:off x="8572500" y="2457450"/>
            <a:ext cx="2800350" cy="495300"/>
          </a:xfrm>
          <a:prstGeom prst="rect">
            <a:avLst/>
          </a:prstGeom>
          <a:noFill/>
          <a:ln>
            <a:noFill/>
          </a:ln>
        </p:spPr>
        <p:txBody>
          <a:bodyPr wrap="square" lIns="0" tIns="0" rIns="0" bIns="0" anchor="t"/>
          <a:lstStyle/>
          <a:p>
            <a:pPr algn="l">
              <a:lnSpc>
                <a:spcPct val="110000"/>
              </a:lnSpc>
            </a:pPr>
            <a:r>
              <a:rPr lang="en-GB" sz="2100" b="1">
                <a:solidFill>
                  <a:srgbClr val="FFFEFA"/>
                </a:solidFill>
                <a:latin typeface="Segoe UI"/>
                <a:ea typeface="Segoe UI"/>
                <a:cs typeface="Segoe UI"/>
              </a:rPr>
              <a:t xml:space="preserve">Local model</a:t>
            </a:r>
            <a:endParaRPr lang="en-GB" sz="2100" b="1"/>
          </a:p>
        </p:txBody>
      </p:sp>
      <p:sp>
        <p:nvSpPr>
          <p:cNvPr id="11" name="Gemma 4 E2B llama.cpp / CPU"/>
          <p:cNvSpPr txBox="1"/>
          <p:nvPr/>
        </p:nvSpPr>
        <p:spPr>
          <a:xfrm>
            <a:off x="8572500" y="3133725"/>
            <a:ext cx="2800350" cy="685800"/>
          </a:xfrm>
          <a:prstGeom prst="rect">
            <a:avLst/>
          </a:prstGeom>
          <a:noFill/>
          <a:ln>
            <a:noFill/>
          </a:ln>
        </p:spPr>
        <p:txBody>
          <a:bodyPr wrap="square" lIns="0" tIns="0" rIns="0" bIns="0" anchor="t"/>
          <a:lstStyle/>
          <a:p>
            <a:pPr algn="l">
              <a:lnSpc>
                <a:spcPct val="110000"/>
              </a:lnSpc>
            </a:pPr>
            <a:r>
              <a:rPr lang="en-GB" sz="1725" b="0">
                <a:solidFill>
                  <a:srgbClr val="FFFEFA"/>
                </a:solidFill>
                <a:latin typeface="Segoe UI"/>
                <a:ea typeface="Segoe UI"/>
                <a:cs typeface="Segoe UI"/>
              </a:rPr>
              <a:t xml:space="preserve">Gemma 4 E2B</a:t>
            </a:r>
            <a:endParaRPr lang="en-GB" sz="1725" b="0"/>
          </a:p>
          <a:p>
            <a:pPr algn="l">
              <a:lnSpc>
                <a:spcPct val="110000"/>
              </a:lnSpc>
            </a:pPr>
            <a:r>
              <a:rPr lang="en-GB" sz="1725" b="0">
                <a:solidFill>
                  <a:srgbClr val="FFFEFA"/>
                </a:solidFill>
                <a:latin typeface="Segoe UI"/>
                <a:ea typeface="Segoe UI"/>
                <a:cs typeface="Segoe UI"/>
              </a:rPr>
              <a:t xml:space="preserve">llama.cpp / CPU</a:t>
            </a:r>
            <a:endParaRPr lang="en-GB" sz="1725" b="0"/>
          </a:p>
        </p:txBody>
      </p:sp>
      <p:sp>
        <p:nvSpPr>
          <p:cNvPr id="12" name="Shape 12"/>
          <p:cNvSpPr/>
          <p:nvPr/>
        </p:nvSpPr>
        <p:spPr>
          <a:xfrm>
            <a:off x="3943350" y="3048000"/>
            <a:ext cx="428625" cy="28575"/>
          </a:xfrm>
          <a:prstGeom prst="rect">
            <a:avLst/>
          </a:prstGeom>
          <a:solidFill>
            <a:srgbClr val="FF7A1A"/>
          </a:solidFill>
          <a:ln w="9525">
            <a:noFill/>
          </a:ln>
        </p:spPr>
      </p:sp>
      <p:sp>
        <p:nvSpPr>
          <p:cNvPr id="13" name="Shape 13"/>
          <p:cNvSpPr/>
          <p:nvPr/>
        </p:nvSpPr>
        <p:spPr>
          <a:xfrm>
            <a:off x="7820025" y="3048000"/>
            <a:ext cx="428625" cy="28575"/>
          </a:xfrm>
          <a:prstGeom prst="rect">
            <a:avLst/>
          </a:prstGeom>
          <a:solidFill>
            <a:srgbClr val="FF7A1A"/>
          </a:solidFill>
          <a:ln w="9525">
            <a:noFill/>
          </a:ln>
        </p:spPr>
      </p:sp>
      <p:sp>
        <p:nvSpPr>
          <p:cNvPr id="14" name="Gemma understands the demonstration and separates fixed"/>
          <p:cNvSpPr txBox="1"/>
          <p:nvPr/>
        </p:nvSpPr>
        <p:spPr>
          <a:xfrm>
            <a:off x="609600" y="4410075"/>
            <a:ext cx="10972800" cy="1000125"/>
          </a:xfrm>
          <a:prstGeom prst="rect">
            <a:avLst/>
          </a:prstGeom>
          <a:noFill/>
          <a:ln>
            <a:noFill/>
          </a:ln>
        </p:spPr>
        <p:txBody>
          <a:bodyPr wrap="square" lIns="0" tIns="0" rIns="0" bIns="0" anchor="t"/>
          <a:lstStyle/>
          <a:p>
            <a:pPr algn="l">
              <a:lnSpc>
                <a:spcPct val="110000"/>
              </a:lnSpc>
            </a:pPr>
            <a:r>
              <a:rPr lang="en-GB" sz="2475" b="1">
                <a:solidFill>
                  <a:srgbClr val="201D1D"/>
                </a:solidFill>
                <a:latin typeface="Segoe UI"/>
                <a:ea typeface="Segoe UI"/>
                <a:cs typeface="Segoe UI"/>
              </a:rPr>
              <a:t xml:space="preserve">Gemma understands the demonstration</a:t>
            </a:r>
            <a:endParaRPr lang="en-GB" sz="2475" b="1"/>
          </a:p>
          <a:p>
            <a:pPr algn="l">
              <a:lnSpc>
                <a:spcPct val="110000"/>
              </a:lnSpc>
            </a:pPr>
            <a:r>
              <a:rPr lang="en-GB" sz="2475" b="1">
                <a:solidFill>
                  <a:srgbClr val="201D1D"/>
                </a:solidFill>
                <a:latin typeface="Segoe UI"/>
                <a:ea typeface="Segoe UI"/>
                <a:cs typeface="Segoe UI"/>
              </a:rPr>
              <a:t xml:space="preserve">and separates fixed steps from new inputs.</a:t>
            </a:r>
            <a:endParaRPr lang="en-GB" sz="2475" b="1"/>
          </a:p>
        </p:txBody>
      </p:sp>
      <p:sp>
        <p:nvSpPr>
          <p:cNvPr id="15" name="I built the recorder, workflow compiler, code-transfer "/>
          <p:cNvSpPr txBox="1"/>
          <p:nvPr/>
        </p:nvSpPr>
        <p:spPr>
          <a:xfrm>
            <a:off x="609600" y="5772150"/>
            <a:ext cx="10972800" cy="685800"/>
          </a:xfrm>
          <a:prstGeom prst="rect">
            <a:avLst/>
          </a:prstGeom>
          <a:noFill/>
          <a:ln>
            <a:noFill/>
          </a:ln>
        </p:spPr>
        <p:txBody>
          <a:bodyPr wrap="square" lIns="0" tIns="0" rIns="0" bIns="0" anchor="t"/>
          <a:lstStyle/>
          <a:p>
            <a:pPr algn="l">
              <a:lnSpc>
                <a:spcPct val="110000"/>
              </a:lnSpc>
            </a:pPr>
            <a:r>
              <a:rPr lang="en-GB" sz="2025" b="0">
                <a:solidFill>
                  <a:srgbClr val="201D1D"/>
                </a:solidFill>
                <a:latin typeface="Segoe UI"/>
                <a:ea typeface="Segoe UI"/>
                <a:cs typeface="Segoe UI"/>
              </a:rPr>
              <a:t xml:space="preserve">I built the recorder, workflow compiler, code-transfer logic and runtime manager.</a:t>
            </a:r>
            <a:endParaRPr lang="en-GB" sz="2025" b="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1">
  <p:cSld name="What works and what comes next">
    <p:bg>
      <p:bgPr>
        <a:solidFill>
          <a:srgbClr val="FFFEFA"/>
        </a:solidFill>
        <a:effectLst/>
      </p:bgPr>
    </p:bg>
    <p:spTree>
      <p:nvGrpSpPr>
        <p:cNvPr id="1" name=""/>
        <p:cNvGrpSpPr/>
        <p:nvPr/>
      </p:nvGrpSpPr>
      <p:grpSpPr>
        <a:xfrm>
          <a:off x="0" y="0"/>
          <a:ext cx="0" cy="0"/>
          <a:chOff x="0" y="0"/>
          <a:chExt cx="0" cy="0"/>
        </a:xfrm>
      </p:grpSpPr>
      <p:sp>
        <p:nvSpPr>
          <p:cNvPr id="2" name="What works and what comes next"/>
          <p:cNvSpPr txBox="1"/>
          <p:nvPr/>
        </p:nvSpPr>
        <p:spPr>
          <a:xfrm>
            <a:off x="609600" y="619125"/>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What works and what comes next</a:t>
            </a:r>
            <a:endParaRPr lang="en-GB" sz="3600" b="1"/>
          </a:p>
        </p:txBody>
      </p:sp>
      <p:sp>
        <p:nvSpPr>
          <p:cNvPr id="3" name="Implemented"/>
          <p:cNvSpPr txBox="1"/>
          <p:nvPr/>
        </p:nvSpPr>
        <p:spPr>
          <a:xfrm>
            <a:off x="609600" y="2257425"/>
            <a:ext cx="5143500" cy="571500"/>
          </a:xfrm>
          <a:prstGeom prst="rect">
            <a:avLst/>
          </a:prstGeom>
          <a:noFill/>
          <a:ln>
            <a:noFill/>
          </a:ln>
        </p:spPr>
        <p:txBody>
          <a:bodyPr wrap="square" lIns="0" tIns="0" rIns="0" bIns="0" anchor="t"/>
          <a:lstStyle/>
          <a:p>
            <a:pPr algn="l">
              <a:lnSpc>
                <a:spcPct val="110000"/>
              </a:lnSpc>
            </a:pPr>
            <a:r>
              <a:rPr lang="en-GB" sz="2625" b="1">
                <a:solidFill>
                  <a:srgbClr val="201D1D"/>
                </a:solidFill>
                <a:latin typeface="Segoe UI"/>
                <a:ea typeface="Segoe UI"/>
                <a:cs typeface="Segoe UI"/>
              </a:rPr>
              <a:t xml:space="preserve">Implemented</a:t>
            </a:r>
            <a:endParaRPr lang="en-GB" sz="2625" b="1"/>
          </a:p>
        </p:txBody>
      </p:sp>
      <p:sp>
        <p:nvSpPr>
          <p:cNvPr id="4" name="Task recording and workflow review Learning with local "/>
          <p:cNvSpPr txBox="1"/>
          <p:nvPr/>
        </p:nvSpPr>
        <p:spPr>
          <a:xfrm>
            <a:off x="609600" y="3143250"/>
            <a:ext cx="5143500" cy="2428875"/>
          </a:xfrm>
          <a:prstGeom prst="rect">
            <a:avLst/>
          </a:prstGeom>
          <a:noFill/>
          <a:ln>
            <a:noFill/>
          </a:ln>
        </p:spPr>
        <p:txBody>
          <a:bodyPr wrap="square" lIns="0" tIns="0" rIns="0" bIns="0" anchor="t"/>
          <a:lstStyle/>
          <a:p>
            <a:pPr algn="l">
              <a:lnSpc>
                <a:spcPct val="110000"/>
              </a:lnSpc>
            </a:pPr>
            <a:r>
              <a:rPr lang="en-GB" sz="2100" b="0">
                <a:solidFill>
                  <a:srgbClr val="201D1D"/>
                </a:solidFill>
                <a:latin typeface="Segoe UI"/>
                <a:ea typeface="Segoe UI"/>
                <a:cs typeface="Segoe UI"/>
              </a:rPr>
              <a:t xml:space="preserve">Task recording and workflow review</a:t>
            </a:r>
            <a:endParaRPr lang="en-GB" sz="2100" b="0"/>
          </a:p>
          <a:p>
            <a:pPr algn="l">
              <a:lnSpc>
                <a:spcPct val="110000"/>
              </a:lnSpc>
            </a:pPr>
            <a:r>
              <a:rPr lang="en-GB" sz="2100" b="0">
                <a:solidFill>
                  <a:srgbClr val="201D1D"/>
                </a:solidFill>
                <a:latin typeface="Segoe UI"/>
                <a:ea typeface="Segoe UI"/>
                <a:cs typeface="Segoe UI"/>
              </a:rPr>
              <a:t xml:space="preserve">Learning with local Gemma</a:t>
            </a:r>
            <a:endParaRPr lang="en-GB" sz="2100" b="0"/>
          </a:p>
          <a:p>
            <a:pPr algn="l">
              <a:lnSpc>
                <a:spcPct val="110000"/>
              </a:lnSpc>
            </a:pPr>
            <a:r>
              <a:rPr lang="en-GB" sz="2100" b="0">
                <a:solidFill>
                  <a:srgbClr val="201D1D"/>
                </a:solidFill>
                <a:latin typeface="Segoe UI"/>
                <a:ea typeface="Segoe UI"/>
                <a:cs typeface="Segoe UI"/>
              </a:rPr>
              <a:t xml:space="preserve">Saved workflow execution</a:t>
            </a:r>
            <a:endParaRPr lang="en-GB" sz="2100" b="0"/>
          </a:p>
          <a:p>
            <a:pPr algn="l">
              <a:lnSpc>
                <a:spcPct val="110000"/>
              </a:lnSpc>
            </a:pPr>
            <a:r>
              <a:rPr lang="en-GB" sz="2100" b="0">
                <a:solidFill>
                  <a:srgbClr val="201D1D"/>
                </a:solidFill>
                <a:latin typeface="Segoe UI"/>
                <a:ea typeface="Segoe UI"/>
                <a:cs typeface="Segoe UI"/>
              </a:rPr>
              <a:t xml:space="preserve">Fresh-code checks on test pages</a:t>
            </a:r>
            <a:endParaRPr lang="en-GB" sz="2100" b="0"/>
          </a:p>
        </p:txBody>
      </p:sp>
      <p:sp>
        <p:nvSpPr>
          <p:cNvPr id="5" name="Next"/>
          <p:cNvSpPr txBox="1"/>
          <p:nvPr/>
        </p:nvSpPr>
        <p:spPr>
          <a:xfrm>
            <a:off x="6419850" y="2257425"/>
            <a:ext cx="5162550" cy="571500"/>
          </a:xfrm>
          <a:prstGeom prst="rect">
            <a:avLst/>
          </a:prstGeom>
          <a:noFill/>
          <a:ln>
            <a:noFill/>
          </a:ln>
        </p:spPr>
        <p:txBody>
          <a:bodyPr wrap="square" lIns="0" tIns="0" rIns="0" bIns="0" anchor="t"/>
          <a:lstStyle/>
          <a:p>
            <a:pPr algn="l">
              <a:lnSpc>
                <a:spcPct val="110000"/>
              </a:lnSpc>
            </a:pPr>
            <a:r>
              <a:rPr lang="en-GB" sz="2625" b="1">
                <a:solidFill>
                  <a:srgbClr val="201D1D"/>
                </a:solidFill>
                <a:latin typeface="Segoe UI"/>
                <a:ea typeface="Segoe UI"/>
                <a:cs typeface="Segoe UI"/>
              </a:rPr>
              <a:t xml:space="preserve">Next</a:t>
            </a:r>
            <a:endParaRPr lang="en-GB" sz="2625" b="1"/>
          </a:p>
        </p:txBody>
      </p:sp>
      <p:sp>
        <p:nvSpPr>
          <p:cNvPr id="6" name="Test real university and WhatsApp flows Measure perform"/>
          <p:cNvSpPr txBox="1"/>
          <p:nvPr/>
        </p:nvSpPr>
        <p:spPr>
          <a:xfrm>
            <a:off x="6419850" y="3143250"/>
            <a:ext cx="5162550" cy="2428875"/>
          </a:xfrm>
          <a:prstGeom prst="rect">
            <a:avLst/>
          </a:prstGeom>
          <a:noFill/>
          <a:ln>
            <a:noFill/>
          </a:ln>
        </p:spPr>
        <p:txBody>
          <a:bodyPr wrap="square" lIns="0" tIns="0" rIns="0" bIns="0" anchor="t"/>
          <a:lstStyle/>
          <a:p>
            <a:pPr algn="l">
              <a:lnSpc>
                <a:spcPct val="110000"/>
              </a:lnSpc>
            </a:pPr>
            <a:r>
              <a:rPr lang="en-GB" sz="2100" b="0">
                <a:solidFill>
                  <a:srgbClr val="201D1D"/>
                </a:solidFill>
                <a:latin typeface="Segoe UI"/>
                <a:ea typeface="Segoe UI"/>
                <a:cs typeface="Segoe UI"/>
              </a:rPr>
              <a:t xml:space="preserve">Test real university and WhatsApp flows</a:t>
            </a:r>
            <a:endParaRPr lang="en-GB" sz="2100" b="0"/>
          </a:p>
          <a:p>
            <a:pPr algn="l">
              <a:lnSpc>
                <a:spcPct val="110000"/>
              </a:lnSpc>
            </a:pPr>
            <a:r>
              <a:rPr lang="en-GB" sz="2100" b="0">
                <a:solidFill>
                  <a:srgbClr val="201D1D"/>
                </a:solidFill>
                <a:latin typeface="Segoe UI"/>
                <a:ea typeface="Segoe UI"/>
                <a:cs typeface="Segoe UI"/>
              </a:rPr>
              <a:t xml:space="preserve">Measure performance on my laptop</a:t>
            </a:r>
            <a:endParaRPr lang="en-GB" sz="2100" b="0"/>
          </a:p>
          <a:p>
            <a:pPr algn="l">
              <a:lnSpc>
                <a:spcPct val="110000"/>
              </a:lnSpc>
            </a:pPr>
            <a:r>
              <a:rPr lang="en-GB" sz="2100" b="0">
                <a:solidFill>
                  <a:srgbClr val="201D1D"/>
                </a:solidFill>
                <a:latin typeface="Segoe UI"/>
                <a:ea typeface="Segoe UI"/>
                <a:cs typeface="Segoe UI"/>
              </a:rPr>
              <a:t xml:space="preserve">Fix remaining end-to-end QA issues</a:t>
            </a:r>
            <a:endParaRPr lang="en-GB" sz="2100" b="0"/>
          </a:p>
        </p:txBody>
      </p:sp>
      <p:sp>
        <p:nvSpPr>
          <p:cNvPr id="7" name="Shape 7"/>
          <p:cNvSpPr/>
          <p:nvPr/>
        </p:nvSpPr>
        <p:spPr>
          <a:xfrm>
            <a:off x="609600" y="5857875"/>
            <a:ext cx="10972800" cy="12382"/>
          </a:xfrm>
          <a:prstGeom prst="rect">
            <a:avLst/>
          </a:prstGeom>
          <a:solidFill>
            <a:srgbClr val="E7DDD3"/>
          </a:solidFill>
          <a:ln w="9525">
            <a:noFill/>
          </a:ln>
        </p:spPr>
      </p:sp>
      <p:sp>
        <p:nvSpPr>
          <p:cNvPr id="8" name="github.com/MLouchini/Kopi"/>
          <p:cNvSpPr txBox="1"/>
          <p:nvPr/>
        </p:nvSpPr>
        <p:spPr>
          <a:xfrm>
            <a:off x="609600" y="6134100"/>
            <a:ext cx="10972800" cy="400050"/>
          </a:xfrm>
          <a:prstGeom prst="rect">
            <a:avLst/>
          </a:prstGeom>
          <a:noFill/>
          <a:ln>
            <a:noFill/>
          </a:ln>
        </p:spPr>
        <p:txBody>
          <a:bodyPr wrap="square" lIns="0" tIns="0" rIns="0" bIns="0" anchor="t"/>
          <a:lstStyle/>
          <a:p>
            <a:pPr algn="l">
              <a:lnSpc>
                <a:spcPct val="110000"/>
              </a:lnSpc>
            </a:pPr>
            <a:r>
              <a:rPr lang="en-GB" sz="1875" b="1">
                <a:solidFill>
                  <a:srgbClr val="FF7A1A"/>
                </a:solidFill>
                <a:latin typeface="Segoe UI"/>
                <a:ea typeface="Segoe UI"/>
                <a:cs typeface="Segoe UI"/>
              </a:rPr>
              <a:t xml:space="preserve">github.com/MLouchini/Kopi</a:t>
            </a:r>
            <a:endParaRPr lang="en-GB" sz="1875" b="1"/>
          </a:p>
        </p:txBody>
      </p:sp>
    </p:spTree>
  </p:cSld>
  <p:clrMapOvr>
    <a:masterClrMapping/>
  </p:clrMapOvr>
</p:sld>
</file>

<file path=ppt/theme/theme1.xml><?xml version="1.0" encoding="utf-8"?>
<a:theme xmlns:a="http://schemas.openxmlformats.org/drawingml/2006/main" name="Kopi">
  <a:themeElements>
    <a:clrScheme name="Kopi">
      <a:dk1>
        <a:srgbClr val="201D1D"/>
      </a:dk1>
      <a:lt1>
        <a:srgbClr val="FFFEFA"/>
      </a:lt1>
      <a:dk2>
        <a:srgbClr val="776B62"/>
      </a:dk2>
      <a:lt2>
        <a:srgbClr val="FFDDBE"/>
      </a:lt2>
      <a:accent1>
        <a:srgbClr val="FF7A1A"/>
      </a:accent1>
      <a:accent2>
        <a:srgbClr val="FFDDBE"/>
      </a:accent2>
      <a:accent3>
        <a:srgbClr val="201D1D"/>
      </a:accent3>
      <a:accent4>
        <a:srgbClr val="BD6933"/>
      </a:accent4>
      <a:accent5>
        <a:srgbClr val="F4EDE5"/>
      </a:accent5>
      <a:accent6>
        <a:srgbClr val="776B62"/>
      </a:accent6>
      <a:hlink>
        <a:srgbClr val="B24E00"/>
      </a:hlink>
      <a:folHlink>
        <a:srgbClr val="776B62"/>
      </a:folHlink>
    </a:clrScheme>
    <a:fontScheme name="Kopi">
      <a:majorFont>
        <a:latin typeface="Segoe UI"/>
        <a:ea typeface=""/>
        <a:cs typeface=""/>
      </a:majorFont>
      <a:minorFont>
        <a:latin typeface="Segoe UI"/>
        <a:ea typeface=""/>
        <a:cs typeface=""/>
      </a:minorFont>
    </a:fontScheme>
    <a:fmtScheme name="Kopi">
      <a:fillStyleLst>
        <a:solidFill>
          <a:srgbClr val="FFFEFA"/>
        </a:solidFill>
        <a:solidFill>
          <a:srgbClr val="FF7A1A"/>
        </a:solidFill>
        <a:solidFill>
          <a:srgbClr val="FFDDBE"/>
        </a:solidFill>
      </a:fillStyleLst>
      <a:lnStyleLst>
        <a:ln w="9525">
          <a:solidFill>
            <a:srgbClr val="201D1D"/>
          </a:solidFill>
          <a:prstDash val="solid"/>
        </a:ln>
        <a:ln w="19050">
          <a:solidFill>
            <a:srgbClr val="201D1D"/>
          </a:solidFill>
          <a:prstDash val="solid"/>
        </a:ln>
        <a:ln w="28575">
          <a:solidFill>
            <a:srgbClr val="201D1D"/>
          </a:solidFill>
          <a:prstDash val="solid"/>
        </a:ln>
      </a:lnStyleLst>
      <a:effectStyleLst>
        <a:effectStyle>
          <a:effectLst/>
        </a:effectStyle>
        <a:effectStyle>
          <a:effectLst/>
        </a:effectStyle>
        <a:effectStyle>
          <a:effectLst/>
        </a:effectStyle>
      </a:effectStyleLst>
      <a:bgFillStyleLst>
        <a:solidFill>
          <a:srgbClr val="FFFEFA"/>
        </a:solidFill>
        <a:solidFill>
          <a:srgbClr val="FFFEFA"/>
        </a:solidFill>
        <a:solidFill>
          <a:srgbClr val="FFFEFA"/>
        </a:solidFill>
      </a:bgFillStyleLst>
    </a:fmtScheme>
  </a:themeElements>
</a:theme>
</file>

<file path=docProps/app.xml><?xml version="1.0" encoding="utf-8"?>
<Properties xmlns="http://schemas.openxmlformats.org/officeDocument/2006/extended-properties">
  <Application>Kopi</Application>
  <PresentationFormat>On-screen Show (16:9)</PresentationFormat>
  <Slides>8</Slides>
  <Notes>8</Notes>
</Properties>
</file>

<file path=docProps/core.xml><?xml version="1.0" encoding="utf-8"?>
<cp:coreProperties xmlns:cp="http://schemas.openxmlformats.org/package/2006/metadata/core-properties" xmlns:dc="http://purl.org/dc/elements/1.1/">
  <dc:title>Kopi — Hackathon Pitch</dc:title>
  <dc:creator>Kopi</dc:creator>
  <dc:subject>Local AI browser workflow learner</dc:subject>
</cp:coreProperties>
</file>
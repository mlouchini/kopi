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Lst>
  <p:sldSz cx="12192000" cy="6858000" type="screen16x9"/>
  <p:notesSz cx="6858000" cy="9144000"/>
  <p:defaultTextStyle>
    <a:defPPr>
      <a:defRPr lang="en-GB">
        <a:latin typeface="Segoe UI"/>
      </a:defRPr>
    </a:defPPr>
  </p:defaultTextStyle>
</p:presentation>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txBox="1"/>
          <p:nvPr>
            <p:ph type="body" idx="1"/>
          </p:nvPr>
        </p:nvSpPr>
        <p:spPr>
          <a:xfrm>
            <a:off x="457200" y="952500"/>
            <a:ext cx="5943600" cy="7429500"/>
          </a:xfrm>
        </p:spPr>
        <p:txBody>
          <a:bodyPr/>
          <a:lstStyle/>
          <a:p>
            <a:pPr algn="l">
              <a:lnSpc>
                <a:spcPct val="110000"/>
              </a:lnSpc>
            </a:pPr>
            <a:r>
              <a:rPr lang="en-GB" sz="1200" b="0">
                <a:solidFill>
                  <a:srgbClr val="201D1D"/>
                </a:solidFill>
                <a:latin typeface="Segoe UI"/>
                <a:ea typeface="Segoe UI"/>
                <a:cs typeface="Segoe UI"/>
              </a:rPr>
              <a:t xml:space="preserve">00:00–00:15 / 15 seconds</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Kopi learns a browser routine from a demonstration, then helps repeat it with new inputs in the browser you already use. The local Gemma model supplies the understanding. You review what it learns.</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Sources</a:t>
            </a:r>
            <a:endParaRPr lang="en-GB" sz="1200" b="0"/>
          </a:p>
          <a:p>
            <a:pPr algn="l">
              <a:lnSpc>
                <a:spcPct val="110000"/>
              </a:lnSpc>
            </a:pPr>
            <a:r>
              <a:rPr lang="en-GB" sz="1200" b="0">
                <a:solidFill>
                  <a:srgbClr val="201D1D"/>
                </a:solidFill>
                <a:latin typeface="Segoe UI"/>
                <a:ea typeface="Segoe UI"/>
                <a:cs typeface="Segoe UI"/>
              </a:rPr>
              <a:t xml:space="preserve">https://github.com/MLouchini/Kopi</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https://github.com/MLouchini/Kopi/blob/main/README.md</a:t>
            </a:r>
            <a:endParaRPr lang="en-GB" sz="1200" b="0"/>
          </a:p>
          <a:p>
            <a:pPr algn="l">
              <a:lnSpc>
                <a:spcPct val="110000"/>
              </a:lnSpc>
            </a:pPr>
            <a:r>
              <a:rPr lang="en-GB" sz="1200" b="0">
                <a:solidFill>
                  <a:srgbClr val="201D1D"/>
                </a:solidFill>
                <a:latin typeface="Segoe UI"/>
                <a:ea typeface="Segoe UI"/>
                <a:cs typeface="Segoe UI"/>
              </a:rPr>
              <a:t xml:space="preserve">Brand: site/style.css and site/assets. Segoe UI is the site’s installed fallback font.</a:t>
            </a:r>
            <a:endParaRPr lang="en-GB" sz="1200" b="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txBox="1"/>
          <p:nvPr>
            <p:ph type="body" idx="1"/>
          </p:nvPr>
        </p:nvSpPr>
        <p:spPr>
          <a:xfrm>
            <a:off x="457200" y="952500"/>
            <a:ext cx="5943600" cy="7429500"/>
          </a:xfrm>
        </p:spPr>
        <p:txBody>
          <a:bodyPr/>
          <a:lstStyle/>
          <a:p>
            <a:pPr algn="l">
              <a:lnSpc>
                <a:spcPct val="110000"/>
              </a:lnSpc>
            </a:pPr>
            <a:r>
              <a:rPr lang="en-GB" sz="1200" b="0">
                <a:solidFill>
                  <a:srgbClr val="201D1D"/>
                </a:solidFill>
                <a:latin typeface="Segoe UI"/>
                <a:ea typeface="Segoe UI"/>
                <a:cs typeface="Segoe UI"/>
              </a:rPr>
              <a:t xml:space="preserve">00:15–00:40 / 25 seconds</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A lot of browser work is small but repetitive: find the right page, transfer information and complete the same sequence again. Traditional scripts need someone to encode those steps. Our goal is to let the user teach a supported task by doing it. This is a problem statement, not a measured time-saving claim.</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Sources</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https://github.com/MLouchini/Kopi/blob/main/README.md</a:t>
            </a:r>
            <a:endParaRPr lang="en-GB" sz="1200" b="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txBox="1"/>
          <p:nvPr>
            <p:ph type="body" idx="1"/>
          </p:nvPr>
        </p:nvSpPr>
        <p:spPr>
          <a:xfrm>
            <a:off x="457200" y="952500"/>
            <a:ext cx="5943600" cy="7429500"/>
          </a:xfrm>
        </p:spPr>
        <p:txBody>
          <a:bodyPr/>
          <a:lstStyle/>
          <a:p>
            <a:pPr algn="l">
              <a:lnSpc>
                <a:spcPct val="110000"/>
              </a:lnSpc>
            </a:pPr>
            <a:r>
              <a:rPr lang="en-GB" sz="1200" b="0">
                <a:solidFill>
                  <a:srgbClr val="201D1D"/>
                </a:solidFill>
                <a:latin typeface="Segoe UI"/>
                <a:ea typeface="Segoe UI"/>
                <a:cs typeface="Segoe UI"/>
              </a:rPr>
              <a:t xml:space="preserve">00:40–01:10 / 30 seconds</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The user opts into recording and completes a task. Gemma proposes a structured workflow, separates changing inputs from fixed steps, and asks about missing details. The user reviews and approves it. A later run uses fresh values. Normal runs require approval. A supported fresh-value workflow can run automatically after the user explicitly enables it once.</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Sources</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https://github.com/MLouchini/Kopi/blob/main/HANDOFF.md</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https://github.com/MLouchini/Kopi/blob/main/docs/verification-workflows.md</a:t>
            </a:r>
            <a:endParaRPr lang="en-GB" sz="1200" b="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txBox="1"/>
          <p:nvPr>
            <p:ph type="body" idx="1"/>
          </p:nvPr>
        </p:nvSpPr>
        <p:spPr>
          <a:xfrm>
            <a:off x="457200" y="952500"/>
            <a:ext cx="5943600" cy="7429500"/>
          </a:xfrm>
        </p:spPr>
        <p:txBody>
          <a:bodyPr/>
          <a:lstStyle/>
          <a:p>
            <a:pPr algn="l">
              <a:lnSpc>
                <a:spcPct val="110000"/>
              </a:lnSpc>
            </a:pPr>
            <a:r>
              <a:rPr lang="en-GB" sz="1200" b="0">
                <a:solidFill>
                  <a:srgbClr val="201D1D"/>
                </a:solidFill>
                <a:latin typeface="Segoe UI"/>
                <a:ea typeface="Segoe UI"/>
                <a:cs typeface="Segoe UI"/>
              </a:rPr>
              <a:t xml:space="preserve">01:10–01:55 / 45 seconds</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Use the tested local browser fixture for the demo. Start with a saved workflow and a new challenge. Show the source and destination identities, request a new code, then show a new matching timestamped message, submission and an independent success marker. Show stale or ambiguous messages stopping a run if time permits. Codes remain in extension memory and the destination DOM. They are excluded from model evidence, saved variables and receipts. Actual WhatsApp Web and university accounts remain unvalidated, so do not narrate this storyboard as a live-account result. This slide is an editable process illustration, not an application screenshot.</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Sources</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https://github.com/MLouchini/Kopi/blob/main/HANDOFF.md</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https://github.com/MLouchini/Kopi/blob/main/extension/fresh.js</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https://github.com/MLouchini/Kopi/blob/main/tests/Kopi.Tests/BrowserTests.cs</a:t>
            </a:r>
            <a:endParaRPr lang="en-GB" sz="1200" b="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txBox="1"/>
          <p:nvPr>
            <p:ph type="body" idx="1"/>
          </p:nvPr>
        </p:nvSpPr>
        <p:spPr>
          <a:xfrm>
            <a:off x="457200" y="952500"/>
            <a:ext cx="5943600" cy="7429500"/>
          </a:xfrm>
        </p:spPr>
        <p:txBody>
          <a:bodyPr/>
          <a:lstStyle/>
          <a:p>
            <a:pPr algn="l">
              <a:lnSpc>
                <a:spcPct val="110000"/>
              </a:lnSpc>
            </a:pPr>
            <a:r>
              <a:rPr lang="en-GB" sz="1200" b="0">
                <a:solidFill>
                  <a:srgbClr val="201D1D"/>
                </a:solidFill>
                <a:latin typeface="Segoe UI"/>
                <a:ea typeface="Segoe UI"/>
                <a:cs typeface="Segoe UI"/>
              </a:rPr>
              <a:t xml:space="preserve">01:55–02:45 / 50 seconds</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The browser extension is the production adapter because it preserves the user’s existing signed-in Chrome or Edge session. It sends bounded evidence through an authenticated loopback bridge to the .NET desktop. Local Gemma through llama.cpp handles task discovery, clarification, extraction and semantic matching. Typed validation and a compiler bind the proposal to observed controls, identities, timestamps and success markers. Execution uses fixed browser primitives, not arbitrary code generated by the model. Actual verification codes stay in the extension and target DOM. There are no cloud inference calls. Browser websites still need their usual network access.</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Sources</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https://github.com/MLouchini/Kopi/blob/main/docs/architecture.md</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https://github.com/MLouchini/Kopi/blob/main/src/Kopi.Core/FreshCompiler.cs</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https://github.com/MLouchini/Kopi/blob/main/model-manifest.json</a:t>
            </a:r>
            <a:endParaRPr lang="en-GB" sz="1200" b="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txBox="1"/>
          <p:nvPr>
            <p:ph type="body" idx="1"/>
          </p:nvPr>
        </p:nvSpPr>
        <p:spPr>
          <a:xfrm>
            <a:off x="457200" y="952500"/>
            <a:ext cx="5943600" cy="7429500"/>
          </a:xfrm>
        </p:spPr>
        <p:txBody>
          <a:bodyPr/>
          <a:lstStyle/>
          <a:p>
            <a:pPr algn="l">
              <a:lnSpc>
                <a:spcPct val="110000"/>
              </a:lnSpc>
            </a:pPr>
            <a:r>
              <a:rPr lang="en-GB" sz="1200" b="0">
                <a:solidFill>
                  <a:srgbClr val="201D1D"/>
                </a:solidFill>
                <a:latin typeface="Segoe UI"/>
                <a:ea typeface="Segoe UI"/>
                <a:cs typeface="Segoe UI"/>
              </a:rPr>
              <a:t xml:space="preserve">02:45–03:30 / 45 seconds</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Our original work is the harness around the model. Discovery and fresh-task semantics compile into executable bindings grounded in a demonstration. The fresh-transfer coordinator establishes a baseline, requests a new value and rejects stale or ambiguous messages. Receipts block blind duplicate retries after an uncertain result. The runtime downloads pinned weights and native binaries with hash verification, resumes partial downloads and handles startup and shutdown. We built these integrations around Gemma and llama.cpp. We did not train the foundation model.</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Sources</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https://github.com/MLouchini/Kopi/blob/main/src/Kopi.Core/FreshCompiler.cs</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https://github.com/MLouchini/Kopi/blob/main/src/Kopi.Core/VerifiedDownload.cs</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https://github.com/MLouchini/Kopi/blob/main/extension/fresh.js</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https://github.com/MLouchini/Kopi/blob/main/HANDOFF.md</a:t>
            </a:r>
            <a:endParaRPr lang="en-GB" sz="1200" b="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txBox="1"/>
          <p:nvPr>
            <p:ph type="body" idx="1"/>
          </p:nvPr>
        </p:nvSpPr>
        <p:spPr>
          <a:xfrm>
            <a:off x="457200" y="952500"/>
            <a:ext cx="5943600" cy="7429500"/>
          </a:xfrm>
        </p:spPr>
        <p:txBody>
          <a:bodyPr/>
          <a:lstStyle/>
          <a:p>
            <a:pPr algn="l">
              <a:lnSpc>
                <a:spcPct val="110000"/>
              </a:lnSpc>
            </a:pPr>
            <a:r>
              <a:rPr lang="en-GB" sz="1200" b="0">
                <a:solidFill>
                  <a:srgbClr val="201D1D"/>
                </a:solidFill>
                <a:latin typeface="Segoe UI"/>
                <a:ea typeface="Segoe UI"/>
                <a:cs typeface="Segoe UI"/>
              </a:rPr>
              <a:t xml:space="preserve">03:30–04:10 / 40 seconds</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The handoff records 19 supported core, browser and privacy tests and three real local-Gemma integration tests. These are different suites and should not be added into a universal success rate. Windows build and QA has passed. The expanded two-pass saved-rule and WhatsApp-style model run 40097950425 completed with failure, checked on 24 October 2026 while preparing this presentation. Earlier successful native and browser tests do not establish that this expanded pipeline passes. Real WhatsApp, university and Google Sheets accounts and the personal laptop still need acceptance testing. No adoption or time-saving data is claimed.</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Sources</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https://github.com/MLouchini/Kopi/blob/main/HANDOFF.md</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https://github.com/MLouchini/Kopi/blob/main/docs/qa.md</a:t>
            </a:r>
            <a:endParaRPr lang="en-GB" sz="1200" b="0"/>
          </a:p>
          <a:p>
            <a:pPr algn="l">
              <a:lnSpc>
                <a:spcPct val="110000"/>
              </a:lnSpc>
            </a:pPr>
            <a:r>
              <a:rPr lang="en-GB" sz="1200" b="0">
                <a:solidFill>
                  <a:srgbClr val="201D1D"/>
                </a:solidFill>
                <a:latin typeface="Segoe UI"/>
                <a:ea typeface="Segoe UI"/>
                <a:cs typeface="Segoe UI"/>
              </a:rPr>
              <a:t xml:space="preserve">https://github.com/MLouchini/Kopi/actions/runs/40102091450</a:t>
            </a:r>
            <a:endParaRPr lang="en-GB" sz="1200" b="0"/>
          </a:p>
          <a:p>
            <a:pPr algn="l">
              <a:lnSpc>
                <a:spcPct val="110000"/>
              </a:lnSpc>
            </a:pPr>
            <a:r>
              <a:rPr lang="en-GB" sz="1200" b="0">
                <a:solidFill>
                  <a:srgbClr val="201D1D"/>
                </a:solidFill>
                <a:latin typeface="Segoe UI"/>
                <a:ea typeface="Segoe UI"/>
                <a:cs typeface="Segoe UI"/>
              </a:rPr>
              <a:t xml:space="preserve">https://github.com/MLouchini/Kopi/actions/runs/40097950425</a:t>
            </a:r>
            <a:endParaRPr lang="en-GB" sz="1200" b="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txBox="1"/>
          <p:nvPr>
            <p:ph type="body" idx="1"/>
          </p:nvPr>
        </p:nvSpPr>
        <p:spPr>
          <a:xfrm>
            <a:off x="457200" y="952500"/>
            <a:ext cx="5943600" cy="7429500"/>
          </a:xfrm>
        </p:spPr>
        <p:txBody>
          <a:bodyPr/>
          <a:lstStyle/>
          <a:p>
            <a:pPr algn="l">
              <a:lnSpc>
                <a:spcPct val="110000"/>
              </a:lnSpc>
            </a:pPr>
            <a:r>
              <a:rPr lang="en-GB" sz="1200" b="0">
                <a:solidFill>
                  <a:srgbClr val="201D1D"/>
                </a:solidFill>
                <a:latin typeface="Segoe UI"/>
                <a:ea typeface="Segoe UI"/>
                <a:cs typeface="Segoe UI"/>
              </a:rPr>
              <a:t xml:space="preserve">04:10–04:40 / 30 seconds</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Kopi targets people repeating browser tasks who do not want to write a script or move into a new browser profile. The same signed-in session reduces setup friction. Local inference avoids sending browser evidence to a cloud AI service. A CPU runtime broadens the hardware target, though the initial download is about 3.4 GB and laptop performance is still unmeasured. Our creative contribution is combining demonstration-based learning, a small open-weight model and constrained execution. Potential use cases include supported form transfers and structured record capture. We have not measured time saved or real-world adoption.</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Sources</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https://github.com/MLouchini/Kopi/blob/main/README.md</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https://github.com/MLouchini/Kopi/blob/main/docs/architecture.md</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https://github.com/MLouchini/Kopi/blob/main/model-manifest.json</a:t>
            </a:r>
            <a:endParaRPr lang="en-GB" sz="1200" b="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txBox="1"/>
          <p:nvPr>
            <p:ph type="body" idx="1"/>
          </p:nvPr>
        </p:nvSpPr>
        <p:spPr>
          <a:xfrm>
            <a:off x="457200" y="952500"/>
            <a:ext cx="5943600" cy="7429500"/>
          </a:xfrm>
        </p:spPr>
        <p:txBody>
          <a:bodyPr/>
          <a:lstStyle/>
          <a:p>
            <a:pPr algn="l">
              <a:lnSpc>
                <a:spcPct val="110000"/>
              </a:lnSpc>
            </a:pPr>
            <a:r>
              <a:rPr lang="en-GB" sz="1200" b="0">
                <a:solidFill>
                  <a:srgbClr val="201D1D"/>
                </a:solidFill>
                <a:latin typeface="Segoe UI"/>
                <a:ea typeface="Segoe UI"/>
                <a:cs typeface="Segoe UI"/>
              </a:rPr>
              <a:t xml:space="preserve">04:40–05:00 / 20 seconds</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Kopi turns a demonstrated browser task into a reviewed, reusable workflow using local open-weight AI. The repository contains the desktop, model harness, extension, tests and packaging. Our next milestone is a complete acceptance run on the real laptop and live services, followed by resolving the expanded QA failure. Invite the judges to inspect the repo or see the fixture demo. Stop the five-minute pitch here. Slides 10–12 are backup slides, not part of the timed talk.</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Sources</a:t>
            </a:r>
            <a:endParaRPr lang="en-GB" sz="1200" b="0"/>
          </a:p>
          <a:p>
            <a:pPr algn="l">
              <a:lnSpc>
                <a:spcPct val="110000"/>
              </a:lnSpc>
            </a:pPr>
            <a:r>
              <a:rPr lang="en-GB" sz="1200" b="0">
                <a:solidFill>
                  <a:srgbClr val="201D1D"/>
                </a:solidFill>
                <a:latin typeface="Segoe UI"/>
                <a:ea typeface="Segoe UI"/>
                <a:cs typeface="Segoe UI"/>
              </a:rPr>
              <a:t xml:space="preserve">https://github.com/MLouchini/Kopi</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https://github.com/MLouchini/Kopi/blob/main/HANDOFF.md</a:t>
            </a:r>
            <a:endParaRPr lang="en-GB" sz="1200" b="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txBox="1"/>
          <p:nvPr>
            <p:ph type="body" idx="1"/>
          </p:nvPr>
        </p:nvSpPr>
        <p:spPr>
          <a:xfrm>
            <a:off x="457200" y="952500"/>
            <a:ext cx="5943600" cy="7429500"/>
          </a:xfrm>
        </p:spPr>
        <p:txBody>
          <a:bodyPr/>
          <a:lstStyle/>
          <a:p>
            <a:pPr algn="l">
              <a:lnSpc>
                <a:spcPct val="110000"/>
              </a:lnSpc>
            </a:pPr>
            <a:r>
              <a:rPr lang="en-GB" sz="1200" b="0">
                <a:solidFill>
                  <a:srgbClr val="201D1D"/>
                </a:solidFill>
                <a:latin typeface="Segoe UI"/>
                <a:ea typeface="Segoe UI"/>
                <a:cs typeface="Segoe UI"/>
              </a:rPr>
              <a:t xml:space="preserve">Appendix / untimed</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The weights and judging process come from the event brief supplied in chat. Implementation receives 30%, creativity 25%, impact 25% and technical depth 20%. Explain what Kopi does and show evidence without claiming an unverified score. Round one uses videos and determines the top three finalists and MLH prizes. The live five-minute final decides first, second and third for Best Overall Hack using the same criteria. Four judges assess the entries.</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Sources</a:t>
            </a:r>
            <a:endParaRPr lang="en-GB" sz="1200" b="0"/>
          </a:p>
          <a:p>
            <a:pPr algn="l">
              <a:lnSpc>
                <a:spcPct val="110000"/>
              </a:lnSpc>
            </a:pPr>
            <a:r>
              <a:rPr lang="en-GB" sz="1200" b="0">
                <a:solidFill>
                  <a:srgbClr val="201D1D"/>
                </a:solidFill>
                <a:latin typeface="Segoe UI"/>
                <a:ea typeface="Segoe UI"/>
                <a:cs typeface="Segoe UI"/>
              </a:rPr>
              <a:t xml:space="preserve">User-supplied event rules and judging rubric, 24 October 2026.</a:t>
            </a:r>
            <a:endParaRPr lang="en-GB" sz="1200" b="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txBox="1"/>
          <p:nvPr>
            <p:ph type="body" idx="1"/>
          </p:nvPr>
        </p:nvSpPr>
        <p:spPr>
          <a:xfrm>
            <a:off x="457200" y="952500"/>
            <a:ext cx="5943600" cy="7429500"/>
          </a:xfrm>
        </p:spPr>
        <p:txBody>
          <a:bodyPr/>
          <a:lstStyle/>
          <a:p>
            <a:pPr algn="l">
              <a:lnSpc>
                <a:spcPct val="110000"/>
              </a:lnSpc>
            </a:pPr>
            <a:r>
              <a:rPr lang="en-GB" sz="1200" b="0">
                <a:solidFill>
                  <a:srgbClr val="201D1D"/>
                </a:solidFill>
                <a:latin typeface="Segoe UI"/>
                <a:ea typeface="Segoe UI"/>
                <a:cs typeface="Segoe UI"/>
              </a:rPr>
              <a:t xml:space="preserve">Appendix / untimed</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Best Overall Hack is open to every project, subject to event rules. Best Open-Source AI Project is the closest technical fit: open-weight AI is essential and the original model harness provides meaningful implementation. Public source alone is insufficient. No project LICENSE was present in the inspected checkout. Add an open-source project license and explicit model/license links in the README before asserting eligibility. The Google model card labels this checkpoint Apache-2.0. Cite and retain the applicable upstream license. This is a model-harness entry, not an Agent Skills submission, so the Agent Skills standard applies only if a separate skill is entered. Best Use of Gemma 4 in the supplied brief specifically requires the Gemini API. Current local llama.cpp inference does not satisfy that stated API condition. No API integration is claimed or added for this deck.</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Sources</a:t>
            </a:r>
            <a:endParaRPr lang="en-GB" sz="1200" b="0"/>
          </a:p>
          <a:p>
            <a:pPr algn="l">
              <a:lnSpc>
                <a:spcPct val="110000"/>
              </a:lnSpc>
            </a:pPr>
            <a:r>
              <a:rPr lang="en-GB" sz="1200" b="0">
                <a:solidFill>
                  <a:srgbClr val="201D1D"/>
                </a:solidFill>
                <a:latin typeface="Segoe UI"/>
                <a:ea typeface="Segoe UI"/>
                <a:cs typeface="Segoe UI"/>
              </a:rPr>
              <a:t xml:space="preserve">User-supplied prize requirements.</a:t>
            </a:r>
            <a:endParaRPr lang="en-GB" sz="1200" b="0"/>
          </a:p>
          <a:p>
            <a:pPr algn="l">
              <a:lnSpc>
                <a:spcPct val="110000"/>
              </a:lnSpc>
            </a:pPr>
            <a:r>
              <a:rPr lang="en-GB" sz="1200" b="0">
                <a:solidFill>
                  <a:srgbClr val="201D1D"/>
                </a:solidFill>
                <a:latin typeface="Segoe UI"/>
                <a:ea typeface="Segoe UI"/>
                <a:cs typeface="Segoe UI"/>
              </a:rPr>
              <a:t xml:space="preserve">https://github.com/MLouchini/Kopi</a:t>
            </a:r>
            <a:endParaRPr lang="en-GB" sz="1200" b="0"/>
          </a:p>
          <a:p>
            <a:pPr algn="l">
              <a:lnSpc>
                <a:spcPct val="110000"/>
              </a:lnSpc>
            </a:pPr>
            <a:r>
              <a:rPr lang="en-GB" sz="1200" b="0">
                <a:solidFill>
                  <a:srgbClr val="201D1D"/>
                </a:solidFill>
                <a:latin typeface="Segoe UI"/>
                <a:ea typeface="Segoe UI"/>
                <a:cs typeface="Segoe UI"/>
              </a:rPr>
              <a:t xml:space="preserve">https://huggingface.co/google/gemma-4-E2B-it-qat-q4_0-gguf</a:t>
            </a:r>
            <a:endParaRPr lang="en-GB" sz="1200" b="0"/>
          </a:p>
          <a:p>
            <a:pPr algn="l">
              <a:lnSpc>
                <a:spcPct val="110000"/>
              </a:lnSpc>
            </a:pPr>
            <a:r>
              <a:rPr lang="en-GB" sz="1200" b="0">
                <a:solidFill>
                  <a:srgbClr val="201D1D"/>
                </a:solidFill>
                <a:latin typeface="Segoe UI"/>
                <a:ea typeface="Segoe UI"/>
                <a:cs typeface="Segoe UI"/>
              </a:rPr>
              <a:t xml:space="preserve">https://huggingface.co/google/gemma-4-E2B-it-qat-q4_0-gguf/blob/main/LICENSE</a:t>
            </a:r>
            <a:endParaRPr lang="en-GB" sz="1200" b="0"/>
          </a:p>
          <a:p>
            <a:pPr algn="l">
              <a:lnSpc>
                <a:spcPct val="110000"/>
              </a:lnSpc>
            </a:pPr>
            <a:r>
              <a:rPr lang="en-GB" sz="1200" b="0">
                <a:solidFill>
                  <a:srgbClr val="201D1D"/>
                </a:solidFill>
                <a:latin typeface="Segoe UI"/>
                <a:ea typeface="Segoe UI"/>
                <a:cs typeface="Segoe UI"/>
              </a:rPr>
              <a:t xml:space="preserve">https://agentskills.io/</a:t>
            </a:r>
            <a:endParaRPr lang="en-GB" sz="1200" b="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txBox="1"/>
          <p:nvPr>
            <p:ph type="body" idx="1"/>
          </p:nvPr>
        </p:nvSpPr>
        <p:spPr>
          <a:xfrm>
            <a:off x="457200" y="952500"/>
            <a:ext cx="5943600" cy="7429500"/>
          </a:xfrm>
        </p:spPr>
        <p:txBody>
          <a:bodyPr/>
          <a:lstStyle/>
          <a:p>
            <a:pPr algn="l">
              <a:lnSpc>
                <a:spcPct val="110000"/>
              </a:lnSpc>
            </a:pPr>
            <a:r>
              <a:rPr lang="en-GB" sz="1200" b="0">
                <a:solidFill>
                  <a:srgbClr val="201D1D"/>
                </a:solidFill>
                <a:latin typeface="Segoe UI"/>
                <a:ea typeface="Segoe UI"/>
                <a:cs typeface="Segoe UI"/>
              </a:rPr>
              <a:t xml:space="preserve">Appendix / untimed</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Technologies used: C#, modern .NET 10, WPF, ASP.NET Core/Kestrel, JavaScript Chrome/Edge extension APIs, Google Gemma 4 E2B IT QAT Q4_0 GGUF, llama.cpp b11852 CPU, Microsoft.Playwright for integration testing, xUnit, GitHub Actions and Inno Setup. List any AI development tools actually used, including Codex for this presentation, in the final submission. Keep the local inference product distinct from development tooling. Model card: https://huggingface.co/google/gemma-4-E2B-it-qat-q4_0-gguf. Upstream license: https://huggingface.co/google/gemma-4-E2B-it-qat-q4_0-gguf/blob/main/LICENSE. Event checklist: at most four team members, each registered and checked in, bring laptop/charger/GitHub/student ID, confirm all project work happened during the event after 10:00, follow MLH Code of Conduct, and stay until finalists at 16:15. Top three must present live for five minutes. MLH awards are separate from CS Soc prizes. Organisers have the final decision. No video length was supplied, so none is invented. Ensure the video shows a genuine working demo and explains original work, model, dependencies and repository.</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Sources</a:t>
            </a:r>
            <a:endParaRPr lang="en-GB" sz="1200" b="0"/>
          </a:p>
          <a:p>
            <a:pPr algn="l">
              <a:lnSpc>
                <a:spcPct val="110000"/>
              </a:lnSpc>
            </a:pPr>
            <a:r>
              <a:rPr lang="en-GB" sz="1200" b="0">
                <a:solidFill>
                  <a:srgbClr val="201D1D"/>
                </a:solidFill>
                <a:latin typeface="Segoe UI"/>
                <a:ea typeface="Segoe UI"/>
                <a:cs typeface="Segoe UI"/>
              </a:rPr>
              <a:t xml:space="preserve">User-supplied event rules.</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https://github.com/MLouchini/Kopi/blob/main/src/Kopi.Desktop/Kopi.Desktop.csproj</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https://github.com/MLouchini/Kopi/blob/main/tests/Kopi.Tests/Kopi.Tests.csproj</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https://github.com/MLouchini/Kopi/blob/main/model-manifest.json</a:t>
            </a:r>
            <a:endParaRPr lang="en-GB" sz="1200" b="0"/>
          </a:p>
          <a:p>
            <a:pPr algn="l">
              <a:lnSpc>
                <a:spcPct val="110000"/>
              </a:lnSpc>
            </a:pPr>
            <a:r>
              <a:rPr lang="en-GB" sz="1200" b="0">
                <a:solidFill>
                  <a:srgbClr val="201D1D"/>
                </a:solidFill>
                <a:latin typeface="Segoe UI"/>
                <a:ea typeface="Segoe UI"/>
                <a:cs typeface="Segoe UI"/>
              </a:rPr>
              <a:t xml:space="preserve">https://huggingface.co/google/gemma-4-E2B-it-qat-q4_0-gguf</a:t>
            </a:r>
            <a:endParaRPr lang="en-GB" sz="1200" b="0"/>
          </a:p>
          <a:p>
            <a:pPr algn="l">
              <a:lnSpc>
                <a:spcPct val="110000"/>
              </a:lnSpc>
            </a:pPr>
            <a:r>
              <a:rPr lang="en-GB" sz="1200" b="0">
                <a:solidFill>
                  <a:srgbClr val="201D1D"/>
                </a:solidFill>
                <a:latin typeface="Segoe UI"/>
                <a:ea typeface="Segoe UI"/>
                <a:cs typeface="Segoe UI"/>
              </a:rPr>
              <a:t xml:space="preserve">https://huggingface.co/google/gemma-4-E2B-it-qat-q4_0-gguf/blob/main/LICENSE</a:t>
            </a:r>
            <a:endParaRPr lang="en-GB" sz="1200" b="0"/>
          </a:p>
          <a:p>
            <a:pPr algn="l">
              <a:lnSpc>
                <a:spcPct val="110000"/>
              </a:lnSpc>
            </a:pPr>
            <a:r>
              <a:rPr lang="en-GB" sz="1200" b="0">
                <a:solidFill>
                  <a:srgbClr val="201D1D"/>
                </a:solidFill>
                <a:latin typeface="Segoe UI"/>
                <a:ea typeface="Segoe UI"/>
                <a:cs typeface="Segoe UI"/>
              </a:rPr>
              <a:t xml:space="preserve">https://mlh.io/code-of-conduct</a:t>
            </a:r>
            <a:endParaRPr lang="en-GB" sz="1200" b="0"/>
          </a:p>
        </p:txBody>
      </p:sp>
    </p:spTree>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1"/>
  </p:sldLayoutIdLst>
  <p:txStyles>
    <p:titleStyle/>
    <p:bodyStyle/>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kopi-wordmark.png"/><Relationship Id="rId4" Type="http://schemas.openxmlformats.org/officeDocument/2006/relationships/image" Target="../media/kopi-logo.png"/></Relationships>
</file>

<file path=ppt/slides/_rels/slide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kopi-wordmark.png"/><Relationship Id="rId4" Type="http://schemas.openxmlformats.org/officeDocument/2006/relationships/image" Target="../media/kopi-loop.png"/></Relationships>
</file>

<file path=ppt/slides/_rels/slide10.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show="1">
  <p:cSld name="Kopi">
    <p:bg>
      <p:bgPr>
        <a:solidFill>
          <a:srgbClr val="FFFEFA"/>
        </a:solidFill>
        <a:effectLst/>
      </p:bgPr>
    </p:bg>
    <p:spTree>
      <p:nvGrpSpPr>
        <p:cNvPr id="1" name=""/>
        <p:cNvGrpSpPr/>
        <p:nvPr/>
      </p:nvGrpSpPr>
      <p:grpSpPr>
        <a:xfrm>
          <a:off x="0" y="0"/>
          <a:ext cx="0" cy="0"/>
          <a:chOff x="0" y="0"/>
          <a:chExt cx="0" cy="0"/>
        </a:xfrm>
      </p:grpSpPr>
      <p:pic>
        <p:nvPicPr>
          <p:cNvPr id="2" name="Kopi brand artwork" descr="Original Kopi brand asset: kopi-wordmark.png"/>
          <p:cNvPicPr>
            <a:picLocks noChangeAspect="1"/>
          </p:cNvPicPr>
          <p:nvPr/>
        </p:nvPicPr>
        <p:blipFill>
          <a:blip r:embed="rId3"/>
          <a:stretch>
            <a:fillRect/>
          </a:stretch>
        </p:blipFill>
        <p:spPr>
          <a:xfrm>
            <a:off x="504825" y="333375"/>
            <a:ext cx="2438400" cy="914400"/>
          </a:xfrm>
          <a:prstGeom prst="rect">
            <a:avLst/>
          </a:prstGeom>
        </p:spPr>
      </p:pic>
      <p:sp>
        <p:nvSpPr>
          <p:cNvPr id="3" name="Shape 3"/>
          <p:cNvSpPr/>
          <p:nvPr/>
        </p:nvSpPr>
        <p:spPr>
          <a:xfrm>
            <a:off x="609600" y="3276600"/>
            <a:ext cx="4429125" cy="561975"/>
          </a:xfrm>
          <a:prstGeom prst="rect">
            <a:avLst/>
          </a:prstGeom>
          <a:solidFill>
            <a:srgbClr val="FFDDBE"/>
          </a:solidFill>
          <a:ln w="9525">
            <a:noFill/>
          </a:ln>
        </p:spPr>
      </p:sp>
      <p:sp>
        <p:nvSpPr>
          <p:cNvPr id="4" name="Show it once. Let Kopi repeat."/>
          <p:cNvSpPr txBox="1"/>
          <p:nvPr/>
        </p:nvSpPr>
        <p:spPr>
          <a:xfrm>
            <a:off x="609600" y="2238375"/>
            <a:ext cx="6667500" cy="1952625"/>
          </a:xfrm>
          <a:prstGeom prst="rect">
            <a:avLst/>
          </a:prstGeom>
          <a:noFill/>
          <a:ln>
            <a:noFill/>
          </a:ln>
        </p:spPr>
        <p:txBody>
          <a:bodyPr wrap="square" lIns="0" tIns="0" rIns="0" bIns="0" anchor="t"/>
          <a:lstStyle/>
          <a:p>
            <a:pPr algn="l">
              <a:lnSpc>
                <a:spcPct val="110000"/>
              </a:lnSpc>
            </a:pPr>
            <a:r>
              <a:rPr lang="en-GB" sz="5700" b="1">
                <a:solidFill>
                  <a:srgbClr val="201D1D"/>
                </a:solidFill>
                <a:latin typeface="Segoe UI"/>
                <a:ea typeface="Segoe UI"/>
                <a:cs typeface="Segoe UI"/>
              </a:rPr>
              <a:t xml:space="preserve">Show it once.</a:t>
            </a:r>
            <a:endParaRPr lang="en-GB" sz="5700" b="1"/>
          </a:p>
          <a:p>
            <a:pPr algn="l">
              <a:lnSpc>
                <a:spcPct val="110000"/>
              </a:lnSpc>
            </a:pPr>
            <a:r>
              <a:rPr lang="en-GB" sz="5700" b="1">
                <a:solidFill>
                  <a:srgbClr val="201D1D"/>
                </a:solidFill>
                <a:latin typeface="Segoe UI"/>
                <a:ea typeface="Segoe UI"/>
                <a:cs typeface="Segoe UI"/>
              </a:rPr>
              <a:t xml:space="preserve">Let Kopi repeat.</a:t>
            </a:r>
            <a:endParaRPr lang="en-GB" sz="5700" b="1"/>
          </a:p>
        </p:txBody>
      </p:sp>
      <p:sp>
        <p:nvSpPr>
          <p:cNvPr id="5" name="Browser routines, learned locally"/>
          <p:cNvSpPr txBox="1"/>
          <p:nvPr/>
        </p:nvSpPr>
        <p:spPr>
          <a:xfrm>
            <a:off x="647700" y="4495800"/>
            <a:ext cx="5905500" cy="419100"/>
          </a:xfrm>
          <a:prstGeom prst="rect">
            <a:avLst/>
          </a:prstGeom>
          <a:noFill/>
          <a:ln>
            <a:noFill/>
          </a:ln>
        </p:spPr>
        <p:txBody>
          <a:bodyPr wrap="square" lIns="0" tIns="0" rIns="0" bIns="0" anchor="t"/>
          <a:lstStyle/>
          <a:p>
            <a:pPr algn="l">
              <a:lnSpc>
                <a:spcPct val="110000"/>
              </a:lnSpc>
            </a:pPr>
            <a:r>
              <a:rPr lang="en-GB" sz="2100" b="0">
                <a:solidFill>
                  <a:srgbClr val="776B62"/>
                </a:solidFill>
                <a:latin typeface="Segoe UI"/>
                <a:ea typeface="Segoe UI"/>
                <a:cs typeface="Segoe UI"/>
              </a:rPr>
              <a:t xml:space="preserve">Browser routines, learned locally</a:t>
            </a:r>
            <a:endParaRPr lang="en-GB" sz="2100" b="0"/>
          </a:p>
        </p:txBody>
      </p:sp>
      <p:sp>
        <p:nvSpPr>
          <p:cNvPr id="6" name="Your existing session. Your reusable workflow."/>
          <p:cNvSpPr txBox="1"/>
          <p:nvPr/>
        </p:nvSpPr>
        <p:spPr>
          <a:xfrm>
            <a:off x="647700" y="5057775"/>
            <a:ext cx="6191250" cy="342900"/>
          </a:xfrm>
          <a:prstGeom prst="rect">
            <a:avLst/>
          </a:prstGeom>
          <a:noFill/>
          <a:ln>
            <a:noFill/>
          </a:ln>
        </p:spPr>
        <p:txBody>
          <a:bodyPr wrap="square" lIns="0" tIns="0" rIns="0" bIns="0" anchor="t"/>
          <a:lstStyle/>
          <a:p>
            <a:pPr algn="l">
              <a:lnSpc>
                <a:spcPct val="110000"/>
              </a:lnSpc>
            </a:pPr>
            <a:r>
              <a:rPr lang="en-GB" sz="1725" b="0">
                <a:solidFill>
                  <a:srgbClr val="776B62"/>
                </a:solidFill>
                <a:latin typeface="Segoe UI"/>
                <a:ea typeface="Segoe UI"/>
                <a:cs typeface="Segoe UI"/>
              </a:rPr>
              <a:t xml:space="preserve">Your existing session. Your reusable workflow.</a:t>
            </a:r>
            <a:endParaRPr lang="en-GB" sz="1725" b="0"/>
          </a:p>
        </p:txBody>
      </p:sp>
      <p:pic>
        <p:nvPicPr>
          <p:cNvPr id="7" name="Kopi brand artwork" descr="Original Kopi brand asset: kopi-logo.png"/>
          <p:cNvPicPr>
            <a:picLocks noChangeAspect="1"/>
          </p:cNvPicPr>
          <p:nvPr/>
        </p:nvPicPr>
        <p:blipFill>
          <a:blip r:embed="rId4"/>
          <a:stretch>
            <a:fillRect/>
          </a:stretch>
        </p:blipFill>
        <p:spPr>
          <a:xfrm>
            <a:off x="7048500" y="1514475"/>
            <a:ext cx="4667250" cy="4667250"/>
          </a:xfrm>
          <a:prstGeom prst="rect">
            <a:avLst/>
          </a:prstGeom>
        </p:spPr>
      </p:pic>
      <p:sp>
        <p:nvSpPr>
          <p:cNvPr id="8" name="github.com/MLouchini/Kopi"/>
          <p:cNvSpPr txBox="1"/>
          <p:nvPr/>
        </p:nvSpPr>
        <p:spPr>
          <a:xfrm>
            <a:off x="647700" y="6210300"/>
            <a:ext cx="6191250" cy="266700"/>
          </a:xfrm>
          <a:prstGeom prst="rect">
            <a:avLst/>
          </a:prstGeom>
          <a:noFill/>
          <a:ln>
            <a:noFill/>
          </a:ln>
        </p:spPr>
        <p:txBody>
          <a:bodyPr wrap="square" lIns="0" tIns="0" rIns="0" bIns="0" anchor="t"/>
          <a:lstStyle/>
          <a:p>
            <a:pPr algn="l">
              <a:lnSpc>
                <a:spcPct val="110000"/>
              </a:lnSpc>
            </a:pPr>
            <a:r>
              <a:rPr lang="en-GB" sz="1350" b="0">
                <a:solidFill>
                  <a:srgbClr val="776B62"/>
                </a:solidFill>
                <a:latin typeface="Segoe UI"/>
                <a:ea typeface="Segoe UI"/>
                <a:cs typeface="Segoe UI"/>
              </a:rPr>
              <a:t xml:space="preserve">github.com/MLouchini/Kopi</a:t>
            </a:r>
            <a:endParaRPr lang="en-GB" sz="1350" b="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1">
  <p:cSld name="The same small tasks keep coming back">
    <p:bg>
      <p:bgPr>
        <a:solidFill>
          <a:srgbClr val="FFFEFA"/>
        </a:solidFill>
        <a:effectLst/>
      </p:bgPr>
    </p:bg>
    <p:spTree>
      <p:nvGrpSpPr>
        <p:cNvPr id="1" name=""/>
        <p:cNvGrpSpPr/>
        <p:nvPr/>
      </p:nvGrpSpPr>
      <p:grpSpPr>
        <a:xfrm>
          <a:off x="0" y="0"/>
          <a:ext cx="0" cy="0"/>
          <a:chOff x="0" y="0"/>
          <a:chExt cx="0" cy="0"/>
        </a:xfrm>
      </p:grpSpPr>
      <p:sp>
        <p:nvSpPr>
          <p:cNvPr id="2" name="Kopi"/>
          <p:cNvSpPr txBox="1"/>
          <p:nvPr/>
        </p:nvSpPr>
        <p:spPr>
          <a:xfrm>
            <a:off x="609600" y="285750"/>
            <a:ext cx="5715000" cy="228600"/>
          </a:xfrm>
          <a:prstGeom prst="rect">
            <a:avLst/>
          </a:prstGeom>
          <a:noFill/>
          <a:ln>
            <a:noFill/>
          </a:ln>
        </p:spPr>
        <p:txBody>
          <a:bodyPr wrap="square" lIns="0" tIns="0" rIns="0" bIns="0" anchor="t"/>
          <a:lstStyle/>
          <a:p>
            <a:pPr algn="l">
              <a:lnSpc>
                <a:spcPct val="110000"/>
              </a:lnSpc>
            </a:pPr>
            <a:r>
              <a:rPr lang="en-GB" sz="1275" b="0">
                <a:solidFill>
                  <a:srgbClr val="776B62"/>
                </a:solidFill>
                <a:latin typeface="Segoe UI"/>
                <a:ea typeface="Segoe UI"/>
                <a:cs typeface="Segoe UI"/>
              </a:rPr>
              <a:t xml:space="preserve">Kopi</a:t>
            </a:r>
            <a:endParaRPr lang="en-GB" sz="1275" b="0"/>
          </a:p>
        </p:txBody>
      </p:sp>
      <p:sp>
        <p:nvSpPr>
          <p:cNvPr id="3" name="2"/>
          <p:cNvSpPr txBox="1"/>
          <p:nvPr/>
        </p:nvSpPr>
        <p:spPr>
          <a:xfrm>
            <a:off x="11049000" y="285750"/>
            <a:ext cx="533400" cy="228600"/>
          </a:xfrm>
          <a:prstGeom prst="rect">
            <a:avLst/>
          </a:prstGeom>
          <a:noFill/>
          <a:ln>
            <a:noFill/>
          </a:ln>
        </p:spPr>
        <p:txBody>
          <a:bodyPr wrap="square" lIns="0" tIns="0" rIns="0" bIns="0" anchor="t"/>
          <a:lstStyle/>
          <a:p>
            <a:pPr algn="r">
              <a:lnSpc>
                <a:spcPct val="110000"/>
              </a:lnSpc>
            </a:pPr>
            <a:r>
              <a:rPr lang="en-GB" sz="1275" b="0">
                <a:solidFill>
                  <a:srgbClr val="776B62"/>
                </a:solidFill>
                <a:latin typeface="Segoe UI"/>
                <a:ea typeface="Segoe UI"/>
                <a:cs typeface="Segoe UI"/>
              </a:rPr>
              <a:t xml:space="preserve">2</a:t>
            </a:r>
            <a:endParaRPr lang="en-GB" sz="1275" b="0"/>
          </a:p>
        </p:txBody>
      </p:sp>
      <p:sp>
        <p:nvSpPr>
          <p:cNvPr id="4" name="The same small tasks keep coming back"/>
          <p:cNvSpPr txBox="1"/>
          <p:nvPr/>
        </p:nvSpPr>
        <p:spPr>
          <a:xfrm>
            <a:off x="609600" y="876300"/>
            <a:ext cx="10972800" cy="1162050"/>
          </a:xfrm>
          <a:prstGeom prst="rect">
            <a:avLst/>
          </a:prstGeom>
          <a:noFill/>
          <a:ln>
            <a:noFill/>
          </a:ln>
        </p:spPr>
        <p:txBody>
          <a:bodyPr wrap="square" lIns="0" tIns="0" rIns="0" bIns="0" anchor="t"/>
          <a:lstStyle/>
          <a:p>
            <a:pPr algn="l">
              <a:lnSpc>
                <a:spcPct val="110000"/>
              </a:lnSpc>
            </a:pPr>
            <a:r>
              <a:rPr lang="en-GB" sz="3600" b="1">
                <a:solidFill>
                  <a:srgbClr val="201D1D"/>
                </a:solidFill>
                <a:latin typeface="Segoe UI"/>
                <a:ea typeface="Segoe UI"/>
                <a:cs typeface="Segoe UI"/>
              </a:rPr>
              <a:t xml:space="preserve">The same small tasks</a:t>
            </a:r>
            <a:endParaRPr lang="en-GB" sz="3600" b="1"/>
          </a:p>
          <a:p>
            <a:pPr algn="l">
              <a:lnSpc>
                <a:spcPct val="110000"/>
              </a:lnSpc>
            </a:pPr>
            <a:r>
              <a:rPr lang="en-GB" sz="3600" b="1">
                <a:solidFill>
                  <a:srgbClr val="201D1D"/>
                </a:solidFill>
                <a:latin typeface="Segoe UI"/>
                <a:ea typeface="Segoe UI"/>
                <a:cs typeface="Segoe UI"/>
              </a:rPr>
              <a:t xml:space="preserve">keep coming back</a:t>
            </a:r>
            <a:endParaRPr lang="en-GB" sz="3600" b="1"/>
          </a:p>
        </p:txBody>
      </p:sp>
      <p:sp>
        <p:nvSpPr>
          <p:cNvPr id="5" name="Shape 5"/>
          <p:cNvSpPr/>
          <p:nvPr/>
        </p:nvSpPr>
        <p:spPr>
          <a:xfrm>
            <a:off x="609600" y="2714625"/>
            <a:ext cx="3333750" cy="12382"/>
          </a:xfrm>
          <a:prstGeom prst="rect">
            <a:avLst/>
          </a:prstGeom>
          <a:solidFill>
            <a:srgbClr val="E7DDD3"/>
          </a:solidFill>
          <a:ln w="9525">
            <a:noFill/>
          </a:ln>
        </p:spPr>
      </p:sp>
      <p:sp>
        <p:nvSpPr>
          <p:cNvPr id="6" name="01"/>
          <p:cNvSpPr txBox="1"/>
          <p:nvPr/>
        </p:nvSpPr>
        <p:spPr>
          <a:xfrm>
            <a:off x="609600" y="2933700"/>
            <a:ext cx="3333750" cy="781050"/>
          </a:xfrm>
          <a:prstGeom prst="rect">
            <a:avLst/>
          </a:prstGeom>
          <a:noFill/>
          <a:ln>
            <a:noFill/>
          </a:ln>
        </p:spPr>
        <p:txBody>
          <a:bodyPr wrap="square" lIns="0" tIns="0" rIns="0" bIns="0" anchor="t"/>
          <a:lstStyle/>
          <a:p>
            <a:pPr algn="l">
              <a:lnSpc>
                <a:spcPct val="110000"/>
              </a:lnSpc>
            </a:pPr>
            <a:r>
              <a:rPr lang="en-GB" sz="4875" b="0">
                <a:solidFill>
                  <a:srgbClr val="FF7A1A"/>
                </a:solidFill>
                <a:latin typeface="Segoe UI"/>
                <a:ea typeface="Segoe UI"/>
                <a:cs typeface="Segoe UI"/>
              </a:rPr>
              <a:t xml:space="preserve">01</a:t>
            </a:r>
            <a:endParaRPr lang="en-GB" sz="4875" b="0"/>
          </a:p>
        </p:txBody>
      </p:sp>
      <p:sp>
        <p:nvSpPr>
          <p:cNvPr id="7" name="Find the context"/>
          <p:cNvSpPr txBox="1"/>
          <p:nvPr/>
        </p:nvSpPr>
        <p:spPr>
          <a:xfrm>
            <a:off x="609600" y="3943350"/>
            <a:ext cx="3333750" cy="428625"/>
          </a:xfrm>
          <a:prstGeom prst="rect">
            <a:avLst/>
          </a:prstGeom>
          <a:noFill/>
          <a:ln>
            <a:noFill/>
          </a:ln>
        </p:spPr>
        <p:txBody>
          <a:bodyPr wrap="square" lIns="0" tIns="0" rIns="0" bIns="0" anchor="t"/>
          <a:lstStyle/>
          <a:p>
            <a:pPr algn="l">
              <a:lnSpc>
                <a:spcPct val="110000"/>
              </a:lnSpc>
            </a:pPr>
            <a:r>
              <a:rPr lang="en-GB" sz="2175" b="1">
                <a:solidFill>
                  <a:srgbClr val="201D1D"/>
                </a:solidFill>
                <a:latin typeface="Segoe UI"/>
                <a:ea typeface="Segoe UI"/>
                <a:cs typeface="Segoe UI"/>
              </a:rPr>
              <a:t xml:space="preserve">Find the context</a:t>
            </a:r>
            <a:endParaRPr lang="en-GB" sz="2175" b="1"/>
          </a:p>
        </p:txBody>
      </p:sp>
      <p:sp>
        <p:nvSpPr>
          <p:cNvPr id="8" name="The right tab, conversation or record."/>
          <p:cNvSpPr txBox="1"/>
          <p:nvPr/>
        </p:nvSpPr>
        <p:spPr>
          <a:xfrm>
            <a:off x="609600" y="4591050"/>
            <a:ext cx="3333750" cy="1047750"/>
          </a:xfrm>
          <a:prstGeom prst="rect">
            <a:avLst/>
          </a:prstGeom>
          <a:noFill/>
          <a:ln>
            <a:noFill/>
          </a:ln>
        </p:spPr>
        <p:txBody>
          <a:bodyPr wrap="square" lIns="0" tIns="0" rIns="0" bIns="0" anchor="t"/>
          <a:lstStyle/>
          <a:p>
            <a:pPr algn="l">
              <a:lnSpc>
                <a:spcPct val="110000"/>
              </a:lnSpc>
            </a:pPr>
            <a:r>
              <a:rPr lang="en-GB" sz="1875" b="0">
                <a:solidFill>
                  <a:srgbClr val="776B62"/>
                </a:solidFill>
                <a:latin typeface="Segoe UI"/>
                <a:ea typeface="Segoe UI"/>
                <a:cs typeface="Segoe UI"/>
              </a:rPr>
              <a:t xml:space="preserve">The right tab, conversation</a:t>
            </a:r>
            <a:endParaRPr lang="en-GB" sz="1875" b="0"/>
          </a:p>
          <a:p>
            <a:pPr algn="l">
              <a:lnSpc>
                <a:spcPct val="110000"/>
              </a:lnSpc>
            </a:pPr>
            <a:r>
              <a:rPr lang="en-GB" sz="1875" b="0">
                <a:solidFill>
                  <a:srgbClr val="776B62"/>
                </a:solidFill>
                <a:latin typeface="Segoe UI"/>
                <a:ea typeface="Segoe UI"/>
                <a:cs typeface="Segoe UI"/>
              </a:rPr>
              <a:t xml:space="preserve">or record.</a:t>
            </a:r>
            <a:endParaRPr lang="en-GB" sz="1875" b="0"/>
          </a:p>
        </p:txBody>
      </p:sp>
      <p:sp>
        <p:nvSpPr>
          <p:cNvPr id="9" name="Shape 9"/>
          <p:cNvSpPr/>
          <p:nvPr/>
        </p:nvSpPr>
        <p:spPr>
          <a:xfrm>
            <a:off x="4391025" y="2714625"/>
            <a:ext cx="3333750" cy="12382"/>
          </a:xfrm>
          <a:prstGeom prst="rect">
            <a:avLst/>
          </a:prstGeom>
          <a:solidFill>
            <a:srgbClr val="E7DDD3"/>
          </a:solidFill>
          <a:ln w="9525">
            <a:noFill/>
          </a:ln>
        </p:spPr>
      </p:sp>
      <p:sp>
        <p:nvSpPr>
          <p:cNvPr id="10" name="02"/>
          <p:cNvSpPr txBox="1"/>
          <p:nvPr/>
        </p:nvSpPr>
        <p:spPr>
          <a:xfrm>
            <a:off x="4391025" y="2933700"/>
            <a:ext cx="3333750" cy="781050"/>
          </a:xfrm>
          <a:prstGeom prst="rect">
            <a:avLst/>
          </a:prstGeom>
          <a:noFill/>
          <a:ln>
            <a:noFill/>
          </a:ln>
        </p:spPr>
        <p:txBody>
          <a:bodyPr wrap="square" lIns="0" tIns="0" rIns="0" bIns="0" anchor="t"/>
          <a:lstStyle/>
          <a:p>
            <a:pPr algn="l">
              <a:lnSpc>
                <a:spcPct val="110000"/>
              </a:lnSpc>
            </a:pPr>
            <a:r>
              <a:rPr lang="en-GB" sz="4875" b="0">
                <a:solidFill>
                  <a:srgbClr val="FF7A1A"/>
                </a:solidFill>
                <a:latin typeface="Segoe UI"/>
                <a:ea typeface="Segoe UI"/>
                <a:cs typeface="Segoe UI"/>
              </a:rPr>
              <a:t xml:space="preserve">02</a:t>
            </a:r>
            <a:endParaRPr lang="en-GB" sz="4875" b="0"/>
          </a:p>
        </p:txBody>
      </p:sp>
      <p:sp>
        <p:nvSpPr>
          <p:cNvPr id="11" name="Move the information"/>
          <p:cNvSpPr txBox="1"/>
          <p:nvPr/>
        </p:nvSpPr>
        <p:spPr>
          <a:xfrm>
            <a:off x="4391025" y="3943350"/>
            <a:ext cx="3333750" cy="428625"/>
          </a:xfrm>
          <a:prstGeom prst="rect">
            <a:avLst/>
          </a:prstGeom>
          <a:noFill/>
          <a:ln>
            <a:noFill/>
          </a:ln>
        </p:spPr>
        <p:txBody>
          <a:bodyPr wrap="square" lIns="0" tIns="0" rIns="0" bIns="0" anchor="t"/>
          <a:lstStyle/>
          <a:p>
            <a:pPr algn="l">
              <a:lnSpc>
                <a:spcPct val="110000"/>
              </a:lnSpc>
            </a:pPr>
            <a:r>
              <a:rPr lang="en-GB" sz="2175" b="1">
                <a:solidFill>
                  <a:srgbClr val="201D1D"/>
                </a:solidFill>
                <a:latin typeface="Segoe UI"/>
                <a:ea typeface="Segoe UI"/>
                <a:cs typeface="Segoe UI"/>
              </a:rPr>
              <a:t xml:space="preserve">Move the information</a:t>
            </a:r>
            <a:endParaRPr lang="en-GB" sz="2175" b="1"/>
          </a:p>
        </p:txBody>
      </p:sp>
      <p:sp>
        <p:nvSpPr>
          <p:cNvPr id="12" name="Read a value, switch pages and enter it again."/>
          <p:cNvSpPr txBox="1"/>
          <p:nvPr/>
        </p:nvSpPr>
        <p:spPr>
          <a:xfrm>
            <a:off x="4391025" y="4591050"/>
            <a:ext cx="3333750" cy="1047750"/>
          </a:xfrm>
          <a:prstGeom prst="rect">
            <a:avLst/>
          </a:prstGeom>
          <a:noFill/>
          <a:ln>
            <a:noFill/>
          </a:ln>
        </p:spPr>
        <p:txBody>
          <a:bodyPr wrap="square" lIns="0" tIns="0" rIns="0" bIns="0" anchor="t"/>
          <a:lstStyle/>
          <a:p>
            <a:pPr algn="l">
              <a:lnSpc>
                <a:spcPct val="110000"/>
              </a:lnSpc>
            </a:pPr>
            <a:r>
              <a:rPr lang="en-GB" sz="1875" b="0">
                <a:solidFill>
                  <a:srgbClr val="776B62"/>
                </a:solidFill>
                <a:latin typeface="Segoe UI"/>
                <a:ea typeface="Segoe UI"/>
                <a:cs typeface="Segoe UI"/>
              </a:rPr>
              <a:t xml:space="preserve">Read a value, switch pages</a:t>
            </a:r>
            <a:endParaRPr lang="en-GB" sz="1875" b="0"/>
          </a:p>
          <a:p>
            <a:pPr algn="l">
              <a:lnSpc>
                <a:spcPct val="110000"/>
              </a:lnSpc>
            </a:pPr>
            <a:r>
              <a:rPr lang="en-GB" sz="1875" b="0">
                <a:solidFill>
                  <a:srgbClr val="776B62"/>
                </a:solidFill>
                <a:latin typeface="Segoe UI"/>
                <a:ea typeface="Segoe UI"/>
                <a:cs typeface="Segoe UI"/>
              </a:rPr>
              <a:t xml:space="preserve">and enter it again.</a:t>
            </a:r>
            <a:endParaRPr lang="en-GB" sz="1875" b="0"/>
          </a:p>
        </p:txBody>
      </p:sp>
      <p:sp>
        <p:nvSpPr>
          <p:cNvPr id="13" name="Shape 13"/>
          <p:cNvSpPr/>
          <p:nvPr/>
        </p:nvSpPr>
        <p:spPr>
          <a:xfrm>
            <a:off x="8172450" y="2714625"/>
            <a:ext cx="3333750" cy="12382"/>
          </a:xfrm>
          <a:prstGeom prst="rect">
            <a:avLst/>
          </a:prstGeom>
          <a:solidFill>
            <a:srgbClr val="E7DDD3"/>
          </a:solidFill>
          <a:ln w="9525">
            <a:noFill/>
          </a:ln>
        </p:spPr>
      </p:sp>
      <p:sp>
        <p:nvSpPr>
          <p:cNvPr id="14" name="03"/>
          <p:cNvSpPr txBox="1"/>
          <p:nvPr/>
        </p:nvSpPr>
        <p:spPr>
          <a:xfrm>
            <a:off x="8172450" y="2933700"/>
            <a:ext cx="3333750" cy="781050"/>
          </a:xfrm>
          <a:prstGeom prst="rect">
            <a:avLst/>
          </a:prstGeom>
          <a:noFill/>
          <a:ln>
            <a:noFill/>
          </a:ln>
        </p:spPr>
        <p:txBody>
          <a:bodyPr wrap="square" lIns="0" tIns="0" rIns="0" bIns="0" anchor="t"/>
          <a:lstStyle/>
          <a:p>
            <a:pPr algn="l">
              <a:lnSpc>
                <a:spcPct val="110000"/>
              </a:lnSpc>
            </a:pPr>
            <a:r>
              <a:rPr lang="en-GB" sz="4875" b="0">
                <a:solidFill>
                  <a:srgbClr val="FF7A1A"/>
                </a:solidFill>
                <a:latin typeface="Segoe UI"/>
                <a:ea typeface="Segoe UI"/>
                <a:cs typeface="Segoe UI"/>
              </a:rPr>
              <a:t xml:space="preserve">03</a:t>
            </a:r>
            <a:endParaRPr lang="en-GB" sz="4875" b="0"/>
          </a:p>
        </p:txBody>
      </p:sp>
      <p:sp>
        <p:nvSpPr>
          <p:cNvPr id="15" name="Repeat the sequence"/>
          <p:cNvSpPr txBox="1"/>
          <p:nvPr/>
        </p:nvSpPr>
        <p:spPr>
          <a:xfrm>
            <a:off x="8172450" y="3943350"/>
            <a:ext cx="3333750" cy="428625"/>
          </a:xfrm>
          <a:prstGeom prst="rect">
            <a:avLst/>
          </a:prstGeom>
          <a:noFill/>
          <a:ln>
            <a:noFill/>
          </a:ln>
        </p:spPr>
        <p:txBody>
          <a:bodyPr wrap="square" lIns="0" tIns="0" rIns="0" bIns="0" anchor="t"/>
          <a:lstStyle/>
          <a:p>
            <a:pPr algn="l">
              <a:lnSpc>
                <a:spcPct val="110000"/>
              </a:lnSpc>
            </a:pPr>
            <a:r>
              <a:rPr lang="en-GB" sz="2175" b="1">
                <a:solidFill>
                  <a:srgbClr val="201D1D"/>
                </a:solidFill>
                <a:latin typeface="Segoe UI"/>
                <a:ea typeface="Segoe UI"/>
                <a:cs typeface="Segoe UI"/>
              </a:rPr>
              <a:t xml:space="preserve">Repeat the sequence</a:t>
            </a:r>
            <a:endParaRPr lang="en-GB" sz="2175" b="1"/>
          </a:p>
        </p:txBody>
      </p:sp>
      <p:sp>
        <p:nvSpPr>
          <p:cNvPr id="16" name="The process stays familiar. The details change."/>
          <p:cNvSpPr txBox="1"/>
          <p:nvPr/>
        </p:nvSpPr>
        <p:spPr>
          <a:xfrm>
            <a:off x="8172450" y="4591050"/>
            <a:ext cx="3333750" cy="1047750"/>
          </a:xfrm>
          <a:prstGeom prst="rect">
            <a:avLst/>
          </a:prstGeom>
          <a:noFill/>
          <a:ln>
            <a:noFill/>
          </a:ln>
        </p:spPr>
        <p:txBody>
          <a:bodyPr wrap="square" lIns="0" tIns="0" rIns="0" bIns="0" anchor="t"/>
          <a:lstStyle/>
          <a:p>
            <a:pPr algn="l">
              <a:lnSpc>
                <a:spcPct val="110000"/>
              </a:lnSpc>
            </a:pPr>
            <a:r>
              <a:rPr lang="en-GB" sz="1875" b="0">
                <a:solidFill>
                  <a:srgbClr val="776B62"/>
                </a:solidFill>
                <a:latin typeface="Segoe UI"/>
                <a:ea typeface="Segoe UI"/>
                <a:cs typeface="Segoe UI"/>
              </a:rPr>
              <a:t xml:space="preserve">The process stays familiar.</a:t>
            </a:r>
            <a:endParaRPr lang="en-GB" sz="1875" b="0"/>
          </a:p>
          <a:p>
            <a:pPr algn="l">
              <a:lnSpc>
                <a:spcPct val="110000"/>
              </a:lnSpc>
            </a:pPr>
            <a:r>
              <a:rPr lang="en-GB" sz="1875" b="0">
                <a:solidFill>
                  <a:srgbClr val="776B62"/>
                </a:solidFill>
                <a:latin typeface="Segoe UI"/>
                <a:ea typeface="Segoe UI"/>
                <a:cs typeface="Segoe UI"/>
              </a:rPr>
              <a:t xml:space="preserve">The details change.</a:t>
            </a:r>
            <a:endParaRPr lang="en-GB" sz="1875" b="0"/>
          </a:p>
        </p:txBody>
      </p:sp>
      <p:sp>
        <p:nvSpPr>
          <p:cNvPr id="17" name="A useful shortcut starts with a task you already know h"/>
          <p:cNvSpPr txBox="1"/>
          <p:nvPr/>
        </p:nvSpPr>
        <p:spPr>
          <a:xfrm>
            <a:off x="609600" y="6076950"/>
            <a:ext cx="10972800" cy="381000"/>
          </a:xfrm>
          <a:prstGeom prst="rect">
            <a:avLst/>
          </a:prstGeom>
          <a:noFill/>
          <a:ln>
            <a:noFill/>
          </a:ln>
        </p:spPr>
        <p:txBody>
          <a:bodyPr wrap="square" lIns="0" tIns="0" rIns="0" bIns="0" anchor="t"/>
          <a:lstStyle/>
          <a:p>
            <a:pPr algn="l">
              <a:lnSpc>
                <a:spcPct val="110000"/>
              </a:lnSpc>
            </a:pPr>
            <a:r>
              <a:rPr lang="en-GB" sz="1875" b="0">
                <a:solidFill>
                  <a:srgbClr val="201D1D"/>
                </a:solidFill>
                <a:latin typeface="Segoe UI"/>
                <a:ea typeface="Segoe UI"/>
                <a:cs typeface="Segoe UI"/>
              </a:rPr>
              <a:t xml:space="preserve">A useful shortcut starts with a task you already know how to do.</a:t>
            </a:r>
            <a:endParaRPr lang="en-GB" sz="1875" b="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1">
  <p:cSld name="A demonstration becomes a reusable workflow">
    <p:bg>
      <p:bgPr>
        <a:solidFill>
          <a:srgbClr val="FFFEFA"/>
        </a:solidFill>
        <a:effectLst/>
      </p:bgPr>
    </p:bg>
    <p:spTree>
      <p:nvGrpSpPr>
        <p:cNvPr id="1" name=""/>
        <p:cNvGrpSpPr/>
        <p:nvPr/>
      </p:nvGrpSpPr>
      <p:grpSpPr>
        <a:xfrm>
          <a:off x="0" y="0"/>
          <a:ext cx="0" cy="0"/>
          <a:chOff x="0" y="0"/>
          <a:chExt cx="0" cy="0"/>
        </a:xfrm>
      </p:grpSpPr>
      <p:sp>
        <p:nvSpPr>
          <p:cNvPr id="2" name="Kopi"/>
          <p:cNvSpPr txBox="1"/>
          <p:nvPr/>
        </p:nvSpPr>
        <p:spPr>
          <a:xfrm>
            <a:off x="609600" y="285750"/>
            <a:ext cx="5715000" cy="228600"/>
          </a:xfrm>
          <a:prstGeom prst="rect">
            <a:avLst/>
          </a:prstGeom>
          <a:noFill/>
          <a:ln>
            <a:noFill/>
          </a:ln>
        </p:spPr>
        <p:txBody>
          <a:bodyPr wrap="square" lIns="0" tIns="0" rIns="0" bIns="0" anchor="t"/>
          <a:lstStyle/>
          <a:p>
            <a:pPr algn="l">
              <a:lnSpc>
                <a:spcPct val="110000"/>
              </a:lnSpc>
            </a:pPr>
            <a:r>
              <a:rPr lang="en-GB" sz="1275" b="0">
                <a:solidFill>
                  <a:srgbClr val="776B62"/>
                </a:solidFill>
                <a:latin typeface="Segoe UI"/>
                <a:ea typeface="Segoe UI"/>
                <a:cs typeface="Segoe UI"/>
              </a:rPr>
              <a:t xml:space="preserve">Kopi</a:t>
            </a:r>
            <a:endParaRPr lang="en-GB" sz="1275" b="0"/>
          </a:p>
        </p:txBody>
      </p:sp>
      <p:sp>
        <p:nvSpPr>
          <p:cNvPr id="3" name="3"/>
          <p:cNvSpPr txBox="1"/>
          <p:nvPr/>
        </p:nvSpPr>
        <p:spPr>
          <a:xfrm>
            <a:off x="11049000" y="285750"/>
            <a:ext cx="533400" cy="228600"/>
          </a:xfrm>
          <a:prstGeom prst="rect">
            <a:avLst/>
          </a:prstGeom>
          <a:noFill/>
          <a:ln>
            <a:noFill/>
          </a:ln>
        </p:spPr>
        <p:txBody>
          <a:bodyPr wrap="square" lIns="0" tIns="0" rIns="0" bIns="0" anchor="t"/>
          <a:lstStyle/>
          <a:p>
            <a:pPr algn="r">
              <a:lnSpc>
                <a:spcPct val="110000"/>
              </a:lnSpc>
            </a:pPr>
            <a:r>
              <a:rPr lang="en-GB" sz="1275" b="0">
                <a:solidFill>
                  <a:srgbClr val="776B62"/>
                </a:solidFill>
                <a:latin typeface="Segoe UI"/>
                <a:ea typeface="Segoe UI"/>
                <a:cs typeface="Segoe UI"/>
              </a:rPr>
              <a:t xml:space="preserve">3</a:t>
            </a:r>
            <a:endParaRPr lang="en-GB" sz="1275" b="0"/>
          </a:p>
        </p:txBody>
      </p:sp>
      <p:sp>
        <p:nvSpPr>
          <p:cNvPr id="4" name="A demonstration becomes a reusable workflow"/>
          <p:cNvSpPr txBox="1"/>
          <p:nvPr/>
        </p:nvSpPr>
        <p:spPr>
          <a:xfrm>
            <a:off x="609600" y="876300"/>
            <a:ext cx="10972800" cy="1162050"/>
          </a:xfrm>
          <a:prstGeom prst="rect">
            <a:avLst/>
          </a:prstGeom>
          <a:noFill/>
          <a:ln>
            <a:noFill/>
          </a:ln>
        </p:spPr>
        <p:txBody>
          <a:bodyPr wrap="square" lIns="0" tIns="0" rIns="0" bIns="0" anchor="t"/>
          <a:lstStyle/>
          <a:p>
            <a:pPr algn="l">
              <a:lnSpc>
                <a:spcPct val="110000"/>
              </a:lnSpc>
            </a:pPr>
            <a:r>
              <a:rPr lang="en-GB" sz="3600" b="1">
                <a:solidFill>
                  <a:srgbClr val="201D1D"/>
                </a:solidFill>
                <a:latin typeface="Segoe UI"/>
                <a:ea typeface="Segoe UI"/>
                <a:cs typeface="Segoe UI"/>
              </a:rPr>
              <a:t xml:space="preserve">A demonstration becomes</a:t>
            </a:r>
            <a:endParaRPr lang="en-GB" sz="3600" b="1"/>
          </a:p>
          <a:p>
            <a:pPr algn="l">
              <a:lnSpc>
                <a:spcPct val="110000"/>
              </a:lnSpc>
            </a:pPr>
            <a:r>
              <a:rPr lang="en-GB" sz="3600" b="1">
                <a:solidFill>
                  <a:srgbClr val="201D1D"/>
                </a:solidFill>
                <a:latin typeface="Segoe UI"/>
                <a:ea typeface="Segoe UI"/>
                <a:cs typeface="Segoe UI"/>
              </a:rPr>
              <a:t xml:space="preserve">a reusable workflow</a:t>
            </a:r>
            <a:endParaRPr lang="en-GB" sz="3600" b="1"/>
          </a:p>
        </p:txBody>
      </p:sp>
      <p:sp>
        <p:nvSpPr>
          <p:cNvPr id="5" name="Shape 5"/>
          <p:cNvSpPr/>
          <p:nvPr/>
        </p:nvSpPr>
        <p:spPr>
          <a:xfrm>
            <a:off x="609600" y="2714625"/>
            <a:ext cx="533400" cy="533400"/>
          </a:xfrm>
          <a:prstGeom prst="ellipse">
            <a:avLst/>
          </a:prstGeom>
          <a:solidFill>
            <a:srgbClr val="FFDDBE"/>
          </a:solidFill>
          <a:ln w="9525">
            <a:noFill/>
          </a:ln>
        </p:spPr>
      </p:sp>
      <p:sp>
        <p:nvSpPr>
          <p:cNvPr id="6" name="01"/>
          <p:cNvSpPr txBox="1"/>
          <p:nvPr/>
        </p:nvSpPr>
        <p:spPr>
          <a:xfrm>
            <a:off x="609600" y="2819400"/>
            <a:ext cx="533400" cy="342900"/>
          </a:xfrm>
          <a:prstGeom prst="rect">
            <a:avLst/>
          </a:prstGeom>
          <a:noFill/>
          <a:ln>
            <a:noFill/>
          </a:ln>
        </p:spPr>
        <p:txBody>
          <a:bodyPr wrap="square" lIns="0" tIns="0" rIns="0" bIns="0" anchor="t"/>
          <a:lstStyle/>
          <a:p>
            <a:pPr algn="ctr">
              <a:lnSpc>
                <a:spcPct val="110000"/>
              </a:lnSpc>
            </a:pPr>
            <a:r>
              <a:rPr lang="en-GB" sz="1950" b="1">
                <a:solidFill>
                  <a:srgbClr val="201D1D"/>
                </a:solidFill>
                <a:latin typeface="Segoe UI"/>
                <a:ea typeface="Segoe UI"/>
                <a:cs typeface="Segoe UI"/>
              </a:rPr>
              <a:t xml:space="preserve">01</a:t>
            </a:r>
            <a:endParaRPr lang="en-GB" sz="1950" b="1"/>
          </a:p>
        </p:txBody>
      </p:sp>
      <p:sp>
        <p:nvSpPr>
          <p:cNvPr id="7" name="Observe"/>
          <p:cNvSpPr txBox="1"/>
          <p:nvPr/>
        </p:nvSpPr>
        <p:spPr>
          <a:xfrm>
            <a:off x="609600" y="3581400"/>
            <a:ext cx="3333750" cy="476250"/>
          </a:xfrm>
          <a:prstGeom prst="rect">
            <a:avLst/>
          </a:prstGeom>
          <a:noFill/>
          <a:ln>
            <a:noFill/>
          </a:ln>
        </p:spPr>
        <p:txBody>
          <a:bodyPr wrap="square" lIns="0" tIns="0" rIns="0" bIns="0" anchor="t"/>
          <a:lstStyle/>
          <a:p>
            <a:pPr algn="l">
              <a:lnSpc>
                <a:spcPct val="110000"/>
              </a:lnSpc>
            </a:pPr>
            <a:r>
              <a:rPr lang="en-GB" sz="2625" b="1">
                <a:solidFill>
                  <a:srgbClr val="201D1D"/>
                </a:solidFill>
                <a:latin typeface="Segoe UI"/>
                <a:ea typeface="Segoe UI"/>
                <a:cs typeface="Segoe UI"/>
              </a:rPr>
              <a:t xml:space="preserve">Observe</a:t>
            </a:r>
            <a:endParaRPr lang="en-GB" sz="2625" b="1"/>
          </a:p>
        </p:txBody>
      </p:sp>
      <p:sp>
        <p:nvSpPr>
          <p:cNvPr id="8" name="Demonstrate a complete task in your signed-in browser."/>
          <p:cNvSpPr txBox="1"/>
          <p:nvPr/>
        </p:nvSpPr>
        <p:spPr>
          <a:xfrm>
            <a:off x="609600" y="4286250"/>
            <a:ext cx="3333750" cy="1143000"/>
          </a:xfrm>
          <a:prstGeom prst="rect">
            <a:avLst/>
          </a:prstGeom>
          <a:noFill/>
          <a:ln>
            <a:noFill/>
          </a:ln>
        </p:spPr>
        <p:txBody>
          <a:bodyPr wrap="square" lIns="0" tIns="0" rIns="0" bIns="0" anchor="t"/>
          <a:lstStyle/>
          <a:p>
            <a:pPr algn="l">
              <a:lnSpc>
                <a:spcPct val="110000"/>
              </a:lnSpc>
            </a:pPr>
            <a:r>
              <a:rPr lang="en-GB" sz="1875" b="0">
                <a:solidFill>
                  <a:srgbClr val="776B62"/>
                </a:solidFill>
                <a:latin typeface="Segoe UI"/>
                <a:ea typeface="Segoe UI"/>
                <a:cs typeface="Segoe UI"/>
              </a:rPr>
              <a:t xml:space="preserve">Demonstrate a complete task</a:t>
            </a:r>
            <a:endParaRPr lang="en-GB" sz="1875" b="0"/>
          </a:p>
          <a:p>
            <a:pPr algn="l">
              <a:lnSpc>
                <a:spcPct val="110000"/>
              </a:lnSpc>
            </a:pPr>
            <a:r>
              <a:rPr lang="en-GB" sz="1875" b="0">
                <a:solidFill>
                  <a:srgbClr val="776B62"/>
                </a:solidFill>
                <a:latin typeface="Segoe UI"/>
                <a:ea typeface="Segoe UI"/>
                <a:cs typeface="Segoe UI"/>
              </a:rPr>
              <a:t xml:space="preserve">in your signed-in browser.</a:t>
            </a:r>
            <a:endParaRPr lang="en-GB" sz="1875" b="0"/>
          </a:p>
        </p:txBody>
      </p:sp>
      <p:sp>
        <p:nvSpPr>
          <p:cNvPr id="9" name="Shape 9"/>
          <p:cNvSpPr/>
          <p:nvPr/>
        </p:nvSpPr>
        <p:spPr>
          <a:xfrm>
            <a:off x="4391025" y="2714625"/>
            <a:ext cx="533400" cy="533400"/>
          </a:xfrm>
          <a:prstGeom prst="ellipse">
            <a:avLst/>
          </a:prstGeom>
          <a:solidFill>
            <a:srgbClr val="FFDDBE"/>
          </a:solidFill>
          <a:ln w="9525">
            <a:noFill/>
          </a:ln>
        </p:spPr>
      </p:sp>
      <p:sp>
        <p:nvSpPr>
          <p:cNvPr id="10" name="02"/>
          <p:cNvSpPr txBox="1"/>
          <p:nvPr/>
        </p:nvSpPr>
        <p:spPr>
          <a:xfrm>
            <a:off x="4391025" y="2819400"/>
            <a:ext cx="533400" cy="342900"/>
          </a:xfrm>
          <a:prstGeom prst="rect">
            <a:avLst/>
          </a:prstGeom>
          <a:noFill/>
          <a:ln>
            <a:noFill/>
          </a:ln>
        </p:spPr>
        <p:txBody>
          <a:bodyPr wrap="square" lIns="0" tIns="0" rIns="0" bIns="0" anchor="t"/>
          <a:lstStyle/>
          <a:p>
            <a:pPr algn="ctr">
              <a:lnSpc>
                <a:spcPct val="110000"/>
              </a:lnSpc>
            </a:pPr>
            <a:r>
              <a:rPr lang="en-GB" sz="1950" b="1">
                <a:solidFill>
                  <a:srgbClr val="201D1D"/>
                </a:solidFill>
                <a:latin typeface="Segoe UI"/>
                <a:ea typeface="Segoe UI"/>
                <a:cs typeface="Segoe UI"/>
              </a:rPr>
              <a:t xml:space="preserve">02</a:t>
            </a:r>
            <a:endParaRPr lang="en-GB" sz="1950" b="1"/>
          </a:p>
        </p:txBody>
      </p:sp>
      <p:sp>
        <p:nvSpPr>
          <p:cNvPr id="11" name="Understand"/>
          <p:cNvSpPr txBox="1"/>
          <p:nvPr/>
        </p:nvSpPr>
        <p:spPr>
          <a:xfrm>
            <a:off x="4391025" y="3581400"/>
            <a:ext cx="3333750" cy="476250"/>
          </a:xfrm>
          <a:prstGeom prst="rect">
            <a:avLst/>
          </a:prstGeom>
          <a:noFill/>
          <a:ln>
            <a:noFill/>
          </a:ln>
        </p:spPr>
        <p:txBody>
          <a:bodyPr wrap="square" lIns="0" tIns="0" rIns="0" bIns="0" anchor="t"/>
          <a:lstStyle/>
          <a:p>
            <a:pPr algn="l">
              <a:lnSpc>
                <a:spcPct val="110000"/>
              </a:lnSpc>
            </a:pPr>
            <a:r>
              <a:rPr lang="en-GB" sz="2625" b="1">
                <a:solidFill>
                  <a:srgbClr val="201D1D"/>
                </a:solidFill>
                <a:latin typeface="Segoe UI"/>
                <a:ea typeface="Segoe UI"/>
                <a:cs typeface="Segoe UI"/>
              </a:rPr>
              <a:t xml:space="preserve">Understand</a:t>
            </a:r>
            <a:endParaRPr lang="en-GB" sz="2625" b="1"/>
          </a:p>
        </p:txBody>
      </p:sp>
      <p:sp>
        <p:nvSpPr>
          <p:cNvPr id="12" name="Gemma proposes inputs and steps. You resolve uncertaint"/>
          <p:cNvSpPr txBox="1"/>
          <p:nvPr/>
        </p:nvSpPr>
        <p:spPr>
          <a:xfrm>
            <a:off x="4391025" y="4286250"/>
            <a:ext cx="3333750" cy="1143000"/>
          </a:xfrm>
          <a:prstGeom prst="rect">
            <a:avLst/>
          </a:prstGeom>
          <a:noFill/>
          <a:ln>
            <a:noFill/>
          </a:ln>
        </p:spPr>
        <p:txBody>
          <a:bodyPr wrap="square" lIns="0" tIns="0" rIns="0" bIns="0" anchor="t"/>
          <a:lstStyle/>
          <a:p>
            <a:pPr algn="l">
              <a:lnSpc>
                <a:spcPct val="110000"/>
              </a:lnSpc>
            </a:pPr>
            <a:r>
              <a:rPr lang="en-GB" sz="1875" b="0">
                <a:solidFill>
                  <a:srgbClr val="776B62"/>
                </a:solidFill>
                <a:latin typeface="Segoe UI"/>
                <a:ea typeface="Segoe UI"/>
                <a:cs typeface="Segoe UI"/>
              </a:rPr>
              <a:t xml:space="preserve">Gemma proposes inputs and</a:t>
            </a:r>
            <a:endParaRPr lang="en-GB" sz="1875" b="0"/>
          </a:p>
          <a:p>
            <a:pPr algn="l">
              <a:lnSpc>
                <a:spcPct val="110000"/>
              </a:lnSpc>
            </a:pPr>
            <a:r>
              <a:rPr lang="en-GB" sz="1875" b="0">
                <a:solidFill>
                  <a:srgbClr val="776B62"/>
                </a:solidFill>
                <a:latin typeface="Segoe UI"/>
                <a:ea typeface="Segoe UI"/>
                <a:cs typeface="Segoe UI"/>
              </a:rPr>
              <a:t xml:space="preserve">steps. You resolve uncertainty.</a:t>
            </a:r>
            <a:endParaRPr lang="en-GB" sz="1875" b="0"/>
          </a:p>
        </p:txBody>
      </p:sp>
      <p:sp>
        <p:nvSpPr>
          <p:cNvPr id="13" name="Shape 13"/>
          <p:cNvSpPr/>
          <p:nvPr/>
        </p:nvSpPr>
        <p:spPr>
          <a:xfrm>
            <a:off x="8172450" y="2714625"/>
            <a:ext cx="533400" cy="533400"/>
          </a:xfrm>
          <a:prstGeom prst="ellipse">
            <a:avLst/>
          </a:prstGeom>
          <a:solidFill>
            <a:srgbClr val="FFDDBE"/>
          </a:solidFill>
          <a:ln w="9525">
            <a:noFill/>
          </a:ln>
        </p:spPr>
      </p:sp>
      <p:sp>
        <p:nvSpPr>
          <p:cNvPr id="14" name="03"/>
          <p:cNvSpPr txBox="1"/>
          <p:nvPr/>
        </p:nvSpPr>
        <p:spPr>
          <a:xfrm>
            <a:off x="8172450" y="2819400"/>
            <a:ext cx="533400" cy="342900"/>
          </a:xfrm>
          <a:prstGeom prst="rect">
            <a:avLst/>
          </a:prstGeom>
          <a:noFill/>
          <a:ln>
            <a:noFill/>
          </a:ln>
        </p:spPr>
        <p:txBody>
          <a:bodyPr wrap="square" lIns="0" tIns="0" rIns="0" bIns="0" anchor="t"/>
          <a:lstStyle/>
          <a:p>
            <a:pPr algn="ctr">
              <a:lnSpc>
                <a:spcPct val="110000"/>
              </a:lnSpc>
            </a:pPr>
            <a:r>
              <a:rPr lang="en-GB" sz="1950" b="1">
                <a:solidFill>
                  <a:srgbClr val="201D1D"/>
                </a:solidFill>
                <a:latin typeface="Segoe UI"/>
                <a:ea typeface="Segoe UI"/>
                <a:cs typeface="Segoe UI"/>
              </a:rPr>
              <a:t xml:space="preserve">03</a:t>
            </a:r>
            <a:endParaRPr lang="en-GB" sz="1950" b="1"/>
          </a:p>
        </p:txBody>
      </p:sp>
      <p:sp>
        <p:nvSpPr>
          <p:cNvPr id="15" name="Reuse"/>
          <p:cNvSpPr txBox="1"/>
          <p:nvPr/>
        </p:nvSpPr>
        <p:spPr>
          <a:xfrm>
            <a:off x="8172450" y="3581400"/>
            <a:ext cx="3333750" cy="476250"/>
          </a:xfrm>
          <a:prstGeom prst="rect">
            <a:avLst/>
          </a:prstGeom>
          <a:noFill/>
          <a:ln>
            <a:noFill/>
          </a:ln>
        </p:spPr>
        <p:txBody>
          <a:bodyPr wrap="square" lIns="0" tIns="0" rIns="0" bIns="0" anchor="t"/>
          <a:lstStyle/>
          <a:p>
            <a:pPr algn="l">
              <a:lnSpc>
                <a:spcPct val="110000"/>
              </a:lnSpc>
            </a:pPr>
            <a:r>
              <a:rPr lang="en-GB" sz="2625" b="1">
                <a:solidFill>
                  <a:srgbClr val="201D1D"/>
                </a:solidFill>
                <a:latin typeface="Segoe UI"/>
                <a:ea typeface="Segoe UI"/>
                <a:cs typeface="Segoe UI"/>
              </a:rPr>
              <a:t xml:space="preserve">Reuse</a:t>
            </a:r>
            <a:endParaRPr lang="en-GB" sz="2625" b="1"/>
          </a:p>
        </p:txBody>
      </p:sp>
      <p:sp>
        <p:nvSpPr>
          <p:cNvPr id="16" name="Review the workflow, then run it with new details."/>
          <p:cNvSpPr txBox="1"/>
          <p:nvPr/>
        </p:nvSpPr>
        <p:spPr>
          <a:xfrm>
            <a:off x="8172450" y="4286250"/>
            <a:ext cx="3333750" cy="1143000"/>
          </a:xfrm>
          <a:prstGeom prst="rect">
            <a:avLst/>
          </a:prstGeom>
          <a:noFill/>
          <a:ln>
            <a:noFill/>
          </a:ln>
        </p:spPr>
        <p:txBody>
          <a:bodyPr wrap="square" lIns="0" tIns="0" rIns="0" bIns="0" anchor="t"/>
          <a:lstStyle/>
          <a:p>
            <a:pPr algn="l">
              <a:lnSpc>
                <a:spcPct val="110000"/>
              </a:lnSpc>
            </a:pPr>
            <a:r>
              <a:rPr lang="en-GB" sz="1875" b="0">
                <a:solidFill>
                  <a:srgbClr val="776B62"/>
                </a:solidFill>
                <a:latin typeface="Segoe UI"/>
                <a:ea typeface="Segoe UI"/>
                <a:cs typeface="Segoe UI"/>
              </a:rPr>
              <a:t xml:space="preserve">Review the workflow, then</a:t>
            </a:r>
            <a:endParaRPr lang="en-GB" sz="1875" b="0"/>
          </a:p>
          <a:p>
            <a:pPr algn="l">
              <a:lnSpc>
                <a:spcPct val="110000"/>
              </a:lnSpc>
            </a:pPr>
            <a:r>
              <a:rPr lang="en-GB" sz="1875" b="0">
                <a:solidFill>
                  <a:srgbClr val="776B62"/>
                </a:solidFill>
                <a:latin typeface="Segoe UI"/>
                <a:ea typeface="Segoe UI"/>
                <a:cs typeface="Segoe UI"/>
              </a:rPr>
              <a:t xml:space="preserve">run it with new details.</a:t>
            </a:r>
            <a:endParaRPr lang="en-GB" sz="1875" b="0"/>
          </a:p>
        </p:txBody>
      </p:sp>
      <p:sp>
        <p:nvSpPr>
          <p:cNvPr id="17" name="Shape 17"/>
          <p:cNvSpPr/>
          <p:nvPr/>
        </p:nvSpPr>
        <p:spPr>
          <a:xfrm>
            <a:off x="609600" y="5667375"/>
            <a:ext cx="10972800" cy="12382"/>
          </a:xfrm>
          <a:prstGeom prst="rect">
            <a:avLst/>
          </a:prstGeom>
          <a:solidFill>
            <a:srgbClr val="E7DDD3"/>
          </a:solidFill>
          <a:ln w="9525">
            <a:noFill/>
          </a:ln>
        </p:spPr>
      </p:sp>
      <p:sp>
        <p:nvSpPr>
          <p:cNvPr id="18" name="Normal runs need approval. Automatic verification needs"/>
          <p:cNvSpPr txBox="1"/>
          <p:nvPr/>
        </p:nvSpPr>
        <p:spPr>
          <a:xfrm>
            <a:off x="609600" y="5953125"/>
            <a:ext cx="10972800" cy="523875"/>
          </a:xfrm>
          <a:prstGeom prst="rect">
            <a:avLst/>
          </a:prstGeom>
          <a:noFill/>
          <a:ln>
            <a:noFill/>
          </a:ln>
        </p:spPr>
        <p:txBody>
          <a:bodyPr wrap="square" lIns="0" tIns="0" rIns="0" bIns="0" anchor="t"/>
          <a:lstStyle/>
          <a:p>
            <a:pPr algn="l">
              <a:lnSpc>
                <a:spcPct val="110000"/>
              </a:lnSpc>
            </a:pPr>
            <a:r>
              <a:rPr lang="en-GB" sz="1725" b="0">
                <a:solidFill>
                  <a:srgbClr val="201D1D"/>
                </a:solidFill>
                <a:latin typeface="Segoe UI"/>
                <a:ea typeface="Segoe UI"/>
                <a:cs typeface="Segoe UI"/>
              </a:rPr>
              <a:t xml:space="preserve">Normal runs need approval. Automatic verification needs one explicit enablement.</a:t>
            </a:r>
            <a:endParaRPr lang="en-GB" sz="1725" b="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1">
  <p:cSld name="Demo: transferring a fresh verification code">
    <p:bg>
      <p:bgPr>
        <a:solidFill>
          <a:srgbClr val="FFFEFA"/>
        </a:solidFill>
        <a:effectLst/>
      </p:bgPr>
    </p:bg>
    <p:spTree>
      <p:nvGrpSpPr>
        <p:cNvPr id="1" name=""/>
        <p:cNvGrpSpPr/>
        <p:nvPr/>
      </p:nvGrpSpPr>
      <p:grpSpPr>
        <a:xfrm>
          <a:off x="0" y="0"/>
          <a:ext cx="0" cy="0"/>
          <a:chOff x="0" y="0"/>
          <a:chExt cx="0" cy="0"/>
        </a:xfrm>
      </p:grpSpPr>
      <p:sp>
        <p:nvSpPr>
          <p:cNvPr id="2" name="Kopi"/>
          <p:cNvSpPr txBox="1"/>
          <p:nvPr/>
        </p:nvSpPr>
        <p:spPr>
          <a:xfrm>
            <a:off x="609600" y="285750"/>
            <a:ext cx="5715000" cy="228600"/>
          </a:xfrm>
          <a:prstGeom prst="rect">
            <a:avLst/>
          </a:prstGeom>
          <a:noFill/>
          <a:ln>
            <a:noFill/>
          </a:ln>
        </p:spPr>
        <p:txBody>
          <a:bodyPr wrap="square" lIns="0" tIns="0" rIns="0" bIns="0" anchor="t"/>
          <a:lstStyle/>
          <a:p>
            <a:pPr algn="l">
              <a:lnSpc>
                <a:spcPct val="110000"/>
              </a:lnSpc>
            </a:pPr>
            <a:r>
              <a:rPr lang="en-GB" sz="1275" b="0">
                <a:solidFill>
                  <a:srgbClr val="776B62"/>
                </a:solidFill>
                <a:latin typeface="Segoe UI"/>
                <a:ea typeface="Segoe UI"/>
                <a:cs typeface="Segoe UI"/>
              </a:rPr>
              <a:t xml:space="preserve">Kopi</a:t>
            </a:r>
            <a:endParaRPr lang="en-GB" sz="1275" b="0"/>
          </a:p>
        </p:txBody>
      </p:sp>
      <p:sp>
        <p:nvSpPr>
          <p:cNvPr id="3" name="4"/>
          <p:cNvSpPr txBox="1"/>
          <p:nvPr/>
        </p:nvSpPr>
        <p:spPr>
          <a:xfrm>
            <a:off x="11049000" y="285750"/>
            <a:ext cx="533400" cy="228600"/>
          </a:xfrm>
          <a:prstGeom prst="rect">
            <a:avLst/>
          </a:prstGeom>
          <a:noFill/>
          <a:ln>
            <a:noFill/>
          </a:ln>
        </p:spPr>
        <p:txBody>
          <a:bodyPr wrap="square" lIns="0" tIns="0" rIns="0" bIns="0" anchor="t"/>
          <a:lstStyle/>
          <a:p>
            <a:pPr algn="r">
              <a:lnSpc>
                <a:spcPct val="110000"/>
              </a:lnSpc>
            </a:pPr>
            <a:r>
              <a:rPr lang="en-GB" sz="1275" b="0">
                <a:solidFill>
                  <a:srgbClr val="776B62"/>
                </a:solidFill>
                <a:latin typeface="Segoe UI"/>
                <a:ea typeface="Segoe UI"/>
                <a:cs typeface="Segoe UI"/>
              </a:rPr>
              <a:t xml:space="preserve">4</a:t>
            </a:r>
            <a:endParaRPr lang="en-GB" sz="1275" b="0"/>
          </a:p>
        </p:txBody>
      </p:sp>
      <p:sp>
        <p:nvSpPr>
          <p:cNvPr id="4" name="Demo: a fresh code, a familiar browser"/>
          <p:cNvSpPr txBox="1"/>
          <p:nvPr/>
        </p:nvSpPr>
        <p:spPr>
          <a:xfrm>
            <a:off x="609600" y="876300"/>
            <a:ext cx="10972800" cy="1162050"/>
          </a:xfrm>
          <a:prstGeom prst="rect">
            <a:avLst/>
          </a:prstGeom>
          <a:noFill/>
          <a:ln>
            <a:noFill/>
          </a:ln>
        </p:spPr>
        <p:txBody>
          <a:bodyPr wrap="square" lIns="0" tIns="0" rIns="0" bIns="0" anchor="t"/>
          <a:lstStyle/>
          <a:p>
            <a:pPr algn="l">
              <a:lnSpc>
                <a:spcPct val="110000"/>
              </a:lnSpc>
            </a:pPr>
            <a:r>
              <a:rPr lang="en-GB" sz="3600" b="1">
                <a:solidFill>
                  <a:srgbClr val="201D1D"/>
                </a:solidFill>
                <a:latin typeface="Segoe UI"/>
                <a:ea typeface="Segoe UI"/>
                <a:cs typeface="Segoe UI"/>
              </a:rPr>
              <a:t xml:space="preserve">Demo: a fresh code,</a:t>
            </a:r>
            <a:endParaRPr lang="en-GB" sz="3600" b="1"/>
          </a:p>
          <a:p>
            <a:pPr algn="l">
              <a:lnSpc>
                <a:spcPct val="110000"/>
              </a:lnSpc>
            </a:pPr>
            <a:r>
              <a:rPr lang="en-GB" sz="3600" b="1">
                <a:solidFill>
                  <a:srgbClr val="201D1D"/>
                </a:solidFill>
                <a:latin typeface="Segoe UI"/>
                <a:ea typeface="Segoe UI"/>
                <a:cs typeface="Segoe UI"/>
              </a:rPr>
              <a:t xml:space="preserve">a familiar browser</a:t>
            </a:r>
            <a:endParaRPr lang="en-GB" sz="3600" b="1"/>
          </a:p>
        </p:txBody>
      </p:sp>
      <p:sp>
        <p:nvSpPr>
          <p:cNvPr id="5" name="Target scenario: university sign-in and a messaging con"/>
          <p:cNvSpPr txBox="1"/>
          <p:nvPr/>
        </p:nvSpPr>
        <p:spPr>
          <a:xfrm>
            <a:off x="609600" y="2114550"/>
            <a:ext cx="10972800" cy="400050"/>
          </a:xfrm>
          <a:prstGeom prst="rect">
            <a:avLst/>
          </a:prstGeom>
          <a:noFill/>
          <a:ln>
            <a:noFill/>
          </a:ln>
        </p:spPr>
        <p:txBody>
          <a:bodyPr wrap="square" lIns="0" tIns="0" rIns="0" bIns="0" anchor="t"/>
          <a:lstStyle/>
          <a:p>
            <a:pPr algn="l">
              <a:lnSpc>
                <a:spcPct val="110000"/>
              </a:lnSpc>
            </a:pPr>
            <a:r>
              <a:rPr lang="en-GB" sz="1800" b="0">
                <a:solidFill>
                  <a:srgbClr val="776B62"/>
                </a:solidFill>
                <a:latin typeface="Segoe UI"/>
                <a:ea typeface="Segoe UI"/>
                <a:cs typeface="Segoe UI"/>
              </a:rPr>
              <a:t xml:space="preserve">Target scenario: university sign-in and a messaging conversation</a:t>
            </a:r>
            <a:endParaRPr lang="en-GB" sz="1800" b="0"/>
          </a:p>
        </p:txBody>
      </p:sp>
      <p:sp>
        <p:nvSpPr>
          <p:cNvPr id="6" name="Shape 6"/>
          <p:cNvSpPr/>
          <p:nvPr/>
        </p:nvSpPr>
        <p:spPr>
          <a:xfrm>
            <a:off x="609600" y="2933700"/>
            <a:ext cx="2476500" cy="66675"/>
          </a:xfrm>
          <a:prstGeom prst="rect">
            <a:avLst/>
          </a:prstGeom>
          <a:solidFill>
            <a:srgbClr val="FF7A1A"/>
          </a:solidFill>
          <a:ln w="9525">
            <a:noFill/>
          </a:ln>
        </p:spPr>
      </p:sp>
      <p:sp>
        <p:nvSpPr>
          <p:cNvPr id="7" name="1"/>
          <p:cNvSpPr txBox="1"/>
          <p:nvPr/>
        </p:nvSpPr>
        <p:spPr>
          <a:xfrm>
            <a:off x="609600" y="3286125"/>
            <a:ext cx="2476500" cy="819150"/>
          </a:xfrm>
          <a:prstGeom prst="rect">
            <a:avLst/>
          </a:prstGeom>
          <a:noFill/>
          <a:ln>
            <a:noFill/>
          </a:ln>
        </p:spPr>
        <p:txBody>
          <a:bodyPr wrap="square" lIns="0" tIns="0" rIns="0" bIns="0" anchor="t"/>
          <a:lstStyle/>
          <a:p>
            <a:pPr algn="l">
              <a:lnSpc>
                <a:spcPct val="110000"/>
              </a:lnSpc>
            </a:pPr>
            <a:r>
              <a:rPr lang="en-GB" sz="5100" b="0">
                <a:solidFill>
                  <a:srgbClr val="FF7A1A"/>
                </a:solidFill>
                <a:latin typeface="Segoe UI"/>
                <a:ea typeface="Segoe UI"/>
                <a:cs typeface="Segoe UI"/>
              </a:rPr>
              <a:t xml:space="preserve">1</a:t>
            </a:r>
            <a:endParaRPr lang="en-GB" sz="5100" b="0"/>
          </a:p>
        </p:txBody>
      </p:sp>
      <p:sp>
        <p:nvSpPr>
          <p:cNvPr id="8" name="New challenge"/>
          <p:cNvSpPr txBox="1"/>
          <p:nvPr/>
        </p:nvSpPr>
        <p:spPr>
          <a:xfrm>
            <a:off x="609600" y="4314825"/>
            <a:ext cx="2476500" cy="419100"/>
          </a:xfrm>
          <a:prstGeom prst="rect">
            <a:avLst/>
          </a:prstGeom>
          <a:noFill/>
          <a:ln>
            <a:noFill/>
          </a:ln>
        </p:spPr>
        <p:txBody>
          <a:bodyPr wrap="square" lIns="0" tIns="0" rIns="0" bIns="0" anchor="t"/>
          <a:lstStyle/>
          <a:p>
            <a:pPr algn="l">
              <a:lnSpc>
                <a:spcPct val="110000"/>
              </a:lnSpc>
            </a:pPr>
            <a:r>
              <a:rPr lang="en-GB" sz="2025" b="1">
                <a:solidFill>
                  <a:srgbClr val="201D1D"/>
                </a:solidFill>
                <a:latin typeface="Segoe UI"/>
                <a:ea typeface="Segoe UI"/>
                <a:cs typeface="Segoe UI"/>
              </a:rPr>
              <a:t xml:space="preserve">New challenge</a:t>
            </a:r>
            <a:endParaRPr lang="en-GB" sz="2025" b="1"/>
          </a:p>
        </p:txBody>
      </p:sp>
      <p:sp>
        <p:nvSpPr>
          <p:cNvPr id="9" name="Confirm the destination and account identity."/>
          <p:cNvSpPr txBox="1"/>
          <p:nvPr/>
        </p:nvSpPr>
        <p:spPr>
          <a:xfrm>
            <a:off x="609600" y="4905375"/>
            <a:ext cx="2476500" cy="952500"/>
          </a:xfrm>
          <a:prstGeom prst="rect">
            <a:avLst/>
          </a:prstGeom>
          <a:noFill/>
          <a:ln>
            <a:noFill/>
          </a:ln>
        </p:spPr>
        <p:txBody>
          <a:bodyPr wrap="square" lIns="0" tIns="0" rIns="0" bIns="0" anchor="t"/>
          <a:lstStyle/>
          <a:p>
            <a:pPr algn="l">
              <a:lnSpc>
                <a:spcPct val="110000"/>
              </a:lnSpc>
            </a:pPr>
            <a:r>
              <a:rPr lang="en-GB" sz="1650" b="0">
                <a:solidFill>
                  <a:srgbClr val="776B62"/>
                </a:solidFill>
                <a:latin typeface="Segoe UI"/>
                <a:ea typeface="Segoe UI"/>
                <a:cs typeface="Segoe UI"/>
              </a:rPr>
              <a:t xml:space="preserve">Confirm the destination</a:t>
            </a:r>
            <a:endParaRPr lang="en-GB" sz="1650" b="0"/>
          </a:p>
          <a:p>
            <a:pPr algn="l">
              <a:lnSpc>
                <a:spcPct val="110000"/>
              </a:lnSpc>
            </a:pPr>
            <a:r>
              <a:rPr lang="en-GB" sz="1650" b="0">
                <a:solidFill>
                  <a:srgbClr val="776B62"/>
                </a:solidFill>
                <a:latin typeface="Segoe UI"/>
                <a:ea typeface="Segoe UI"/>
                <a:cs typeface="Segoe UI"/>
              </a:rPr>
              <a:t xml:space="preserve">and account identity.</a:t>
            </a:r>
            <a:endParaRPr lang="en-GB" sz="1650" b="0"/>
          </a:p>
        </p:txBody>
      </p:sp>
      <p:sp>
        <p:nvSpPr>
          <p:cNvPr id="10" name="Shape 10"/>
          <p:cNvSpPr/>
          <p:nvPr/>
        </p:nvSpPr>
        <p:spPr>
          <a:xfrm>
            <a:off x="3448050" y="2933700"/>
            <a:ext cx="2476500" cy="66675"/>
          </a:xfrm>
          <a:prstGeom prst="rect">
            <a:avLst/>
          </a:prstGeom>
          <a:solidFill>
            <a:srgbClr val="FF7A1A"/>
          </a:solidFill>
          <a:ln w="9525">
            <a:noFill/>
          </a:ln>
        </p:spPr>
      </p:sp>
      <p:sp>
        <p:nvSpPr>
          <p:cNvPr id="11" name="2"/>
          <p:cNvSpPr txBox="1"/>
          <p:nvPr/>
        </p:nvSpPr>
        <p:spPr>
          <a:xfrm>
            <a:off x="3448050" y="3286125"/>
            <a:ext cx="2476500" cy="819150"/>
          </a:xfrm>
          <a:prstGeom prst="rect">
            <a:avLst/>
          </a:prstGeom>
          <a:noFill/>
          <a:ln>
            <a:noFill/>
          </a:ln>
        </p:spPr>
        <p:txBody>
          <a:bodyPr wrap="square" lIns="0" tIns="0" rIns="0" bIns="0" anchor="t"/>
          <a:lstStyle/>
          <a:p>
            <a:pPr algn="l">
              <a:lnSpc>
                <a:spcPct val="110000"/>
              </a:lnSpc>
            </a:pPr>
            <a:r>
              <a:rPr lang="en-GB" sz="5100" b="0">
                <a:solidFill>
                  <a:srgbClr val="FF7A1A"/>
                </a:solidFill>
                <a:latin typeface="Segoe UI"/>
                <a:ea typeface="Segoe UI"/>
                <a:cs typeface="Segoe UI"/>
              </a:rPr>
              <a:t xml:space="preserve">2</a:t>
            </a:r>
            <a:endParaRPr lang="en-GB" sz="5100" b="0"/>
          </a:p>
        </p:txBody>
      </p:sp>
      <p:sp>
        <p:nvSpPr>
          <p:cNvPr id="12" name="Fresh message"/>
          <p:cNvSpPr txBox="1"/>
          <p:nvPr/>
        </p:nvSpPr>
        <p:spPr>
          <a:xfrm>
            <a:off x="3448050" y="4314825"/>
            <a:ext cx="2476500" cy="419100"/>
          </a:xfrm>
          <a:prstGeom prst="rect">
            <a:avLst/>
          </a:prstGeom>
          <a:noFill/>
          <a:ln>
            <a:noFill/>
          </a:ln>
        </p:spPr>
        <p:txBody>
          <a:bodyPr wrap="square" lIns="0" tIns="0" rIns="0" bIns="0" anchor="t"/>
          <a:lstStyle/>
          <a:p>
            <a:pPr algn="l">
              <a:lnSpc>
                <a:spcPct val="110000"/>
              </a:lnSpc>
            </a:pPr>
            <a:r>
              <a:rPr lang="en-GB" sz="2025" b="1">
                <a:solidFill>
                  <a:srgbClr val="201D1D"/>
                </a:solidFill>
                <a:latin typeface="Segoe UI"/>
                <a:ea typeface="Segoe UI"/>
                <a:cs typeface="Segoe UI"/>
              </a:rPr>
              <a:t xml:space="preserve">Fresh message</a:t>
            </a:r>
            <a:endParaRPr lang="en-GB" sz="2025" b="1"/>
          </a:p>
        </p:txBody>
      </p:sp>
      <p:sp>
        <p:nvSpPr>
          <p:cNvPr id="13" name="Request a code and find a new matching message."/>
          <p:cNvSpPr txBox="1"/>
          <p:nvPr/>
        </p:nvSpPr>
        <p:spPr>
          <a:xfrm>
            <a:off x="3448050" y="4905375"/>
            <a:ext cx="2476500" cy="952500"/>
          </a:xfrm>
          <a:prstGeom prst="rect">
            <a:avLst/>
          </a:prstGeom>
          <a:noFill/>
          <a:ln>
            <a:noFill/>
          </a:ln>
        </p:spPr>
        <p:txBody>
          <a:bodyPr wrap="square" lIns="0" tIns="0" rIns="0" bIns="0" anchor="t"/>
          <a:lstStyle/>
          <a:p>
            <a:pPr algn="l">
              <a:lnSpc>
                <a:spcPct val="110000"/>
              </a:lnSpc>
            </a:pPr>
            <a:r>
              <a:rPr lang="en-GB" sz="1650" b="0">
                <a:solidFill>
                  <a:srgbClr val="776B62"/>
                </a:solidFill>
                <a:latin typeface="Segoe UI"/>
                <a:ea typeface="Segoe UI"/>
                <a:cs typeface="Segoe UI"/>
              </a:rPr>
              <a:t xml:space="preserve">Request a code and find</a:t>
            </a:r>
            <a:endParaRPr lang="en-GB" sz="1650" b="0"/>
          </a:p>
          <a:p>
            <a:pPr algn="l">
              <a:lnSpc>
                <a:spcPct val="110000"/>
              </a:lnSpc>
            </a:pPr>
            <a:r>
              <a:rPr lang="en-GB" sz="1650" b="0">
                <a:solidFill>
                  <a:srgbClr val="776B62"/>
                </a:solidFill>
                <a:latin typeface="Segoe UI"/>
                <a:ea typeface="Segoe UI"/>
                <a:cs typeface="Segoe UI"/>
              </a:rPr>
              <a:t xml:space="preserve">a new matching message.</a:t>
            </a:r>
            <a:endParaRPr lang="en-GB" sz="1650" b="0"/>
          </a:p>
        </p:txBody>
      </p:sp>
      <p:sp>
        <p:nvSpPr>
          <p:cNvPr id="14" name="Shape 14"/>
          <p:cNvSpPr/>
          <p:nvPr/>
        </p:nvSpPr>
        <p:spPr>
          <a:xfrm>
            <a:off x="6286500" y="2933700"/>
            <a:ext cx="2476500" cy="66675"/>
          </a:xfrm>
          <a:prstGeom prst="rect">
            <a:avLst/>
          </a:prstGeom>
          <a:solidFill>
            <a:srgbClr val="FF7A1A"/>
          </a:solidFill>
          <a:ln w="9525">
            <a:noFill/>
          </a:ln>
        </p:spPr>
      </p:sp>
      <p:sp>
        <p:nvSpPr>
          <p:cNvPr id="15" name="3"/>
          <p:cNvSpPr txBox="1"/>
          <p:nvPr/>
        </p:nvSpPr>
        <p:spPr>
          <a:xfrm>
            <a:off x="6286500" y="3286125"/>
            <a:ext cx="2476500" cy="819150"/>
          </a:xfrm>
          <a:prstGeom prst="rect">
            <a:avLst/>
          </a:prstGeom>
          <a:noFill/>
          <a:ln>
            <a:noFill/>
          </a:ln>
        </p:spPr>
        <p:txBody>
          <a:bodyPr wrap="square" lIns="0" tIns="0" rIns="0" bIns="0" anchor="t"/>
          <a:lstStyle/>
          <a:p>
            <a:pPr algn="l">
              <a:lnSpc>
                <a:spcPct val="110000"/>
              </a:lnSpc>
            </a:pPr>
            <a:r>
              <a:rPr lang="en-GB" sz="5100" b="0">
                <a:solidFill>
                  <a:srgbClr val="FF7A1A"/>
                </a:solidFill>
                <a:latin typeface="Segoe UI"/>
                <a:ea typeface="Segoe UI"/>
                <a:cs typeface="Segoe UI"/>
              </a:rPr>
              <a:t xml:space="preserve">3</a:t>
            </a:r>
            <a:endParaRPr lang="en-GB" sz="5100" b="0"/>
          </a:p>
        </p:txBody>
      </p:sp>
      <p:sp>
        <p:nvSpPr>
          <p:cNvPr id="16" name="Transfer"/>
          <p:cNvSpPr txBox="1"/>
          <p:nvPr/>
        </p:nvSpPr>
        <p:spPr>
          <a:xfrm>
            <a:off x="6286500" y="4314825"/>
            <a:ext cx="2476500" cy="419100"/>
          </a:xfrm>
          <a:prstGeom prst="rect">
            <a:avLst/>
          </a:prstGeom>
          <a:noFill/>
          <a:ln>
            <a:noFill/>
          </a:ln>
        </p:spPr>
        <p:txBody>
          <a:bodyPr wrap="square" lIns="0" tIns="0" rIns="0" bIns="0" anchor="t"/>
          <a:lstStyle/>
          <a:p>
            <a:pPr algn="l">
              <a:lnSpc>
                <a:spcPct val="110000"/>
              </a:lnSpc>
            </a:pPr>
            <a:r>
              <a:rPr lang="en-GB" sz="2025" b="1">
                <a:solidFill>
                  <a:srgbClr val="201D1D"/>
                </a:solidFill>
                <a:latin typeface="Segoe UI"/>
                <a:ea typeface="Segoe UI"/>
                <a:cs typeface="Segoe UI"/>
              </a:rPr>
              <a:t xml:space="preserve">Transfer</a:t>
            </a:r>
            <a:endParaRPr lang="en-GB" sz="2025" b="1"/>
          </a:p>
        </p:txBody>
      </p:sp>
      <p:sp>
        <p:nvSpPr>
          <p:cNvPr id="17" name="Fill and submit the transient value."/>
          <p:cNvSpPr txBox="1"/>
          <p:nvPr/>
        </p:nvSpPr>
        <p:spPr>
          <a:xfrm>
            <a:off x="6286500" y="4905375"/>
            <a:ext cx="2476500" cy="952500"/>
          </a:xfrm>
          <a:prstGeom prst="rect">
            <a:avLst/>
          </a:prstGeom>
          <a:noFill/>
          <a:ln>
            <a:noFill/>
          </a:ln>
        </p:spPr>
        <p:txBody>
          <a:bodyPr wrap="square" lIns="0" tIns="0" rIns="0" bIns="0" anchor="t"/>
          <a:lstStyle/>
          <a:p>
            <a:pPr algn="l">
              <a:lnSpc>
                <a:spcPct val="110000"/>
              </a:lnSpc>
            </a:pPr>
            <a:r>
              <a:rPr lang="en-GB" sz="1650" b="0">
                <a:solidFill>
                  <a:srgbClr val="776B62"/>
                </a:solidFill>
                <a:latin typeface="Segoe UI"/>
                <a:ea typeface="Segoe UI"/>
                <a:cs typeface="Segoe UI"/>
              </a:rPr>
              <a:t xml:space="preserve">Fill and submit the</a:t>
            </a:r>
            <a:endParaRPr lang="en-GB" sz="1650" b="0"/>
          </a:p>
          <a:p>
            <a:pPr algn="l">
              <a:lnSpc>
                <a:spcPct val="110000"/>
              </a:lnSpc>
            </a:pPr>
            <a:r>
              <a:rPr lang="en-GB" sz="1650" b="0">
                <a:solidFill>
                  <a:srgbClr val="776B62"/>
                </a:solidFill>
                <a:latin typeface="Segoe UI"/>
                <a:ea typeface="Segoe UI"/>
                <a:cs typeface="Segoe UI"/>
              </a:rPr>
              <a:t xml:space="preserve">transient value.</a:t>
            </a:r>
            <a:endParaRPr lang="en-GB" sz="1650" b="0"/>
          </a:p>
        </p:txBody>
      </p:sp>
      <p:sp>
        <p:nvSpPr>
          <p:cNvPr id="18" name="Shape 18"/>
          <p:cNvSpPr/>
          <p:nvPr/>
        </p:nvSpPr>
        <p:spPr>
          <a:xfrm>
            <a:off x="9124950" y="2933700"/>
            <a:ext cx="2476500" cy="66675"/>
          </a:xfrm>
          <a:prstGeom prst="rect">
            <a:avLst/>
          </a:prstGeom>
          <a:solidFill>
            <a:srgbClr val="FF7A1A"/>
          </a:solidFill>
          <a:ln w="9525">
            <a:noFill/>
          </a:ln>
        </p:spPr>
      </p:sp>
      <p:sp>
        <p:nvSpPr>
          <p:cNvPr id="19" name="4"/>
          <p:cNvSpPr txBox="1"/>
          <p:nvPr/>
        </p:nvSpPr>
        <p:spPr>
          <a:xfrm>
            <a:off x="9124950" y="3286125"/>
            <a:ext cx="2476500" cy="819150"/>
          </a:xfrm>
          <a:prstGeom prst="rect">
            <a:avLst/>
          </a:prstGeom>
          <a:noFill/>
          <a:ln>
            <a:noFill/>
          </a:ln>
        </p:spPr>
        <p:txBody>
          <a:bodyPr wrap="square" lIns="0" tIns="0" rIns="0" bIns="0" anchor="t"/>
          <a:lstStyle/>
          <a:p>
            <a:pPr algn="l">
              <a:lnSpc>
                <a:spcPct val="110000"/>
              </a:lnSpc>
            </a:pPr>
            <a:r>
              <a:rPr lang="en-GB" sz="5100" b="0">
                <a:solidFill>
                  <a:srgbClr val="FF7A1A"/>
                </a:solidFill>
                <a:latin typeface="Segoe UI"/>
                <a:ea typeface="Segoe UI"/>
                <a:cs typeface="Segoe UI"/>
              </a:rPr>
              <a:t xml:space="preserve">4</a:t>
            </a:r>
            <a:endParaRPr lang="en-GB" sz="5100" b="0"/>
          </a:p>
        </p:txBody>
      </p:sp>
      <p:sp>
        <p:nvSpPr>
          <p:cNvPr id="20" name="Verified result"/>
          <p:cNvSpPr txBox="1"/>
          <p:nvPr/>
        </p:nvSpPr>
        <p:spPr>
          <a:xfrm>
            <a:off x="9124950" y="4314825"/>
            <a:ext cx="2476500" cy="419100"/>
          </a:xfrm>
          <a:prstGeom prst="rect">
            <a:avLst/>
          </a:prstGeom>
          <a:noFill/>
          <a:ln>
            <a:noFill/>
          </a:ln>
        </p:spPr>
        <p:txBody>
          <a:bodyPr wrap="square" lIns="0" tIns="0" rIns="0" bIns="0" anchor="t"/>
          <a:lstStyle/>
          <a:p>
            <a:pPr algn="l">
              <a:lnSpc>
                <a:spcPct val="110000"/>
              </a:lnSpc>
            </a:pPr>
            <a:r>
              <a:rPr lang="en-GB" sz="2025" b="1">
                <a:solidFill>
                  <a:srgbClr val="201D1D"/>
                </a:solidFill>
                <a:latin typeface="Segoe UI"/>
                <a:ea typeface="Segoe UI"/>
                <a:cs typeface="Segoe UI"/>
              </a:rPr>
              <a:t xml:space="preserve">Verified result</a:t>
            </a:r>
            <a:endParaRPr lang="en-GB" sz="2025" b="1"/>
          </a:p>
        </p:txBody>
      </p:sp>
      <p:sp>
        <p:nvSpPr>
          <p:cNvPr id="21" name="Check a distinct success state."/>
          <p:cNvSpPr txBox="1"/>
          <p:nvPr/>
        </p:nvSpPr>
        <p:spPr>
          <a:xfrm>
            <a:off x="9124950" y="4905375"/>
            <a:ext cx="2476500" cy="952500"/>
          </a:xfrm>
          <a:prstGeom prst="rect">
            <a:avLst/>
          </a:prstGeom>
          <a:noFill/>
          <a:ln>
            <a:noFill/>
          </a:ln>
        </p:spPr>
        <p:txBody>
          <a:bodyPr wrap="square" lIns="0" tIns="0" rIns="0" bIns="0" anchor="t"/>
          <a:lstStyle/>
          <a:p>
            <a:pPr algn="l">
              <a:lnSpc>
                <a:spcPct val="110000"/>
              </a:lnSpc>
            </a:pPr>
            <a:r>
              <a:rPr lang="en-GB" sz="1650" b="0">
                <a:solidFill>
                  <a:srgbClr val="776B62"/>
                </a:solidFill>
                <a:latin typeface="Segoe UI"/>
                <a:ea typeface="Segoe UI"/>
                <a:cs typeface="Segoe UI"/>
              </a:rPr>
              <a:t xml:space="preserve">Check a distinct</a:t>
            </a:r>
            <a:endParaRPr lang="en-GB" sz="1650" b="0"/>
          </a:p>
          <a:p>
            <a:pPr algn="l">
              <a:lnSpc>
                <a:spcPct val="110000"/>
              </a:lnSpc>
            </a:pPr>
            <a:r>
              <a:rPr lang="en-GB" sz="1650" b="0">
                <a:solidFill>
                  <a:srgbClr val="776B62"/>
                </a:solidFill>
                <a:latin typeface="Segoe UI"/>
                <a:ea typeface="Segoe UI"/>
                <a:cs typeface="Segoe UI"/>
              </a:rPr>
              <a:t xml:space="preserve">success state.</a:t>
            </a:r>
            <a:endParaRPr lang="en-GB" sz="1650" b="0"/>
          </a:p>
        </p:txBody>
      </p:sp>
      <p:sp>
        <p:nvSpPr>
          <p:cNvPr id="22" name="Browser-fixture demo. Real WhatsApp and university vali"/>
          <p:cNvSpPr txBox="1"/>
          <p:nvPr/>
        </p:nvSpPr>
        <p:spPr>
          <a:xfrm>
            <a:off x="609600" y="6219825"/>
            <a:ext cx="10972800" cy="295275"/>
          </a:xfrm>
          <a:prstGeom prst="rect">
            <a:avLst/>
          </a:prstGeom>
          <a:noFill/>
          <a:ln>
            <a:noFill/>
          </a:ln>
        </p:spPr>
        <p:txBody>
          <a:bodyPr wrap="square" lIns="0" tIns="0" rIns="0" bIns="0" anchor="t"/>
          <a:lstStyle/>
          <a:p>
            <a:pPr algn="l">
              <a:lnSpc>
                <a:spcPct val="110000"/>
              </a:lnSpc>
            </a:pPr>
            <a:r>
              <a:rPr lang="en-GB" sz="1575" b="0">
                <a:solidFill>
                  <a:srgbClr val="776B62"/>
                </a:solidFill>
                <a:latin typeface="Segoe UI"/>
                <a:ea typeface="Segoe UI"/>
                <a:cs typeface="Segoe UI"/>
              </a:rPr>
              <a:t xml:space="preserve">Browser-fixture demo. Real WhatsApp and university validation remains next.</a:t>
            </a:r>
            <a:endParaRPr lang="en-GB" sz="1575" b="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1">
  <p:cSld name="A local model proposes. Guarded actions execute.">
    <p:bg>
      <p:bgPr>
        <a:solidFill>
          <a:srgbClr val="FFFEFA"/>
        </a:solidFill>
        <a:effectLst/>
      </p:bgPr>
    </p:bg>
    <p:spTree>
      <p:nvGrpSpPr>
        <p:cNvPr id="1" name=""/>
        <p:cNvGrpSpPr/>
        <p:nvPr/>
      </p:nvGrpSpPr>
      <p:grpSpPr>
        <a:xfrm>
          <a:off x="0" y="0"/>
          <a:ext cx="0" cy="0"/>
          <a:chOff x="0" y="0"/>
          <a:chExt cx="0" cy="0"/>
        </a:xfrm>
      </p:grpSpPr>
      <p:sp>
        <p:nvSpPr>
          <p:cNvPr id="2" name="Kopi"/>
          <p:cNvSpPr txBox="1"/>
          <p:nvPr/>
        </p:nvSpPr>
        <p:spPr>
          <a:xfrm>
            <a:off x="609600" y="285750"/>
            <a:ext cx="5715000" cy="228600"/>
          </a:xfrm>
          <a:prstGeom prst="rect">
            <a:avLst/>
          </a:prstGeom>
          <a:noFill/>
          <a:ln>
            <a:noFill/>
          </a:ln>
        </p:spPr>
        <p:txBody>
          <a:bodyPr wrap="square" lIns="0" tIns="0" rIns="0" bIns="0" anchor="t"/>
          <a:lstStyle/>
          <a:p>
            <a:pPr algn="l">
              <a:lnSpc>
                <a:spcPct val="110000"/>
              </a:lnSpc>
            </a:pPr>
            <a:r>
              <a:rPr lang="en-GB" sz="1275" b="0">
                <a:solidFill>
                  <a:srgbClr val="776B62"/>
                </a:solidFill>
                <a:latin typeface="Segoe UI"/>
                <a:ea typeface="Segoe UI"/>
                <a:cs typeface="Segoe UI"/>
              </a:rPr>
              <a:t xml:space="preserve">Kopi</a:t>
            </a:r>
            <a:endParaRPr lang="en-GB" sz="1275" b="0"/>
          </a:p>
        </p:txBody>
      </p:sp>
      <p:sp>
        <p:nvSpPr>
          <p:cNvPr id="3" name="5"/>
          <p:cNvSpPr txBox="1"/>
          <p:nvPr/>
        </p:nvSpPr>
        <p:spPr>
          <a:xfrm>
            <a:off x="11049000" y="285750"/>
            <a:ext cx="533400" cy="228600"/>
          </a:xfrm>
          <a:prstGeom prst="rect">
            <a:avLst/>
          </a:prstGeom>
          <a:noFill/>
          <a:ln>
            <a:noFill/>
          </a:ln>
        </p:spPr>
        <p:txBody>
          <a:bodyPr wrap="square" lIns="0" tIns="0" rIns="0" bIns="0" anchor="t"/>
          <a:lstStyle/>
          <a:p>
            <a:pPr algn="r">
              <a:lnSpc>
                <a:spcPct val="110000"/>
              </a:lnSpc>
            </a:pPr>
            <a:r>
              <a:rPr lang="en-GB" sz="1275" b="0">
                <a:solidFill>
                  <a:srgbClr val="776B62"/>
                </a:solidFill>
                <a:latin typeface="Segoe UI"/>
                <a:ea typeface="Segoe UI"/>
                <a:cs typeface="Segoe UI"/>
              </a:rPr>
              <a:t xml:space="preserve">5</a:t>
            </a:r>
            <a:endParaRPr lang="en-GB" sz="1275" b="0"/>
          </a:p>
        </p:txBody>
      </p:sp>
      <p:sp>
        <p:nvSpPr>
          <p:cNvPr id="4" name="Local understanding Guarded browser actions"/>
          <p:cNvSpPr txBox="1"/>
          <p:nvPr/>
        </p:nvSpPr>
        <p:spPr>
          <a:xfrm>
            <a:off x="609600" y="876300"/>
            <a:ext cx="10972800" cy="1162050"/>
          </a:xfrm>
          <a:prstGeom prst="rect">
            <a:avLst/>
          </a:prstGeom>
          <a:noFill/>
          <a:ln>
            <a:noFill/>
          </a:ln>
        </p:spPr>
        <p:txBody>
          <a:bodyPr wrap="square" lIns="0" tIns="0" rIns="0" bIns="0" anchor="t"/>
          <a:lstStyle/>
          <a:p>
            <a:pPr algn="l">
              <a:lnSpc>
                <a:spcPct val="110000"/>
              </a:lnSpc>
            </a:pPr>
            <a:r>
              <a:rPr lang="en-GB" sz="3600" b="1">
                <a:solidFill>
                  <a:srgbClr val="201D1D"/>
                </a:solidFill>
                <a:latin typeface="Segoe UI"/>
                <a:ea typeface="Segoe UI"/>
                <a:cs typeface="Segoe UI"/>
              </a:rPr>
              <a:t xml:space="preserve">Local understanding</a:t>
            </a:r>
            <a:endParaRPr lang="en-GB" sz="3600" b="1"/>
          </a:p>
          <a:p>
            <a:pPr algn="l">
              <a:lnSpc>
                <a:spcPct val="110000"/>
              </a:lnSpc>
            </a:pPr>
            <a:r>
              <a:rPr lang="en-GB" sz="3600" b="1">
                <a:solidFill>
                  <a:srgbClr val="201D1D"/>
                </a:solidFill>
                <a:latin typeface="Segoe UI"/>
                <a:ea typeface="Segoe UI"/>
                <a:cs typeface="Segoe UI"/>
              </a:rPr>
              <a:t xml:space="preserve">Guarded browser actions</a:t>
            </a:r>
            <a:endParaRPr lang="en-GB" sz="3600" b="1"/>
          </a:p>
        </p:txBody>
      </p:sp>
      <p:sp>
        <p:nvSpPr>
          <p:cNvPr id="5" name="Shape 5"/>
          <p:cNvSpPr/>
          <p:nvPr/>
        </p:nvSpPr>
        <p:spPr>
          <a:xfrm>
            <a:off x="609600" y="2619375"/>
            <a:ext cx="3219450" cy="1485900"/>
          </a:xfrm>
          <a:prstGeom prst="rect">
            <a:avLst/>
          </a:prstGeom>
          <a:solidFill>
            <a:srgbClr val="FFDDBE"/>
          </a:solidFill>
          <a:ln w="9525">
            <a:noFill/>
          </a:ln>
        </p:spPr>
      </p:sp>
      <p:sp>
        <p:nvSpPr>
          <p:cNvPr id="6" name="Signed-in browser"/>
          <p:cNvSpPr txBox="1"/>
          <p:nvPr/>
        </p:nvSpPr>
        <p:spPr>
          <a:xfrm>
            <a:off x="819150" y="2828925"/>
            <a:ext cx="2800350" cy="428625"/>
          </a:xfrm>
          <a:prstGeom prst="rect">
            <a:avLst/>
          </a:prstGeom>
          <a:noFill/>
          <a:ln>
            <a:noFill/>
          </a:ln>
        </p:spPr>
        <p:txBody>
          <a:bodyPr wrap="square" lIns="0" tIns="0" rIns="0" bIns="0" anchor="t"/>
          <a:lstStyle/>
          <a:p>
            <a:pPr algn="l">
              <a:lnSpc>
                <a:spcPct val="110000"/>
              </a:lnSpc>
            </a:pPr>
            <a:r>
              <a:rPr lang="en-GB" sz="2025" b="1">
                <a:solidFill>
                  <a:srgbClr val="201D1D"/>
                </a:solidFill>
                <a:latin typeface="Segoe UI"/>
                <a:ea typeface="Segoe UI"/>
                <a:cs typeface="Segoe UI"/>
              </a:rPr>
              <a:t xml:space="preserve">Signed-in browser</a:t>
            </a:r>
            <a:endParaRPr lang="en-GB" sz="2025" b="1"/>
          </a:p>
        </p:txBody>
      </p:sp>
      <p:sp>
        <p:nvSpPr>
          <p:cNvPr id="7" name="Extension records evidence and performs fixed actions."/>
          <p:cNvSpPr txBox="1"/>
          <p:nvPr/>
        </p:nvSpPr>
        <p:spPr>
          <a:xfrm>
            <a:off x="819150" y="3400425"/>
            <a:ext cx="2800350" cy="638175"/>
          </a:xfrm>
          <a:prstGeom prst="rect">
            <a:avLst/>
          </a:prstGeom>
          <a:noFill/>
          <a:ln>
            <a:noFill/>
          </a:ln>
        </p:spPr>
        <p:txBody>
          <a:bodyPr wrap="square" lIns="0" tIns="0" rIns="0" bIns="0" anchor="t"/>
          <a:lstStyle/>
          <a:p>
            <a:pPr algn="l">
              <a:lnSpc>
                <a:spcPct val="110000"/>
              </a:lnSpc>
            </a:pPr>
            <a:r>
              <a:rPr lang="en-GB" sz="1575" b="0">
                <a:solidFill>
                  <a:srgbClr val="201D1D"/>
                </a:solidFill>
                <a:latin typeface="Segoe UI"/>
                <a:ea typeface="Segoe UI"/>
                <a:cs typeface="Segoe UI"/>
              </a:rPr>
              <a:t xml:space="preserve">Extension records evidence</a:t>
            </a:r>
            <a:endParaRPr lang="en-GB" sz="1575" b="0"/>
          </a:p>
          <a:p>
            <a:pPr algn="l">
              <a:lnSpc>
                <a:spcPct val="110000"/>
              </a:lnSpc>
            </a:pPr>
            <a:r>
              <a:rPr lang="en-GB" sz="1575" b="0">
                <a:solidFill>
                  <a:srgbClr val="201D1D"/>
                </a:solidFill>
                <a:latin typeface="Segoe UI"/>
                <a:ea typeface="Segoe UI"/>
                <a:cs typeface="Segoe UI"/>
              </a:rPr>
              <a:t xml:space="preserve">and performs fixed actions.</a:t>
            </a:r>
            <a:endParaRPr lang="en-GB" sz="1575" b="0"/>
          </a:p>
        </p:txBody>
      </p:sp>
      <p:sp>
        <p:nvSpPr>
          <p:cNvPr id="8" name="Shape 8"/>
          <p:cNvSpPr/>
          <p:nvPr/>
        </p:nvSpPr>
        <p:spPr>
          <a:xfrm>
            <a:off x="4486275" y="2619375"/>
            <a:ext cx="3219450" cy="1485900"/>
          </a:xfrm>
          <a:prstGeom prst="rect">
            <a:avLst/>
          </a:prstGeom>
          <a:solidFill>
            <a:srgbClr val="F4EDE5"/>
          </a:solidFill>
          <a:ln w="9525">
            <a:noFill/>
          </a:ln>
        </p:spPr>
      </p:sp>
      <p:sp>
        <p:nvSpPr>
          <p:cNvPr id="9" name="Kopi desktop"/>
          <p:cNvSpPr txBox="1"/>
          <p:nvPr/>
        </p:nvSpPr>
        <p:spPr>
          <a:xfrm>
            <a:off x="4695825" y="2828925"/>
            <a:ext cx="2800350" cy="428625"/>
          </a:xfrm>
          <a:prstGeom prst="rect">
            <a:avLst/>
          </a:prstGeom>
          <a:noFill/>
          <a:ln>
            <a:noFill/>
          </a:ln>
        </p:spPr>
        <p:txBody>
          <a:bodyPr wrap="square" lIns="0" tIns="0" rIns="0" bIns="0" anchor="t"/>
          <a:lstStyle/>
          <a:p>
            <a:pPr algn="l">
              <a:lnSpc>
                <a:spcPct val="110000"/>
              </a:lnSpc>
            </a:pPr>
            <a:r>
              <a:rPr lang="en-GB" sz="2025" b="1">
                <a:solidFill>
                  <a:srgbClr val="201D1D"/>
                </a:solidFill>
                <a:latin typeface="Segoe UI"/>
                <a:ea typeface="Segoe UI"/>
                <a:cs typeface="Segoe UI"/>
              </a:rPr>
              <a:t xml:space="preserve">Kopi desktop</a:t>
            </a:r>
            <a:endParaRPr lang="en-GB" sz="2025" b="1"/>
          </a:p>
        </p:txBody>
      </p:sp>
      <p:sp>
        <p:nvSpPr>
          <p:cNvPr id="10" name="C# / .NET 10 / WPF Review, compile and validate."/>
          <p:cNvSpPr txBox="1"/>
          <p:nvPr/>
        </p:nvSpPr>
        <p:spPr>
          <a:xfrm>
            <a:off x="4695825" y="3400425"/>
            <a:ext cx="2800350" cy="638175"/>
          </a:xfrm>
          <a:prstGeom prst="rect">
            <a:avLst/>
          </a:prstGeom>
          <a:noFill/>
          <a:ln>
            <a:noFill/>
          </a:ln>
        </p:spPr>
        <p:txBody>
          <a:bodyPr wrap="square" lIns="0" tIns="0" rIns="0" bIns="0" anchor="t"/>
          <a:lstStyle/>
          <a:p>
            <a:pPr algn="l">
              <a:lnSpc>
                <a:spcPct val="110000"/>
              </a:lnSpc>
            </a:pPr>
            <a:r>
              <a:rPr lang="en-GB" sz="1575" b="0">
                <a:solidFill>
                  <a:srgbClr val="201D1D"/>
                </a:solidFill>
                <a:latin typeface="Segoe UI"/>
                <a:ea typeface="Segoe UI"/>
                <a:cs typeface="Segoe UI"/>
              </a:rPr>
              <a:t xml:space="preserve">C# / .NET 10 / WPF</a:t>
            </a:r>
            <a:endParaRPr lang="en-GB" sz="1575" b="0"/>
          </a:p>
          <a:p>
            <a:pPr algn="l">
              <a:lnSpc>
                <a:spcPct val="110000"/>
              </a:lnSpc>
            </a:pPr>
            <a:r>
              <a:rPr lang="en-GB" sz="1575" b="0">
                <a:solidFill>
                  <a:srgbClr val="201D1D"/>
                </a:solidFill>
                <a:latin typeface="Segoe UI"/>
                <a:ea typeface="Segoe UI"/>
                <a:cs typeface="Segoe UI"/>
              </a:rPr>
              <a:t xml:space="preserve">Review, compile and validate.</a:t>
            </a:r>
            <a:endParaRPr lang="en-GB" sz="1575" b="0"/>
          </a:p>
        </p:txBody>
      </p:sp>
      <p:sp>
        <p:nvSpPr>
          <p:cNvPr id="11" name="Shape 11"/>
          <p:cNvSpPr/>
          <p:nvPr/>
        </p:nvSpPr>
        <p:spPr>
          <a:xfrm>
            <a:off x="8362950" y="2619375"/>
            <a:ext cx="3219450" cy="1485900"/>
          </a:xfrm>
          <a:prstGeom prst="rect">
            <a:avLst/>
          </a:prstGeom>
          <a:solidFill>
            <a:srgbClr val="201D1D"/>
          </a:solidFill>
          <a:ln w="9525">
            <a:noFill/>
          </a:ln>
        </p:spPr>
      </p:sp>
      <p:sp>
        <p:nvSpPr>
          <p:cNvPr id="12" name="Gemma 4 E2B"/>
          <p:cNvSpPr txBox="1"/>
          <p:nvPr/>
        </p:nvSpPr>
        <p:spPr>
          <a:xfrm>
            <a:off x="8572500" y="2828925"/>
            <a:ext cx="2800350" cy="428625"/>
          </a:xfrm>
          <a:prstGeom prst="rect">
            <a:avLst/>
          </a:prstGeom>
          <a:noFill/>
          <a:ln>
            <a:noFill/>
          </a:ln>
        </p:spPr>
        <p:txBody>
          <a:bodyPr wrap="square" lIns="0" tIns="0" rIns="0" bIns="0" anchor="t"/>
          <a:lstStyle/>
          <a:p>
            <a:pPr algn="l">
              <a:lnSpc>
                <a:spcPct val="110000"/>
              </a:lnSpc>
            </a:pPr>
            <a:r>
              <a:rPr lang="en-GB" sz="2025" b="1">
                <a:solidFill>
                  <a:srgbClr val="FFFEFA"/>
                </a:solidFill>
                <a:latin typeface="Segoe UI"/>
                <a:ea typeface="Segoe UI"/>
                <a:cs typeface="Segoe UI"/>
              </a:rPr>
              <a:t xml:space="preserve">Gemma 4 E2B</a:t>
            </a:r>
            <a:endParaRPr lang="en-GB" sz="2025" b="1"/>
          </a:p>
        </p:txBody>
      </p:sp>
      <p:sp>
        <p:nvSpPr>
          <p:cNvPr id="13" name="QAT Q4_0 with llama.cpp CPU inference on this device."/>
          <p:cNvSpPr txBox="1"/>
          <p:nvPr/>
        </p:nvSpPr>
        <p:spPr>
          <a:xfrm>
            <a:off x="8572500" y="3400425"/>
            <a:ext cx="2800350" cy="638175"/>
          </a:xfrm>
          <a:prstGeom prst="rect">
            <a:avLst/>
          </a:prstGeom>
          <a:noFill/>
          <a:ln>
            <a:noFill/>
          </a:ln>
        </p:spPr>
        <p:txBody>
          <a:bodyPr wrap="square" lIns="0" tIns="0" rIns="0" bIns="0" anchor="t"/>
          <a:lstStyle/>
          <a:p>
            <a:pPr algn="l">
              <a:lnSpc>
                <a:spcPct val="110000"/>
              </a:lnSpc>
            </a:pPr>
            <a:r>
              <a:rPr lang="en-GB" sz="1575" b="0">
                <a:solidFill>
                  <a:srgbClr val="FFFEFA"/>
                </a:solidFill>
                <a:latin typeface="Segoe UI"/>
                <a:ea typeface="Segoe UI"/>
                <a:cs typeface="Segoe UI"/>
              </a:rPr>
              <a:t xml:space="preserve">QAT Q4_0 with llama.cpp</a:t>
            </a:r>
            <a:endParaRPr lang="en-GB" sz="1575" b="0"/>
          </a:p>
          <a:p>
            <a:pPr algn="l">
              <a:lnSpc>
                <a:spcPct val="110000"/>
              </a:lnSpc>
            </a:pPr>
            <a:r>
              <a:rPr lang="en-GB" sz="1575" b="0">
                <a:solidFill>
                  <a:srgbClr val="FFFEFA"/>
                </a:solidFill>
                <a:latin typeface="Segoe UI"/>
                <a:ea typeface="Segoe UI"/>
                <a:cs typeface="Segoe UI"/>
              </a:rPr>
              <a:t xml:space="preserve">CPU inference on this device.</a:t>
            </a:r>
            <a:endParaRPr lang="en-GB" sz="1575" b="0"/>
          </a:p>
        </p:txBody>
      </p:sp>
      <p:sp>
        <p:nvSpPr>
          <p:cNvPr id="14" name="Shape 14"/>
          <p:cNvSpPr/>
          <p:nvPr/>
        </p:nvSpPr>
        <p:spPr>
          <a:xfrm>
            <a:off x="3943350" y="3324225"/>
            <a:ext cx="428625" cy="28575"/>
          </a:xfrm>
          <a:prstGeom prst="rect">
            <a:avLst/>
          </a:prstGeom>
          <a:solidFill>
            <a:srgbClr val="FF7A1A"/>
          </a:solidFill>
          <a:ln w="9525">
            <a:noFill/>
          </a:ln>
        </p:spPr>
      </p:sp>
      <p:sp>
        <p:nvSpPr>
          <p:cNvPr id="15" name="Shape 15"/>
          <p:cNvSpPr/>
          <p:nvPr/>
        </p:nvSpPr>
        <p:spPr>
          <a:xfrm>
            <a:off x="7820025" y="3324225"/>
            <a:ext cx="428625" cy="28575"/>
          </a:xfrm>
          <a:prstGeom prst="rect">
            <a:avLst/>
          </a:prstGeom>
          <a:solidFill>
            <a:srgbClr val="FF7A1A"/>
          </a:solidFill>
          <a:ln w="9525">
            <a:noFill/>
          </a:ln>
        </p:spPr>
      </p:sp>
      <p:sp>
        <p:nvSpPr>
          <p:cNvPr id="16" name="Authenticated loopback bridge"/>
          <p:cNvSpPr txBox="1"/>
          <p:nvPr/>
        </p:nvSpPr>
        <p:spPr>
          <a:xfrm>
            <a:off x="609600" y="4314825"/>
            <a:ext cx="7096125" cy="285750"/>
          </a:xfrm>
          <a:prstGeom prst="rect">
            <a:avLst/>
          </a:prstGeom>
          <a:noFill/>
          <a:ln>
            <a:noFill/>
          </a:ln>
        </p:spPr>
        <p:txBody>
          <a:bodyPr wrap="square" lIns="0" tIns="0" rIns="0" bIns="0" anchor="t"/>
          <a:lstStyle/>
          <a:p>
            <a:pPr algn="l">
              <a:lnSpc>
                <a:spcPct val="110000"/>
              </a:lnSpc>
            </a:pPr>
            <a:r>
              <a:rPr lang="en-GB" sz="1575" b="0">
                <a:solidFill>
                  <a:srgbClr val="776B62"/>
                </a:solidFill>
                <a:latin typeface="Segoe UI"/>
                <a:ea typeface="Segoe UI"/>
                <a:cs typeface="Segoe UI"/>
              </a:rPr>
              <a:t xml:space="preserve">Authenticated loopback bridge</a:t>
            </a:r>
            <a:endParaRPr lang="en-GB" sz="1575" b="0"/>
          </a:p>
        </p:txBody>
      </p:sp>
      <p:sp>
        <p:nvSpPr>
          <p:cNvPr id="17" name="Shape 17"/>
          <p:cNvSpPr/>
          <p:nvPr/>
        </p:nvSpPr>
        <p:spPr>
          <a:xfrm>
            <a:off x="609600" y="4895850"/>
            <a:ext cx="10972800" cy="12382"/>
          </a:xfrm>
          <a:prstGeom prst="rect">
            <a:avLst/>
          </a:prstGeom>
          <a:solidFill>
            <a:srgbClr val="E7DDD3"/>
          </a:solidFill>
          <a:ln w="9525">
            <a:noFill/>
          </a:ln>
        </p:spPr>
      </p:sp>
      <p:sp>
        <p:nvSpPr>
          <p:cNvPr id="18" name="Execution checks"/>
          <p:cNvSpPr txBox="1"/>
          <p:nvPr/>
        </p:nvSpPr>
        <p:spPr>
          <a:xfrm>
            <a:off x="609600" y="5219700"/>
            <a:ext cx="2619375" cy="381000"/>
          </a:xfrm>
          <a:prstGeom prst="rect">
            <a:avLst/>
          </a:prstGeom>
          <a:noFill/>
          <a:ln>
            <a:noFill/>
          </a:ln>
        </p:spPr>
        <p:txBody>
          <a:bodyPr wrap="square" lIns="0" tIns="0" rIns="0" bIns="0" anchor="t"/>
          <a:lstStyle/>
          <a:p>
            <a:pPr algn="l">
              <a:lnSpc>
                <a:spcPct val="110000"/>
              </a:lnSpc>
            </a:pPr>
            <a:r>
              <a:rPr lang="en-GB" sz="2175" b="1">
                <a:solidFill>
                  <a:srgbClr val="201D1D"/>
                </a:solidFill>
                <a:latin typeface="Segoe UI"/>
                <a:ea typeface="Segoe UI"/>
                <a:cs typeface="Segoe UI"/>
              </a:rPr>
              <a:t xml:space="preserve">Execution checks</a:t>
            </a:r>
            <a:endParaRPr lang="en-GB" sz="2175" b="1"/>
          </a:p>
        </p:txBody>
      </p:sp>
      <p:sp>
        <p:nvSpPr>
          <p:cNvPr id="19" name="Observed targets. Identity guards. Freshness checks. Su"/>
          <p:cNvSpPr txBox="1"/>
          <p:nvPr/>
        </p:nvSpPr>
        <p:spPr>
          <a:xfrm>
            <a:off x="3476625" y="5229225"/>
            <a:ext cx="8105775" cy="723900"/>
          </a:xfrm>
          <a:prstGeom prst="rect">
            <a:avLst/>
          </a:prstGeom>
          <a:noFill/>
          <a:ln>
            <a:noFill/>
          </a:ln>
        </p:spPr>
        <p:txBody>
          <a:bodyPr wrap="square" lIns="0" tIns="0" rIns="0" bIns="0" anchor="t"/>
          <a:lstStyle/>
          <a:p>
            <a:pPr algn="l">
              <a:lnSpc>
                <a:spcPct val="110000"/>
              </a:lnSpc>
            </a:pPr>
            <a:r>
              <a:rPr lang="en-GB" sz="1875" b="0">
                <a:solidFill>
                  <a:srgbClr val="201D1D"/>
                </a:solidFill>
                <a:latin typeface="Segoe UI"/>
                <a:ea typeface="Segoe UI"/>
                <a:cs typeface="Segoe UI"/>
              </a:rPr>
              <a:t xml:space="preserve">Observed targets. Identity guards. Freshness checks. Success evidence.</a:t>
            </a:r>
            <a:endParaRPr lang="en-GB" sz="1875" b="0"/>
          </a:p>
        </p:txBody>
      </p:sp>
      <p:sp>
        <p:nvSpPr>
          <p:cNvPr id="20" name="Verification codes stay in extension memory and the tar"/>
          <p:cNvSpPr txBox="1"/>
          <p:nvPr/>
        </p:nvSpPr>
        <p:spPr>
          <a:xfrm>
            <a:off x="609600" y="6200775"/>
            <a:ext cx="10972800" cy="304800"/>
          </a:xfrm>
          <a:prstGeom prst="rect">
            <a:avLst/>
          </a:prstGeom>
          <a:noFill/>
          <a:ln>
            <a:noFill/>
          </a:ln>
        </p:spPr>
        <p:txBody>
          <a:bodyPr wrap="square" lIns="0" tIns="0" rIns="0" bIns="0" anchor="t"/>
          <a:lstStyle/>
          <a:p>
            <a:pPr algn="l">
              <a:lnSpc>
                <a:spcPct val="110000"/>
              </a:lnSpc>
            </a:pPr>
            <a:r>
              <a:rPr lang="en-GB" sz="1650" b="0">
                <a:solidFill>
                  <a:srgbClr val="776B62"/>
                </a:solidFill>
                <a:latin typeface="Segoe UI"/>
                <a:ea typeface="Segoe UI"/>
                <a:cs typeface="Segoe UI"/>
              </a:rPr>
              <a:t xml:space="preserve">Verification codes stay in extension memory and the target page.</a:t>
            </a:r>
            <a:endParaRPr lang="en-GB" sz="1650" b="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1">
  <p:cSld name="The technical work around the model">
    <p:bg>
      <p:bgPr>
        <a:solidFill>
          <a:srgbClr val="FFFEFA"/>
        </a:solidFill>
        <a:effectLst/>
      </p:bgPr>
    </p:bg>
    <p:spTree>
      <p:nvGrpSpPr>
        <p:cNvPr id="1" name=""/>
        <p:cNvGrpSpPr/>
        <p:nvPr/>
      </p:nvGrpSpPr>
      <p:grpSpPr>
        <a:xfrm>
          <a:off x="0" y="0"/>
          <a:ext cx="0" cy="0"/>
          <a:chOff x="0" y="0"/>
          <a:chExt cx="0" cy="0"/>
        </a:xfrm>
      </p:grpSpPr>
      <p:sp>
        <p:nvSpPr>
          <p:cNvPr id="2" name="Kopi"/>
          <p:cNvSpPr txBox="1"/>
          <p:nvPr/>
        </p:nvSpPr>
        <p:spPr>
          <a:xfrm>
            <a:off x="609600" y="285750"/>
            <a:ext cx="5715000" cy="228600"/>
          </a:xfrm>
          <a:prstGeom prst="rect">
            <a:avLst/>
          </a:prstGeom>
          <a:noFill/>
          <a:ln>
            <a:noFill/>
          </a:ln>
        </p:spPr>
        <p:txBody>
          <a:bodyPr wrap="square" lIns="0" tIns="0" rIns="0" bIns="0" anchor="t"/>
          <a:lstStyle/>
          <a:p>
            <a:pPr algn="l">
              <a:lnSpc>
                <a:spcPct val="110000"/>
              </a:lnSpc>
            </a:pPr>
            <a:r>
              <a:rPr lang="en-GB" sz="1275" b="0">
                <a:solidFill>
                  <a:srgbClr val="776B62"/>
                </a:solidFill>
                <a:latin typeface="Segoe UI"/>
                <a:ea typeface="Segoe UI"/>
                <a:cs typeface="Segoe UI"/>
              </a:rPr>
              <a:t xml:space="preserve">Kopi</a:t>
            </a:r>
            <a:endParaRPr lang="en-GB" sz="1275" b="0"/>
          </a:p>
        </p:txBody>
      </p:sp>
      <p:sp>
        <p:nvSpPr>
          <p:cNvPr id="3" name="6"/>
          <p:cNvSpPr txBox="1"/>
          <p:nvPr/>
        </p:nvSpPr>
        <p:spPr>
          <a:xfrm>
            <a:off x="11049000" y="285750"/>
            <a:ext cx="533400" cy="228600"/>
          </a:xfrm>
          <a:prstGeom prst="rect">
            <a:avLst/>
          </a:prstGeom>
          <a:noFill/>
          <a:ln>
            <a:noFill/>
          </a:ln>
        </p:spPr>
        <p:txBody>
          <a:bodyPr wrap="square" lIns="0" tIns="0" rIns="0" bIns="0" anchor="t"/>
          <a:lstStyle/>
          <a:p>
            <a:pPr algn="r">
              <a:lnSpc>
                <a:spcPct val="110000"/>
              </a:lnSpc>
            </a:pPr>
            <a:r>
              <a:rPr lang="en-GB" sz="1275" b="0">
                <a:solidFill>
                  <a:srgbClr val="776B62"/>
                </a:solidFill>
                <a:latin typeface="Segoe UI"/>
                <a:ea typeface="Segoe UI"/>
                <a:cs typeface="Segoe UI"/>
              </a:rPr>
              <a:t xml:space="preserve">6</a:t>
            </a:r>
            <a:endParaRPr lang="en-GB" sz="1275" b="0"/>
          </a:p>
        </p:txBody>
      </p:sp>
      <p:sp>
        <p:nvSpPr>
          <p:cNvPr id="4" name="What we built around Gemma"/>
          <p:cNvSpPr txBox="1"/>
          <p:nvPr/>
        </p:nvSpPr>
        <p:spPr>
          <a:xfrm>
            <a:off x="609600" y="876300"/>
            <a:ext cx="10972800" cy="1162050"/>
          </a:xfrm>
          <a:prstGeom prst="rect">
            <a:avLst/>
          </a:prstGeom>
          <a:noFill/>
          <a:ln>
            <a:noFill/>
          </a:ln>
        </p:spPr>
        <p:txBody>
          <a:bodyPr wrap="square" lIns="0" tIns="0" rIns="0" bIns="0" anchor="t"/>
          <a:lstStyle/>
          <a:p>
            <a:pPr algn="l">
              <a:lnSpc>
                <a:spcPct val="110000"/>
              </a:lnSpc>
            </a:pPr>
            <a:r>
              <a:rPr lang="en-GB" sz="3600" b="1">
                <a:solidFill>
                  <a:srgbClr val="201D1D"/>
                </a:solidFill>
                <a:latin typeface="Segoe UI"/>
                <a:ea typeface="Segoe UI"/>
                <a:cs typeface="Segoe UI"/>
              </a:rPr>
              <a:t xml:space="preserve">What we built around Gemma</a:t>
            </a:r>
            <a:endParaRPr lang="en-GB" sz="3600" b="1"/>
          </a:p>
        </p:txBody>
      </p:sp>
      <p:sp>
        <p:nvSpPr>
          <p:cNvPr id="5" name="Shape 5"/>
          <p:cNvSpPr/>
          <p:nvPr/>
        </p:nvSpPr>
        <p:spPr>
          <a:xfrm>
            <a:off x="609600" y="2381250"/>
            <a:ext cx="5286375" cy="12382"/>
          </a:xfrm>
          <a:prstGeom prst="rect">
            <a:avLst/>
          </a:prstGeom>
          <a:solidFill>
            <a:srgbClr val="E7DDD3"/>
          </a:solidFill>
          <a:ln w="9525">
            <a:noFill/>
          </a:ln>
        </p:spPr>
      </p:sp>
      <p:sp>
        <p:nvSpPr>
          <p:cNvPr id="6" name="01"/>
          <p:cNvSpPr txBox="1"/>
          <p:nvPr/>
        </p:nvSpPr>
        <p:spPr>
          <a:xfrm>
            <a:off x="609600" y="2581275"/>
            <a:ext cx="619125" cy="428625"/>
          </a:xfrm>
          <a:prstGeom prst="rect">
            <a:avLst/>
          </a:prstGeom>
          <a:noFill/>
          <a:ln>
            <a:noFill/>
          </a:ln>
        </p:spPr>
        <p:txBody>
          <a:bodyPr wrap="square" lIns="0" tIns="0" rIns="0" bIns="0" anchor="t"/>
          <a:lstStyle/>
          <a:p>
            <a:pPr algn="l">
              <a:lnSpc>
                <a:spcPct val="110000"/>
              </a:lnSpc>
            </a:pPr>
            <a:r>
              <a:rPr lang="en-GB" sz="2250" b="1">
                <a:solidFill>
                  <a:srgbClr val="FF7A1A"/>
                </a:solidFill>
                <a:latin typeface="Segoe UI"/>
                <a:ea typeface="Segoe UI"/>
                <a:cs typeface="Segoe UI"/>
              </a:rPr>
              <a:t xml:space="preserve">01</a:t>
            </a:r>
            <a:endParaRPr lang="en-GB" sz="2250" b="1"/>
          </a:p>
        </p:txBody>
      </p:sp>
      <p:sp>
        <p:nvSpPr>
          <p:cNvPr id="7" name="Grounded compilation"/>
          <p:cNvSpPr txBox="1"/>
          <p:nvPr/>
        </p:nvSpPr>
        <p:spPr>
          <a:xfrm>
            <a:off x="1352550" y="2581275"/>
            <a:ext cx="4543425" cy="428625"/>
          </a:xfrm>
          <a:prstGeom prst="rect">
            <a:avLst/>
          </a:prstGeom>
          <a:noFill/>
          <a:ln>
            <a:noFill/>
          </a:ln>
        </p:spPr>
        <p:txBody>
          <a:bodyPr wrap="square" lIns="0" tIns="0" rIns="0" bIns="0" anchor="t"/>
          <a:lstStyle/>
          <a:p>
            <a:pPr algn="l">
              <a:lnSpc>
                <a:spcPct val="110000"/>
              </a:lnSpc>
            </a:pPr>
            <a:r>
              <a:rPr lang="en-GB" sz="2175" b="1">
                <a:solidFill>
                  <a:srgbClr val="201D1D"/>
                </a:solidFill>
                <a:latin typeface="Segoe UI"/>
                <a:ea typeface="Segoe UI"/>
                <a:cs typeface="Segoe UI"/>
              </a:rPr>
              <a:t xml:space="preserve">Grounded compilation</a:t>
            </a:r>
            <a:endParaRPr lang="en-GB" sz="2175" b="1"/>
          </a:p>
        </p:txBody>
      </p:sp>
      <p:sp>
        <p:nvSpPr>
          <p:cNvPr id="8" name="Turn a demonstration into typed steps, observed targets"/>
          <p:cNvSpPr txBox="1"/>
          <p:nvPr/>
        </p:nvSpPr>
        <p:spPr>
          <a:xfrm>
            <a:off x="1352550" y="3209925"/>
            <a:ext cx="4543425" cy="1028700"/>
          </a:xfrm>
          <a:prstGeom prst="rect">
            <a:avLst/>
          </a:prstGeom>
          <a:noFill/>
          <a:ln>
            <a:noFill/>
          </a:ln>
        </p:spPr>
        <p:txBody>
          <a:bodyPr wrap="square" lIns="0" tIns="0" rIns="0" bIns="0" anchor="t"/>
          <a:lstStyle/>
          <a:p>
            <a:pPr algn="l">
              <a:lnSpc>
                <a:spcPct val="110000"/>
              </a:lnSpc>
            </a:pPr>
            <a:r>
              <a:rPr lang="en-GB" sz="1725" b="0">
                <a:solidFill>
                  <a:srgbClr val="776B62"/>
                </a:solidFill>
                <a:latin typeface="Segoe UI"/>
                <a:ea typeface="Segoe UI"/>
                <a:cs typeface="Segoe UI"/>
              </a:rPr>
              <a:t xml:space="preserve">Turn a demonstration into typed steps,</a:t>
            </a:r>
            <a:endParaRPr lang="en-GB" sz="1725" b="0"/>
          </a:p>
          <a:p>
            <a:pPr algn="l">
              <a:lnSpc>
                <a:spcPct val="110000"/>
              </a:lnSpc>
            </a:pPr>
            <a:r>
              <a:rPr lang="en-GB" sz="1725" b="0">
                <a:solidFill>
                  <a:srgbClr val="776B62"/>
                </a:solidFill>
                <a:latin typeface="Segoe UI"/>
                <a:ea typeface="Segoe UI"/>
                <a:cs typeface="Segoe UI"/>
              </a:rPr>
              <a:t xml:space="preserve">observed targets and blocking questions.</a:t>
            </a:r>
            <a:endParaRPr lang="en-GB" sz="1725" b="0"/>
          </a:p>
        </p:txBody>
      </p:sp>
      <p:sp>
        <p:nvSpPr>
          <p:cNvPr id="9" name="Shape 9"/>
          <p:cNvSpPr/>
          <p:nvPr/>
        </p:nvSpPr>
        <p:spPr>
          <a:xfrm>
            <a:off x="6296025" y="2381250"/>
            <a:ext cx="5286375" cy="12382"/>
          </a:xfrm>
          <a:prstGeom prst="rect">
            <a:avLst/>
          </a:prstGeom>
          <a:solidFill>
            <a:srgbClr val="E7DDD3"/>
          </a:solidFill>
          <a:ln w="9525">
            <a:noFill/>
          </a:ln>
        </p:spPr>
      </p:sp>
      <p:sp>
        <p:nvSpPr>
          <p:cNvPr id="10" name="02"/>
          <p:cNvSpPr txBox="1"/>
          <p:nvPr/>
        </p:nvSpPr>
        <p:spPr>
          <a:xfrm>
            <a:off x="6296025" y="2581275"/>
            <a:ext cx="619125" cy="428625"/>
          </a:xfrm>
          <a:prstGeom prst="rect">
            <a:avLst/>
          </a:prstGeom>
          <a:noFill/>
          <a:ln>
            <a:noFill/>
          </a:ln>
        </p:spPr>
        <p:txBody>
          <a:bodyPr wrap="square" lIns="0" tIns="0" rIns="0" bIns="0" anchor="t"/>
          <a:lstStyle/>
          <a:p>
            <a:pPr algn="l">
              <a:lnSpc>
                <a:spcPct val="110000"/>
              </a:lnSpc>
            </a:pPr>
            <a:r>
              <a:rPr lang="en-GB" sz="2250" b="1">
                <a:solidFill>
                  <a:srgbClr val="FF7A1A"/>
                </a:solidFill>
                <a:latin typeface="Segoe UI"/>
                <a:ea typeface="Segoe UI"/>
                <a:cs typeface="Segoe UI"/>
              </a:rPr>
              <a:t xml:space="preserve">02</a:t>
            </a:r>
            <a:endParaRPr lang="en-GB" sz="2250" b="1"/>
          </a:p>
        </p:txBody>
      </p:sp>
      <p:sp>
        <p:nvSpPr>
          <p:cNvPr id="11" name="Fresh-value coordination"/>
          <p:cNvSpPr txBox="1"/>
          <p:nvPr/>
        </p:nvSpPr>
        <p:spPr>
          <a:xfrm>
            <a:off x="7038975" y="2581275"/>
            <a:ext cx="4543425" cy="428625"/>
          </a:xfrm>
          <a:prstGeom prst="rect">
            <a:avLst/>
          </a:prstGeom>
          <a:noFill/>
          <a:ln>
            <a:noFill/>
          </a:ln>
        </p:spPr>
        <p:txBody>
          <a:bodyPr wrap="square" lIns="0" tIns="0" rIns="0" bIns="0" anchor="t"/>
          <a:lstStyle/>
          <a:p>
            <a:pPr algn="l">
              <a:lnSpc>
                <a:spcPct val="110000"/>
              </a:lnSpc>
            </a:pPr>
            <a:r>
              <a:rPr lang="en-GB" sz="2175" b="1">
                <a:solidFill>
                  <a:srgbClr val="201D1D"/>
                </a:solidFill>
                <a:latin typeface="Segoe UI"/>
                <a:ea typeface="Segoe UI"/>
                <a:cs typeface="Segoe UI"/>
              </a:rPr>
              <a:t xml:space="preserve">Fresh-value coordination</a:t>
            </a:r>
            <a:endParaRPr lang="en-GB" sz="2175" b="1"/>
          </a:p>
        </p:txBody>
      </p:sp>
      <p:sp>
        <p:nvSpPr>
          <p:cNvPr id="12" name="Baseline messages, request a new value and reject stale"/>
          <p:cNvSpPr txBox="1"/>
          <p:nvPr/>
        </p:nvSpPr>
        <p:spPr>
          <a:xfrm>
            <a:off x="7038975" y="3209925"/>
            <a:ext cx="4543425" cy="1028700"/>
          </a:xfrm>
          <a:prstGeom prst="rect">
            <a:avLst/>
          </a:prstGeom>
          <a:noFill/>
          <a:ln>
            <a:noFill/>
          </a:ln>
        </p:spPr>
        <p:txBody>
          <a:bodyPr wrap="square" lIns="0" tIns="0" rIns="0" bIns="0" anchor="t"/>
          <a:lstStyle/>
          <a:p>
            <a:pPr algn="l">
              <a:lnSpc>
                <a:spcPct val="110000"/>
              </a:lnSpc>
            </a:pPr>
            <a:r>
              <a:rPr lang="en-GB" sz="1725" b="0">
                <a:solidFill>
                  <a:srgbClr val="776B62"/>
                </a:solidFill>
                <a:latin typeface="Segoe UI"/>
                <a:ea typeface="Segoe UI"/>
                <a:cs typeface="Segoe UI"/>
              </a:rPr>
              <a:t xml:space="preserve">Baseline messages, request a new value</a:t>
            </a:r>
            <a:endParaRPr lang="en-GB" sz="1725" b="0"/>
          </a:p>
          <a:p>
            <a:pPr algn="l">
              <a:lnSpc>
                <a:spcPct val="110000"/>
              </a:lnSpc>
            </a:pPr>
            <a:r>
              <a:rPr lang="en-GB" sz="1725" b="0">
                <a:solidFill>
                  <a:srgbClr val="776B62"/>
                </a:solidFill>
                <a:latin typeface="Segoe UI"/>
                <a:ea typeface="Segoe UI"/>
                <a:cs typeface="Segoe UI"/>
              </a:rPr>
              <a:t xml:space="preserve">and reject stale or ambiguous results.</a:t>
            </a:r>
            <a:endParaRPr lang="en-GB" sz="1725" b="0"/>
          </a:p>
        </p:txBody>
      </p:sp>
      <p:sp>
        <p:nvSpPr>
          <p:cNvPr id="13" name="Shape 13"/>
          <p:cNvSpPr/>
          <p:nvPr/>
        </p:nvSpPr>
        <p:spPr>
          <a:xfrm>
            <a:off x="609600" y="4400550"/>
            <a:ext cx="5286375" cy="12382"/>
          </a:xfrm>
          <a:prstGeom prst="rect">
            <a:avLst/>
          </a:prstGeom>
          <a:solidFill>
            <a:srgbClr val="E7DDD3"/>
          </a:solidFill>
          <a:ln w="9525">
            <a:noFill/>
          </a:ln>
        </p:spPr>
      </p:sp>
      <p:sp>
        <p:nvSpPr>
          <p:cNvPr id="14" name="03"/>
          <p:cNvSpPr txBox="1"/>
          <p:nvPr/>
        </p:nvSpPr>
        <p:spPr>
          <a:xfrm>
            <a:off x="609600" y="4600575"/>
            <a:ext cx="619125" cy="428625"/>
          </a:xfrm>
          <a:prstGeom prst="rect">
            <a:avLst/>
          </a:prstGeom>
          <a:noFill/>
          <a:ln>
            <a:noFill/>
          </a:ln>
        </p:spPr>
        <p:txBody>
          <a:bodyPr wrap="square" lIns="0" tIns="0" rIns="0" bIns="0" anchor="t"/>
          <a:lstStyle/>
          <a:p>
            <a:pPr algn="l">
              <a:lnSpc>
                <a:spcPct val="110000"/>
              </a:lnSpc>
            </a:pPr>
            <a:r>
              <a:rPr lang="en-GB" sz="2250" b="1">
                <a:solidFill>
                  <a:srgbClr val="FF7A1A"/>
                </a:solidFill>
                <a:latin typeface="Segoe UI"/>
                <a:ea typeface="Segoe UI"/>
                <a:cs typeface="Segoe UI"/>
              </a:rPr>
              <a:t xml:space="preserve">03</a:t>
            </a:r>
            <a:endParaRPr lang="en-GB" sz="2250" b="1"/>
          </a:p>
        </p:txBody>
      </p:sp>
      <p:sp>
        <p:nvSpPr>
          <p:cNvPr id="15" name="Conservative recovery"/>
          <p:cNvSpPr txBox="1"/>
          <p:nvPr/>
        </p:nvSpPr>
        <p:spPr>
          <a:xfrm>
            <a:off x="1352550" y="4600575"/>
            <a:ext cx="4543425" cy="428625"/>
          </a:xfrm>
          <a:prstGeom prst="rect">
            <a:avLst/>
          </a:prstGeom>
          <a:noFill/>
          <a:ln>
            <a:noFill/>
          </a:ln>
        </p:spPr>
        <p:txBody>
          <a:bodyPr wrap="square" lIns="0" tIns="0" rIns="0" bIns="0" anchor="t"/>
          <a:lstStyle/>
          <a:p>
            <a:pPr algn="l">
              <a:lnSpc>
                <a:spcPct val="110000"/>
              </a:lnSpc>
            </a:pPr>
            <a:r>
              <a:rPr lang="en-GB" sz="2175" b="1">
                <a:solidFill>
                  <a:srgbClr val="201D1D"/>
                </a:solidFill>
                <a:latin typeface="Segoe UI"/>
                <a:ea typeface="Segoe UI"/>
                <a:cs typeface="Segoe UI"/>
              </a:rPr>
              <a:t xml:space="preserve">Conservative recovery</a:t>
            </a:r>
            <a:endParaRPr lang="en-GB" sz="2175" b="1"/>
          </a:p>
        </p:txBody>
      </p:sp>
      <p:sp>
        <p:nvSpPr>
          <p:cNvPr id="16" name="Track uncertain attempts, stop cancelled work and preve"/>
          <p:cNvSpPr txBox="1"/>
          <p:nvPr/>
        </p:nvSpPr>
        <p:spPr>
          <a:xfrm>
            <a:off x="1352550" y="5229225"/>
            <a:ext cx="4543425" cy="1028700"/>
          </a:xfrm>
          <a:prstGeom prst="rect">
            <a:avLst/>
          </a:prstGeom>
          <a:noFill/>
          <a:ln>
            <a:noFill/>
          </a:ln>
        </p:spPr>
        <p:txBody>
          <a:bodyPr wrap="square" lIns="0" tIns="0" rIns="0" bIns="0" anchor="t"/>
          <a:lstStyle/>
          <a:p>
            <a:pPr algn="l">
              <a:lnSpc>
                <a:spcPct val="110000"/>
              </a:lnSpc>
            </a:pPr>
            <a:r>
              <a:rPr lang="en-GB" sz="1725" b="0">
                <a:solidFill>
                  <a:srgbClr val="776B62"/>
                </a:solidFill>
                <a:latin typeface="Segoe UI"/>
                <a:ea typeface="Segoe UI"/>
                <a:cs typeface="Segoe UI"/>
              </a:rPr>
              <a:t xml:space="preserve">Track uncertain attempts, stop cancelled</a:t>
            </a:r>
            <a:endParaRPr lang="en-GB" sz="1725" b="0"/>
          </a:p>
          <a:p>
            <a:pPr algn="l">
              <a:lnSpc>
                <a:spcPct val="110000"/>
              </a:lnSpc>
            </a:pPr>
            <a:r>
              <a:rPr lang="en-GB" sz="1725" b="0">
                <a:solidFill>
                  <a:srgbClr val="776B62"/>
                </a:solidFill>
                <a:latin typeface="Segoe UI"/>
                <a:ea typeface="Segoe UI"/>
                <a:cs typeface="Segoe UI"/>
              </a:rPr>
              <a:t xml:space="preserve">work and prevent blind duplicate retries.</a:t>
            </a:r>
            <a:endParaRPr lang="en-GB" sz="1725" b="0"/>
          </a:p>
        </p:txBody>
      </p:sp>
      <p:sp>
        <p:nvSpPr>
          <p:cNvPr id="17" name="Shape 17"/>
          <p:cNvSpPr/>
          <p:nvPr/>
        </p:nvSpPr>
        <p:spPr>
          <a:xfrm>
            <a:off x="6296025" y="4400550"/>
            <a:ext cx="5286375" cy="12382"/>
          </a:xfrm>
          <a:prstGeom prst="rect">
            <a:avLst/>
          </a:prstGeom>
          <a:solidFill>
            <a:srgbClr val="E7DDD3"/>
          </a:solidFill>
          <a:ln w="9525">
            <a:noFill/>
          </a:ln>
        </p:spPr>
      </p:sp>
      <p:sp>
        <p:nvSpPr>
          <p:cNvPr id="18" name="04"/>
          <p:cNvSpPr txBox="1"/>
          <p:nvPr/>
        </p:nvSpPr>
        <p:spPr>
          <a:xfrm>
            <a:off x="6296025" y="4600575"/>
            <a:ext cx="619125" cy="428625"/>
          </a:xfrm>
          <a:prstGeom prst="rect">
            <a:avLst/>
          </a:prstGeom>
          <a:noFill/>
          <a:ln>
            <a:noFill/>
          </a:ln>
        </p:spPr>
        <p:txBody>
          <a:bodyPr wrap="square" lIns="0" tIns="0" rIns="0" bIns="0" anchor="t"/>
          <a:lstStyle/>
          <a:p>
            <a:pPr algn="l">
              <a:lnSpc>
                <a:spcPct val="110000"/>
              </a:lnSpc>
            </a:pPr>
            <a:r>
              <a:rPr lang="en-GB" sz="2250" b="1">
                <a:solidFill>
                  <a:srgbClr val="FF7A1A"/>
                </a:solidFill>
                <a:latin typeface="Segoe UI"/>
                <a:ea typeface="Segoe UI"/>
                <a:cs typeface="Segoe UI"/>
              </a:rPr>
              <a:t xml:space="preserve">04</a:t>
            </a:r>
            <a:endParaRPr lang="en-GB" sz="2250" b="1"/>
          </a:p>
        </p:txBody>
      </p:sp>
      <p:sp>
        <p:nvSpPr>
          <p:cNvPr id="19" name="Verified local runtime"/>
          <p:cNvSpPr txBox="1"/>
          <p:nvPr/>
        </p:nvSpPr>
        <p:spPr>
          <a:xfrm>
            <a:off x="7038975" y="4600575"/>
            <a:ext cx="4543425" cy="428625"/>
          </a:xfrm>
          <a:prstGeom prst="rect">
            <a:avLst/>
          </a:prstGeom>
          <a:noFill/>
          <a:ln>
            <a:noFill/>
          </a:ln>
        </p:spPr>
        <p:txBody>
          <a:bodyPr wrap="square" lIns="0" tIns="0" rIns="0" bIns="0" anchor="t"/>
          <a:lstStyle/>
          <a:p>
            <a:pPr algn="l">
              <a:lnSpc>
                <a:spcPct val="110000"/>
              </a:lnSpc>
            </a:pPr>
            <a:r>
              <a:rPr lang="en-GB" sz="2175" b="1">
                <a:solidFill>
                  <a:srgbClr val="201D1D"/>
                </a:solidFill>
                <a:latin typeface="Segoe UI"/>
                <a:ea typeface="Segoe UI"/>
                <a:cs typeface="Segoe UI"/>
              </a:rPr>
              <a:t xml:space="preserve">Verified local runtime</a:t>
            </a:r>
            <a:endParaRPr lang="en-GB" sz="2175" b="1"/>
          </a:p>
        </p:txBody>
      </p:sp>
      <p:sp>
        <p:nvSpPr>
          <p:cNvPr id="20" name="Pin and hash-check downloads, resume partials and manag"/>
          <p:cNvSpPr txBox="1"/>
          <p:nvPr/>
        </p:nvSpPr>
        <p:spPr>
          <a:xfrm>
            <a:off x="7038975" y="5229225"/>
            <a:ext cx="4543425" cy="1028700"/>
          </a:xfrm>
          <a:prstGeom prst="rect">
            <a:avLst/>
          </a:prstGeom>
          <a:noFill/>
          <a:ln>
            <a:noFill/>
          </a:ln>
        </p:spPr>
        <p:txBody>
          <a:bodyPr wrap="square" lIns="0" tIns="0" rIns="0" bIns="0" anchor="t"/>
          <a:lstStyle/>
          <a:p>
            <a:pPr algn="l">
              <a:lnSpc>
                <a:spcPct val="110000"/>
              </a:lnSpc>
            </a:pPr>
            <a:r>
              <a:rPr lang="en-GB" sz="1725" b="0">
                <a:solidFill>
                  <a:srgbClr val="776B62"/>
                </a:solidFill>
                <a:latin typeface="Segoe UI"/>
                <a:ea typeface="Segoe UI"/>
                <a:cs typeface="Segoe UI"/>
              </a:rPr>
              <a:t xml:space="preserve">Pin and hash-check downloads, resume</a:t>
            </a:r>
            <a:endParaRPr lang="en-GB" sz="1725" b="0"/>
          </a:p>
          <a:p>
            <a:pPr algn="l">
              <a:lnSpc>
                <a:spcPct val="110000"/>
              </a:lnSpc>
            </a:pPr>
            <a:r>
              <a:rPr lang="en-GB" sz="1725" b="0">
                <a:solidFill>
                  <a:srgbClr val="776B62"/>
                </a:solidFill>
                <a:latin typeface="Segoe UI"/>
                <a:ea typeface="Segoe UI"/>
                <a:cs typeface="Segoe UI"/>
              </a:rPr>
              <a:t xml:space="preserve">partials and manage native startup.</a:t>
            </a:r>
            <a:endParaRPr lang="en-GB" sz="1725" b="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1">
  <p:cSld name="Evidence and the next validation step">
    <p:bg>
      <p:bgPr>
        <a:solidFill>
          <a:srgbClr val="FFFEFA"/>
        </a:solidFill>
        <a:effectLst/>
      </p:bgPr>
    </p:bg>
    <p:spTree>
      <p:nvGrpSpPr>
        <p:cNvPr id="1" name=""/>
        <p:cNvGrpSpPr/>
        <p:nvPr/>
      </p:nvGrpSpPr>
      <p:grpSpPr>
        <a:xfrm>
          <a:off x="0" y="0"/>
          <a:ext cx="0" cy="0"/>
          <a:chOff x="0" y="0"/>
          <a:chExt cx="0" cy="0"/>
        </a:xfrm>
      </p:grpSpPr>
      <p:sp>
        <p:nvSpPr>
          <p:cNvPr id="2" name="Kopi"/>
          <p:cNvSpPr txBox="1"/>
          <p:nvPr/>
        </p:nvSpPr>
        <p:spPr>
          <a:xfrm>
            <a:off x="609600" y="285750"/>
            <a:ext cx="5715000" cy="228600"/>
          </a:xfrm>
          <a:prstGeom prst="rect">
            <a:avLst/>
          </a:prstGeom>
          <a:noFill/>
          <a:ln>
            <a:noFill/>
          </a:ln>
        </p:spPr>
        <p:txBody>
          <a:bodyPr wrap="square" lIns="0" tIns="0" rIns="0" bIns="0" anchor="t"/>
          <a:lstStyle/>
          <a:p>
            <a:pPr algn="l">
              <a:lnSpc>
                <a:spcPct val="110000"/>
              </a:lnSpc>
            </a:pPr>
            <a:r>
              <a:rPr lang="en-GB" sz="1275" b="0">
                <a:solidFill>
                  <a:srgbClr val="776B62"/>
                </a:solidFill>
                <a:latin typeface="Segoe UI"/>
                <a:ea typeface="Segoe UI"/>
                <a:cs typeface="Segoe UI"/>
              </a:rPr>
              <a:t xml:space="preserve">Kopi</a:t>
            </a:r>
            <a:endParaRPr lang="en-GB" sz="1275" b="0"/>
          </a:p>
        </p:txBody>
      </p:sp>
      <p:sp>
        <p:nvSpPr>
          <p:cNvPr id="3" name="7"/>
          <p:cNvSpPr txBox="1"/>
          <p:nvPr/>
        </p:nvSpPr>
        <p:spPr>
          <a:xfrm>
            <a:off x="11049000" y="285750"/>
            <a:ext cx="533400" cy="228600"/>
          </a:xfrm>
          <a:prstGeom prst="rect">
            <a:avLst/>
          </a:prstGeom>
          <a:noFill/>
          <a:ln>
            <a:noFill/>
          </a:ln>
        </p:spPr>
        <p:txBody>
          <a:bodyPr wrap="square" lIns="0" tIns="0" rIns="0" bIns="0" anchor="t"/>
          <a:lstStyle/>
          <a:p>
            <a:pPr algn="r">
              <a:lnSpc>
                <a:spcPct val="110000"/>
              </a:lnSpc>
            </a:pPr>
            <a:r>
              <a:rPr lang="en-GB" sz="1275" b="0">
                <a:solidFill>
                  <a:srgbClr val="776B62"/>
                </a:solidFill>
                <a:latin typeface="Segoe UI"/>
                <a:ea typeface="Segoe UI"/>
                <a:cs typeface="Segoe UI"/>
              </a:rPr>
              <a:t xml:space="preserve">7</a:t>
            </a:r>
            <a:endParaRPr lang="en-GB" sz="1275" b="0"/>
          </a:p>
        </p:txBody>
      </p:sp>
      <p:sp>
        <p:nvSpPr>
          <p:cNvPr id="4" name="Tested paths. Visible limits"/>
          <p:cNvSpPr txBox="1"/>
          <p:nvPr/>
        </p:nvSpPr>
        <p:spPr>
          <a:xfrm>
            <a:off x="609600" y="876300"/>
            <a:ext cx="10972800" cy="1162050"/>
          </a:xfrm>
          <a:prstGeom prst="rect">
            <a:avLst/>
          </a:prstGeom>
          <a:noFill/>
          <a:ln>
            <a:noFill/>
          </a:ln>
        </p:spPr>
        <p:txBody>
          <a:bodyPr wrap="square" lIns="0" tIns="0" rIns="0" bIns="0" anchor="t"/>
          <a:lstStyle/>
          <a:p>
            <a:pPr algn="l">
              <a:lnSpc>
                <a:spcPct val="110000"/>
              </a:lnSpc>
            </a:pPr>
            <a:r>
              <a:rPr lang="en-GB" sz="3600" b="1">
                <a:solidFill>
                  <a:srgbClr val="201D1D"/>
                </a:solidFill>
                <a:latin typeface="Segoe UI"/>
                <a:ea typeface="Segoe UI"/>
                <a:cs typeface="Segoe UI"/>
              </a:rPr>
              <a:t xml:space="preserve">Tested paths. Visible limits</a:t>
            </a:r>
            <a:endParaRPr lang="en-GB" sz="3600" b="1"/>
          </a:p>
        </p:txBody>
      </p:sp>
      <p:sp>
        <p:nvSpPr>
          <p:cNvPr id="5" name="19"/>
          <p:cNvSpPr txBox="1"/>
          <p:nvPr/>
        </p:nvSpPr>
        <p:spPr>
          <a:xfrm>
            <a:off x="609600" y="2409825"/>
            <a:ext cx="2571750" cy="1085850"/>
          </a:xfrm>
          <a:prstGeom prst="rect">
            <a:avLst/>
          </a:prstGeom>
          <a:noFill/>
          <a:ln>
            <a:noFill/>
          </a:ln>
        </p:spPr>
        <p:txBody>
          <a:bodyPr wrap="square" lIns="0" tIns="0" rIns="0" bIns="0" anchor="t"/>
          <a:lstStyle/>
          <a:p>
            <a:pPr algn="l">
              <a:lnSpc>
                <a:spcPct val="110000"/>
              </a:lnSpc>
            </a:pPr>
            <a:r>
              <a:rPr lang="en-GB" sz="6975" b="1">
                <a:solidFill>
                  <a:srgbClr val="FF7A1A"/>
                </a:solidFill>
                <a:latin typeface="Segoe UI"/>
                <a:ea typeface="Segoe UI"/>
                <a:cs typeface="Segoe UI"/>
              </a:rPr>
              <a:t xml:space="preserve">19</a:t>
            </a:r>
            <a:endParaRPr lang="en-GB" sz="6975" b="1"/>
          </a:p>
        </p:txBody>
      </p:sp>
      <p:sp>
        <p:nvSpPr>
          <p:cNvPr id="6" name="Core, browser and privacy checks passed"/>
          <p:cNvSpPr txBox="1"/>
          <p:nvPr/>
        </p:nvSpPr>
        <p:spPr>
          <a:xfrm>
            <a:off x="609600" y="3638550"/>
            <a:ext cx="4286250" cy="800100"/>
          </a:xfrm>
          <a:prstGeom prst="rect">
            <a:avLst/>
          </a:prstGeom>
          <a:noFill/>
          <a:ln>
            <a:noFill/>
          </a:ln>
        </p:spPr>
        <p:txBody>
          <a:bodyPr wrap="square" lIns="0" tIns="0" rIns="0" bIns="0" anchor="t"/>
          <a:lstStyle/>
          <a:p>
            <a:pPr algn="l">
              <a:lnSpc>
                <a:spcPct val="110000"/>
              </a:lnSpc>
            </a:pPr>
            <a:r>
              <a:rPr lang="en-GB" sz="2100" b="1">
                <a:solidFill>
                  <a:srgbClr val="201D1D"/>
                </a:solidFill>
                <a:latin typeface="Segoe UI"/>
                <a:ea typeface="Segoe UI"/>
                <a:cs typeface="Segoe UI"/>
              </a:rPr>
              <a:t xml:space="preserve">Core, browser and</a:t>
            </a:r>
            <a:endParaRPr lang="en-GB" sz="2100" b="1"/>
          </a:p>
          <a:p>
            <a:pPr algn="l">
              <a:lnSpc>
                <a:spcPct val="110000"/>
              </a:lnSpc>
            </a:pPr>
            <a:r>
              <a:rPr lang="en-GB" sz="2100" b="1">
                <a:solidFill>
                  <a:srgbClr val="201D1D"/>
                </a:solidFill>
                <a:latin typeface="Segoe UI"/>
                <a:ea typeface="Segoe UI"/>
                <a:cs typeface="Segoe UI"/>
              </a:rPr>
              <a:t xml:space="preserve">privacy checks passed</a:t>
            </a:r>
            <a:endParaRPr lang="en-GB" sz="2100" b="1"/>
          </a:p>
        </p:txBody>
      </p:sp>
      <p:sp>
        <p:nvSpPr>
          <p:cNvPr id="7" name="3"/>
          <p:cNvSpPr txBox="1"/>
          <p:nvPr/>
        </p:nvSpPr>
        <p:spPr>
          <a:xfrm>
            <a:off x="6324600" y="2409825"/>
            <a:ext cx="2571750" cy="1085850"/>
          </a:xfrm>
          <a:prstGeom prst="rect">
            <a:avLst/>
          </a:prstGeom>
          <a:noFill/>
          <a:ln>
            <a:noFill/>
          </a:ln>
        </p:spPr>
        <p:txBody>
          <a:bodyPr wrap="square" lIns="0" tIns="0" rIns="0" bIns="0" anchor="t"/>
          <a:lstStyle/>
          <a:p>
            <a:pPr algn="l">
              <a:lnSpc>
                <a:spcPct val="110000"/>
              </a:lnSpc>
            </a:pPr>
            <a:r>
              <a:rPr lang="en-GB" sz="6975" b="1">
                <a:solidFill>
                  <a:srgbClr val="FF7A1A"/>
                </a:solidFill>
                <a:latin typeface="Segoe UI"/>
                <a:ea typeface="Segoe UI"/>
                <a:cs typeface="Segoe UI"/>
              </a:rPr>
              <a:t xml:space="preserve">3</a:t>
            </a:r>
            <a:endParaRPr lang="en-GB" sz="6975" b="1"/>
          </a:p>
        </p:txBody>
      </p:sp>
      <p:sp>
        <p:nvSpPr>
          <p:cNvPr id="8" name="Real local-Gemma integration tests passed"/>
          <p:cNvSpPr txBox="1"/>
          <p:nvPr/>
        </p:nvSpPr>
        <p:spPr>
          <a:xfrm>
            <a:off x="6324600" y="3638550"/>
            <a:ext cx="4762500" cy="800100"/>
          </a:xfrm>
          <a:prstGeom prst="rect">
            <a:avLst/>
          </a:prstGeom>
          <a:noFill/>
          <a:ln>
            <a:noFill/>
          </a:ln>
        </p:spPr>
        <p:txBody>
          <a:bodyPr wrap="square" lIns="0" tIns="0" rIns="0" bIns="0" anchor="t"/>
          <a:lstStyle/>
          <a:p>
            <a:pPr algn="l">
              <a:lnSpc>
                <a:spcPct val="110000"/>
              </a:lnSpc>
            </a:pPr>
            <a:r>
              <a:rPr lang="en-GB" sz="2100" b="1">
                <a:solidFill>
                  <a:srgbClr val="201D1D"/>
                </a:solidFill>
                <a:latin typeface="Segoe UI"/>
                <a:ea typeface="Segoe UI"/>
                <a:cs typeface="Segoe UI"/>
              </a:rPr>
              <a:t xml:space="preserve">Real local-Gemma</a:t>
            </a:r>
            <a:endParaRPr lang="en-GB" sz="2100" b="1"/>
          </a:p>
          <a:p>
            <a:pPr algn="l">
              <a:lnSpc>
                <a:spcPct val="110000"/>
              </a:lnSpc>
            </a:pPr>
            <a:r>
              <a:rPr lang="en-GB" sz="2100" b="1">
                <a:solidFill>
                  <a:srgbClr val="201D1D"/>
                </a:solidFill>
                <a:latin typeface="Segoe UI"/>
                <a:ea typeface="Segoe UI"/>
                <a:cs typeface="Segoe UI"/>
              </a:rPr>
              <a:t xml:space="preserve">integration tests passed</a:t>
            </a:r>
            <a:endParaRPr lang="en-GB" sz="2100" b="1"/>
          </a:p>
        </p:txBody>
      </p:sp>
      <p:sp>
        <p:nvSpPr>
          <p:cNvPr id="9" name="Reported in the implementation handoff"/>
          <p:cNvSpPr txBox="1"/>
          <p:nvPr/>
        </p:nvSpPr>
        <p:spPr>
          <a:xfrm>
            <a:off x="609600" y="4638675"/>
            <a:ext cx="10972800" cy="285750"/>
          </a:xfrm>
          <a:prstGeom prst="rect">
            <a:avLst/>
          </a:prstGeom>
          <a:noFill/>
          <a:ln>
            <a:noFill/>
          </a:ln>
        </p:spPr>
        <p:txBody>
          <a:bodyPr wrap="square" lIns="0" tIns="0" rIns="0" bIns="0" anchor="t"/>
          <a:lstStyle/>
          <a:p>
            <a:pPr algn="l">
              <a:lnSpc>
                <a:spcPct val="110000"/>
              </a:lnSpc>
            </a:pPr>
            <a:r>
              <a:rPr lang="en-GB" sz="1500" b="0">
                <a:solidFill>
                  <a:srgbClr val="776B62"/>
                </a:solidFill>
                <a:latin typeface="Segoe UI"/>
                <a:ea typeface="Segoe UI"/>
                <a:cs typeface="Segoe UI"/>
              </a:rPr>
              <a:t xml:space="preserve">Reported in the implementation handoff</a:t>
            </a:r>
            <a:endParaRPr lang="en-GB" sz="1500" b="0"/>
          </a:p>
        </p:txBody>
      </p:sp>
      <p:sp>
        <p:nvSpPr>
          <p:cNvPr id="10" name="Shape 10"/>
          <p:cNvSpPr/>
          <p:nvPr/>
        </p:nvSpPr>
        <p:spPr>
          <a:xfrm>
            <a:off x="609600" y="5133975"/>
            <a:ext cx="10972800" cy="12382"/>
          </a:xfrm>
          <a:prstGeom prst="rect">
            <a:avLst/>
          </a:prstGeom>
          <a:solidFill>
            <a:srgbClr val="E7DDD3"/>
          </a:solidFill>
          <a:ln w="9525">
            <a:noFill/>
          </a:ln>
        </p:spPr>
      </p:sp>
      <p:sp>
        <p:nvSpPr>
          <p:cNvPr id="11" name="Still to prove"/>
          <p:cNvSpPr txBox="1"/>
          <p:nvPr/>
        </p:nvSpPr>
        <p:spPr>
          <a:xfrm>
            <a:off x="609600" y="5438775"/>
            <a:ext cx="2286000" cy="419100"/>
          </a:xfrm>
          <a:prstGeom prst="rect">
            <a:avLst/>
          </a:prstGeom>
          <a:noFill/>
          <a:ln>
            <a:noFill/>
          </a:ln>
        </p:spPr>
        <p:txBody>
          <a:bodyPr wrap="square" lIns="0" tIns="0" rIns="0" bIns="0" anchor="t"/>
          <a:lstStyle/>
          <a:p>
            <a:pPr algn="l">
              <a:lnSpc>
                <a:spcPct val="110000"/>
              </a:lnSpc>
            </a:pPr>
            <a:r>
              <a:rPr lang="en-GB" sz="2100" b="1">
                <a:solidFill>
                  <a:srgbClr val="201D1D"/>
                </a:solidFill>
                <a:latin typeface="Segoe UI"/>
                <a:ea typeface="Segoe UI"/>
                <a:cs typeface="Segoe UI"/>
              </a:rPr>
              <a:t xml:space="preserve">Still to prove</a:t>
            </a:r>
            <a:endParaRPr lang="en-GB" sz="2100" b="1"/>
          </a:p>
        </p:txBody>
      </p:sp>
      <p:sp>
        <p:nvSpPr>
          <p:cNvPr id="12" name="Expanded saved-rule model QA failed. Live accounts and "/>
          <p:cNvSpPr txBox="1"/>
          <p:nvPr/>
        </p:nvSpPr>
        <p:spPr>
          <a:xfrm>
            <a:off x="3286125" y="5410200"/>
            <a:ext cx="8296275" cy="819150"/>
          </a:xfrm>
          <a:prstGeom prst="rect">
            <a:avLst/>
          </a:prstGeom>
          <a:noFill/>
          <a:ln>
            <a:noFill/>
          </a:ln>
        </p:spPr>
        <p:txBody>
          <a:bodyPr wrap="square" lIns="0" tIns="0" rIns="0" bIns="0" anchor="t"/>
          <a:lstStyle/>
          <a:p>
            <a:pPr algn="l">
              <a:lnSpc>
                <a:spcPct val="110000"/>
              </a:lnSpc>
            </a:pPr>
            <a:r>
              <a:rPr lang="en-GB" sz="1875" b="0">
                <a:solidFill>
                  <a:srgbClr val="201D1D"/>
                </a:solidFill>
                <a:latin typeface="Segoe UI"/>
                <a:ea typeface="Segoe UI"/>
                <a:cs typeface="Segoe UI"/>
              </a:rPr>
              <a:t xml:space="preserve">Expanded saved-rule model QA failed.</a:t>
            </a:r>
            <a:endParaRPr lang="en-GB" sz="1875" b="0"/>
          </a:p>
          <a:p>
            <a:pPr algn="l">
              <a:lnSpc>
                <a:spcPct val="110000"/>
              </a:lnSpc>
            </a:pPr>
            <a:r>
              <a:rPr lang="en-GB" sz="1875" b="0">
                <a:solidFill>
                  <a:srgbClr val="201D1D"/>
                </a:solidFill>
                <a:latin typeface="Segoe UI"/>
                <a:ea typeface="Segoe UI"/>
                <a:cs typeface="Segoe UI"/>
              </a:rPr>
              <a:t xml:space="preserve">Live accounts and laptop performance need validation.</a:t>
            </a:r>
            <a:endParaRPr lang="en-GB" sz="1875" b="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1">
  <p:cSld name="Less setup for routines you already know">
    <p:bg>
      <p:bgPr>
        <a:solidFill>
          <a:srgbClr val="FFFEFA"/>
        </a:solidFill>
        <a:effectLst/>
      </p:bgPr>
    </p:bg>
    <p:spTree>
      <p:nvGrpSpPr>
        <p:cNvPr id="1" name=""/>
        <p:cNvGrpSpPr/>
        <p:nvPr/>
      </p:nvGrpSpPr>
      <p:grpSpPr>
        <a:xfrm>
          <a:off x="0" y="0"/>
          <a:ext cx="0" cy="0"/>
          <a:chOff x="0" y="0"/>
          <a:chExt cx="0" cy="0"/>
        </a:xfrm>
      </p:grpSpPr>
      <p:sp>
        <p:nvSpPr>
          <p:cNvPr id="2" name="Kopi"/>
          <p:cNvSpPr txBox="1"/>
          <p:nvPr/>
        </p:nvSpPr>
        <p:spPr>
          <a:xfrm>
            <a:off x="609600" y="285750"/>
            <a:ext cx="5715000" cy="228600"/>
          </a:xfrm>
          <a:prstGeom prst="rect">
            <a:avLst/>
          </a:prstGeom>
          <a:noFill/>
          <a:ln>
            <a:noFill/>
          </a:ln>
        </p:spPr>
        <p:txBody>
          <a:bodyPr wrap="square" lIns="0" tIns="0" rIns="0" bIns="0" anchor="t"/>
          <a:lstStyle/>
          <a:p>
            <a:pPr algn="l">
              <a:lnSpc>
                <a:spcPct val="110000"/>
              </a:lnSpc>
            </a:pPr>
            <a:r>
              <a:rPr lang="en-GB" sz="1275" b="0">
                <a:solidFill>
                  <a:srgbClr val="776B62"/>
                </a:solidFill>
                <a:latin typeface="Segoe UI"/>
                <a:ea typeface="Segoe UI"/>
                <a:cs typeface="Segoe UI"/>
              </a:rPr>
              <a:t xml:space="preserve">Kopi</a:t>
            </a:r>
            <a:endParaRPr lang="en-GB" sz="1275" b="0"/>
          </a:p>
        </p:txBody>
      </p:sp>
      <p:sp>
        <p:nvSpPr>
          <p:cNvPr id="3" name="8"/>
          <p:cNvSpPr txBox="1"/>
          <p:nvPr/>
        </p:nvSpPr>
        <p:spPr>
          <a:xfrm>
            <a:off x="11049000" y="285750"/>
            <a:ext cx="533400" cy="228600"/>
          </a:xfrm>
          <a:prstGeom prst="rect">
            <a:avLst/>
          </a:prstGeom>
          <a:noFill/>
          <a:ln>
            <a:noFill/>
          </a:ln>
        </p:spPr>
        <p:txBody>
          <a:bodyPr wrap="square" lIns="0" tIns="0" rIns="0" bIns="0" anchor="t"/>
          <a:lstStyle/>
          <a:p>
            <a:pPr algn="r">
              <a:lnSpc>
                <a:spcPct val="110000"/>
              </a:lnSpc>
            </a:pPr>
            <a:r>
              <a:rPr lang="en-GB" sz="1275" b="0">
                <a:solidFill>
                  <a:srgbClr val="776B62"/>
                </a:solidFill>
                <a:latin typeface="Segoe UI"/>
                <a:ea typeface="Segoe UI"/>
                <a:cs typeface="Segoe UI"/>
              </a:rPr>
              <a:t xml:space="preserve">8</a:t>
            </a:r>
            <a:endParaRPr lang="en-GB" sz="1275" b="0"/>
          </a:p>
        </p:txBody>
      </p:sp>
      <p:sp>
        <p:nvSpPr>
          <p:cNvPr id="4" name="Less setup for routines you already know"/>
          <p:cNvSpPr txBox="1"/>
          <p:nvPr/>
        </p:nvSpPr>
        <p:spPr>
          <a:xfrm>
            <a:off x="609600" y="876300"/>
            <a:ext cx="10972800" cy="1162050"/>
          </a:xfrm>
          <a:prstGeom prst="rect">
            <a:avLst/>
          </a:prstGeom>
          <a:noFill/>
          <a:ln>
            <a:noFill/>
          </a:ln>
        </p:spPr>
        <p:txBody>
          <a:bodyPr wrap="square" lIns="0" tIns="0" rIns="0" bIns="0" anchor="t"/>
          <a:lstStyle/>
          <a:p>
            <a:pPr algn="l">
              <a:lnSpc>
                <a:spcPct val="110000"/>
              </a:lnSpc>
            </a:pPr>
            <a:r>
              <a:rPr lang="en-GB" sz="3600" b="1">
                <a:solidFill>
                  <a:srgbClr val="201D1D"/>
                </a:solidFill>
                <a:latin typeface="Segoe UI"/>
                <a:ea typeface="Segoe UI"/>
                <a:cs typeface="Segoe UI"/>
              </a:rPr>
              <a:t xml:space="preserve">Less setup for routines</a:t>
            </a:r>
            <a:endParaRPr lang="en-GB" sz="3600" b="1"/>
          </a:p>
          <a:p>
            <a:pPr algn="l">
              <a:lnSpc>
                <a:spcPct val="110000"/>
              </a:lnSpc>
            </a:pPr>
            <a:r>
              <a:rPr lang="en-GB" sz="3600" b="1">
                <a:solidFill>
                  <a:srgbClr val="201D1D"/>
                </a:solidFill>
                <a:latin typeface="Segoe UI"/>
                <a:ea typeface="Segoe UI"/>
                <a:cs typeface="Segoe UI"/>
              </a:rPr>
              <a:t xml:space="preserve">you already know</a:t>
            </a:r>
            <a:endParaRPr lang="en-GB" sz="3600" b="1"/>
          </a:p>
        </p:txBody>
      </p:sp>
      <p:sp>
        <p:nvSpPr>
          <p:cNvPr id="5" name="Your existing session"/>
          <p:cNvSpPr txBox="1"/>
          <p:nvPr/>
        </p:nvSpPr>
        <p:spPr>
          <a:xfrm>
            <a:off x="609600" y="2609850"/>
            <a:ext cx="3714750" cy="666750"/>
          </a:xfrm>
          <a:prstGeom prst="rect">
            <a:avLst/>
          </a:prstGeom>
          <a:noFill/>
          <a:ln>
            <a:noFill/>
          </a:ln>
        </p:spPr>
        <p:txBody>
          <a:bodyPr wrap="square" lIns="0" tIns="0" rIns="0" bIns="0" anchor="t"/>
          <a:lstStyle/>
          <a:p>
            <a:pPr algn="l">
              <a:lnSpc>
                <a:spcPct val="110000"/>
              </a:lnSpc>
            </a:pPr>
            <a:r>
              <a:rPr lang="en-GB" sz="2400" b="1">
                <a:solidFill>
                  <a:srgbClr val="201D1D"/>
                </a:solidFill>
                <a:latin typeface="Segoe UI"/>
                <a:ea typeface="Segoe UI"/>
                <a:cs typeface="Segoe UI"/>
              </a:rPr>
              <a:t xml:space="preserve">Your existing session</a:t>
            </a:r>
            <a:endParaRPr lang="en-GB" sz="2400" b="1"/>
          </a:p>
        </p:txBody>
      </p:sp>
      <p:sp>
        <p:nvSpPr>
          <p:cNvPr id="6" name="Chrome or Edge keeps the sign-ins you already have."/>
          <p:cNvSpPr txBox="1"/>
          <p:nvPr/>
        </p:nvSpPr>
        <p:spPr>
          <a:xfrm>
            <a:off x="4714875" y="2667000"/>
            <a:ext cx="6867525" cy="790575"/>
          </a:xfrm>
          <a:prstGeom prst="rect">
            <a:avLst/>
          </a:prstGeom>
          <a:noFill/>
          <a:ln>
            <a:noFill/>
          </a:ln>
        </p:spPr>
        <p:txBody>
          <a:bodyPr wrap="square" lIns="0" tIns="0" rIns="0" bIns="0" anchor="t"/>
          <a:lstStyle/>
          <a:p>
            <a:pPr algn="l">
              <a:lnSpc>
                <a:spcPct val="110000"/>
              </a:lnSpc>
            </a:pPr>
            <a:r>
              <a:rPr lang="en-GB" sz="1950" b="0">
                <a:solidFill>
                  <a:srgbClr val="776B62"/>
                </a:solidFill>
                <a:latin typeface="Segoe UI"/>
                <a:ea typeface="Segoe UI"/>
                <a:cs typeface="Segoe UI"/>
              </a:rPr>
              <a:t xml:space="preserve">Chrome or Edge keeps the sign-ins you already have.</a:t>
            </a:r>
            <a:endParaRPr lang="en-GB" sz="1950" b="0"/>
          </a:p>
        </p:txBody>
      </p:sp>
      <p:sp>
        <p:nvSpPr>
          <p:cNvPr id="7" name="Shape 7"/>
          <p:cNvSpPr/>
          <p:nvPr/>
        </p:nvSpPr>
        <p:spPr>
          <a:xfrm>
            <a:off x="609600" y="3533775"/>
            <a:ext cx="10972800" cy="12382"/>
          </a:xfrm>
          <a:prstGeom prst="rect">
            <a:avLst/>
          </a:prstGeom>
          <a:solidFill>
            <a:srgbClr val="E7DDD3"/>
          </a:solidFill>
          <a:ln w="9525">
            <a:noFill/>
          </a:ln>
        </p:spPr>
      </p:sp>
      <p:sp>
        <p:nvSpPr>
          <p:cNvPr id="8" name="Local understanding"/>
          <p:cNvSpPr txBox="1"/>
          <p:nvPr/>
        </p:nvSpPr>
        <p:spPr>
          <a:xfrm>
            <a:off x="609600" y="3762375"/>
            <a:ext cx="3714750" cy="666750"/>
          </a:xfrm>
          <a:prstGeom prst="rect">
            <a:avLst/>
          </a:prstGeom>
          <a:noFill/>
          <a:ln>
            <a:noFill/>
          </a:ln>
        </p:spPr>
        <p:txBody>
          <a:bodyPr wrap="square" lIns="0" tIns="0" rIns="0" bIns="0" anchor="t"/>
          <a:lstStyle/>
          <a:p>
            <a:pPr algn="l">
              <a:lnSpc>
                <a:spcPct val="110000"/>
              </a:lnSpc>
            </a:pPr>
            <a:r>
              <a:rPr lang="en-GB" sz="2400" b="1">
                <a:solidFill>
                  <a:srgbClr val="201D1D"/>
                </a:solidFill>
                <a:latin typeface="Segoe UI"/>
                <a:ea typeface="Segoe UI"/>
                <a:cs typeface="Segoe UI"/>
              </a:rPr>
              <a:t xml:space="preserve">Local understanding</a:t>
            </a:r>
            <a:endParaRPr lang="en-GB" sz="2400" b="1"/>
          </a:p>
        </p:txBody>
      </p:sp>
      <p:sp>
        <p:nvSpPr>
          <p:cNvPr id="9" name="Local inference keeps browser evidence on your computer"/>
          <p:cNvSpPr txBox="1"/>
          <p:nvPr/>
        </p:nvSpPr>
        <p:spPr>
          <a:xfrm>
            <a:off x="4714875" y="3819525"/>
            <a:ext cx="6867525" cy="790575"/>
          </a:xfrm>
          <a:prstGeom prst="rect">
            <a:avLst/>
          </a:prstGeom>
          <a:noFill/>
          <a:ln>
            <a:noFill/>
          </a:ln>
        </p:spPr>
        <p:txBody>
          <a:bodyPr wrap="square" lIns="0" tIns="0" rIns="0" bIns="0" anchor="t"/>
          <a:lstStyle/>
          <a:p>
            <a:pPr algn="l">
              <a:lnSpc>
                <a:spcPct val="110000"/>
              </a:lnSpc>
            </a:pPr>
            <a:r>
              <a:rPr lang="en-GB" sz="1950" b="0">
                <a:solidFill>
                  <a:srgbClr val="776B62"/>
                </a:solidFill>
                <a:latin typeface="Segoe UI"/>
                <a:ea typeface="Segoe UI"/>
                <a:cs typeface="Segoe UI"/>
              </a:rPr>
              <a:t xml:space="preserve">Local inference keeps browser evidence on your computer.</a:t>
            </a:r>
            <a:endParaRPr lang="en-GB" sz="1950" b="0"/>
          </a:p>
        </p:txBody>
      </p:sp>
      <p:sp>
        <p:nvSpPr>
          <p:cNvPr id="10" name="Shape 10"/>
          <p:cNvSpPr/>
          <p:nvPr/>
        </p:nvSpPr>
        <p:spPr>
          <a:xfrm>
            <a:off x="609600" y="4686300"/>
            <a:ext cx="10972800" cy="12382"/>
          </a:xfrm>
          <a:prstGeom prst="rect">
            <a:avLst/>
          </a:prstGeom>
          <a:solidFill>
            <a:srgbClr val="E7DDD3"/>
          </a:solidFill>
          <a:ln w="9525">
            <a:noFill/>
          </a:ln>
        </p:spPr>
      </p:sp>
      <p:sp>
        <p:nvSpPr>
          <p:cNvPr id="11" name="Reusable learning"/>
          <p:cNvSpPr txBox="1"/>
          <p:nvPr/>
        </p:nvSpPr>
        <p:spPr>
          <a:xfrm>
            <a:off x="609600" y="4914900"/>
            <a:ext cx="3714750" cy="666750"/>
          </a:xfrm>
          <a:prstGeom prst="rect">
            <a:avLst/>
          </a:prstGeom>
          <a:noFill/>
          <a:ln>
            <a:noFill/>
          </a:ln>
        </p:spPr>
        <p:txBody>
          <a:bodyPr wrap="square" lIns="0" tIns="0" rIns="0" bIns="0" anchor="t"/>
          <a:lstStyle/>
          <a:p>
            <a:pPr algn="l">
              <a:lnSpc>
                <a:spcPct val="110000"/>
              </a:lnSpc>
            </a:pPr>
            <a:r>
              <a:rPr lang="en-GB" sz="2400" b="1">
                <a:solidFill>
                  <a:srgbClr val="201D1D"/>
                </a:solidFill>
                <a:latin typeface="Segoe UI"/>
                <a:ea typeface="Segoe UI"/>
                <a:cs typeface="Segoe UI"/>
              </a:rPr>
              <a:t xml:space="preserve">Reusable learning</a:t>
            </a:r>
            <a:endParaRPr lang="en-GB" sz="2400" b="1"/>
          </a:p>
        </p:txBody>
      </p:sp>
      <p:sp>
        <p:nvSpPr>
          <p:cNvPr id="12" name="Demonstrate a supported task, review it and change the "/>
          <p:cNvSpPr txBox="1"/>
          <p:nvPr/>
        </p:nvSpPr>
        <p:spPr>
          <a:xfrm>
            <a:off x="4714875" y="4972050"/>
            <a:ext cx="6867525" cy="790575"/>
          </a:xfrm>
          <a:prstGeom prst="rect">
            <a:avLst/>
          </a:prstGeom>
          <a:noFill/>
          <a:ln>
            <a:noFill/>
          </a:ln>
        </p:spPr>
        <p:txBody>
          <a:bodyPr wrap="square" lIns="0" tIns="0" rIns="0" bIns="0" anchor="t"/>
          <a:lstStyle/>
          <a:p>
            <a:pPr algn="l">
              <a:lnSpc>
                <a:spcPct val="110000"/>
              </a:lnSpc>
            </a:pPr>
            <a:r>
              <a:rPr lang="en-GB" sz="1950" b="0">
                <a:solidFill>
                  <a:srgbClr val="776B62"/>
                </a:solidFill>
                <a:latin typeface="Segoe UI"/>
                <a:ea typeface="Segoe UI"/>
                <a:cs typeface="Segoe UI"/>
              </a:rPr>
              <a:t xml:space="preserve">Demonstrate a supported task, review it and change the inputs.</a:t>
            </a:r>
            <a:endParaRPr lang="en-GB" sz="1950" b="0"/>
          </a:p>
        </p:txBody>
      </p:sp>
      <p:sp>
        <p:nvSpPr>
          <p:cNvPr id="13" name="Shape 13"/>
          <p:cNvSpPr/>
          <p:nvPr/>
        </p:nvSpPr>
        <p:spPr>
          <a:xfrm>
            <a:off x="609600" y="5838825"/>
            <a:ext cx="10972800" cy="12382"/>
          </a:xfrm>
          <a:prstGeom prst="rect">
            <a:avLst/>
          </a:prstGeom>
          <a:solidFill>
            <a:srgbClr val="E7DDD3"/>
          </a:solidFill>
          <a:ln w="9525">
            <a:noFill/>
          </a:ln>
        </p:spPr>
      </p:sp>
      <p:sp>
        <p:nvSpPr>
          <p:cNvPr id="14" name="Designed to reduce repetitive work. User impact is stil"/>
          <p:cNvSpPr txBox="1"/>
          <p:nvPr/>
        </p:nvSpPr>
        <p:spPr>
          <a:xfrm>
            <a:off x="609600" y="6210300"/>
            <a:ext cx="10972800" cy="285750"/>
          </a:xfrm>
          <a:prstGeom prst="rect">
            <a:avLst/>
          </a:prstGeom>
          <a:noFill/>
          <a:ln>
            <a:noFill/>
          </a:ln>
        </p:spPr>
        <p:txBody>
          <a:bodyPr wrap="square" lIns="0" tIns="0" rIns="0" bIns="0" anchor="t"/>
          <a:lstStyle/>
          <a:p>
            <a:pPr algn="l">
              <a:lnSpc>
                <a:spcPct val="110000"/>
              </a:lnSpc>
            </a:pPr>
            <a:r>
              <a:rPr lang="en-GB" sz="1575" b="0">
                <a:solidFill>
                  <a:srgbClr val="776B62"/>
                </a:solidFill>
                <a:latin typeface="Segoe UI"/>
                <a:ea typeface="Segoe UI"/>
                <a:cs typeface="Segoe UI"/>
              </a:rPr>
              <a:t xml:space="preserve">Designed to reduce repetitive work. User impact is still to be measured.</a:t>
            </a:r>
            <a:endParaRPr lang="en-GB" sz="1575" b="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1">
  <p:cSld name="Kopi: show it once, let Kopi repeat">
    <p:bg>
      <p:bgPr>
        <a:solidFill>
          <a:srgbClr val="FFDDBE"/>
        </a:solidFill>
        <a:effectLst/>
      </p:bgPr>
    </p:bg>
    <p:spTree>
      <p:nvGrpSpPr>
        <p:cNvPr id="1" name=""/>
        <p:cNvGrpSpPr/>
        <p:nvPr/>
      </p:nvGrpSpPr>
      <p:grpSpPr>
        <a:xfrm>
          <a:off x="0" y="0"/>
          <a:ext cx="0" cy="0"/>
          <a:chOff x="0" y="0"/>
          <a:chExt cx="0" cy="0"/>
        </a:xfrm>
      </p:grpSpPr>
      <p:pic>
        <p:nvPicPr>
          <p:cNvPr id="2" name="Kopi brand artwork" descr="Original Kopi brand asset: kopi-wordmark.png"/>
          <p:cNvPicPr>
            <a:picLocks noChangeAspect="1"/>
          </p:cNvPicPr>
          <p:nvPr/>
        </p:nvPicPr>
        <p:blipFill>
          <a:blip r:embed="rId3"/>
          <a:stretch>
            <a:fillRect/>
          </a:stretch>
        </p:blipFill>
        <p:spPr>
          <a:xfrm>
            <a:off x="504825" y="333375"/>
            <a:ext cx="2743200" cy="1028700"/>
          </a:xfrm>
          <a:prstGeom prst="rect">
            <a:avLst/>
          </a:prstGeom>
        </p:spPr>
      </p:pic>
      <p:sp>
        <p:nvSpPr>
          <p:cNvPr id="3" name="Show it once. Let Kopi repeat."/>
          <p:cNvSpPr txBox="1"/>
          <p:nvPr/>
        </p:nvSpPr>
        <p:spPr>
          <a:xfrm>
            <a:off x="609600" y="2171700"/>
            <a:ext cx="7620000" cy="1905000"/>
          </a:xfrm>
          <a:prstGeom prst="rect">
            <a:avLst/>
          </a:prstGeom>
          <a:noFill/>
          <a:ln>
            <a:noFill/>
          </a:ln>
        </p:spPr>
        <p:txBody>
          <a:bodyPr wrap="square" lIns="0" tIns="0" rIns="0" bIns="0" anchor="t"/>
          <a:lstStyle/>
          <a:p>
            <a:pPr algn="l">
              <a:lnSpc>
                <a:spcPct val="110000"/>
              </a:lnSpc>
            </a:pPr>
            <a:r>
              <a:rPr lang="en-GB" sz="5700" b="1">
                <a:solidFill>
                  <a:srgbClr val="201D1D"/>
                </a:solidFill>
                <a:latin typeface="Segoe UI"/>
                <a:ea typeface="Segoe UI"/>
                <a:cs typeface="Segoe UI"/>
              </a:rPr>
              <a:t xml:space="preserve">Show it once.</a:t>
            </a:r>
            <a:endParaRPr lang="en-GB" sz="5700" b="1"/>
          </a:p>
          <a:p>
            <a:pPr algn="l">
              <a:lnSpc>
                <a:spcPct val="110000"/>
              </a:lnSpc>
            </a:pPr>
            <a:r>
              <a:rPr lang="en-GB" sz="5700" b="1">
                <a:solidFill>
                  <a:srgbClr val="201D1D"/>
                </a:solidFill>
                <a:latin typeface="Segoe UI"/>
                <a:ea typeface="Segoe UI"/>
                <a:cs typeface="Segoe UI"/>
              </a:rPr>
              <a:t xml:space="preserve">Let Kopi repeat.</a:t>
            </a:r>
            <a:endParaRPr lang="en-GB" sz="5700" b="1"/>
          </a:p>
        </p:txBody>
      </p:sp>
      <p:sp>
        <p:nvSpPr>
          <p:cNvPr id="4" name="Local AI for the browser you already use."/>
          <p:cNvSpPr txBox="1"/>
          <p:nvPr/>
        </p:nvSpPr>
        <p:spPr>
          <a:xfrm>
            <a:off x="647700" y="4467225"/>
            <a:ext cx="6953250" cy="952500"/>
          </a:xfrm>
          <a:prstGeom prst="rect">
            <a:avLst/>
          </a:prstGeom>
          <a:noFill/>
          <a:ln>
            <a:noFill/>
          </a:ln>
        </p:spPr>
        <p:txBody>
          <a:bodyPr wrap="square" lIns="0" tIns="0" rIns="0" bIns="0" anchor="t"/>
          <a:lstStyle/>
          <a:p>
            <a:pPr algn="l">
              <a:lnSpc>
                <a:spcPct val="110000"/>
              </a:lnSpc>
            </a:pPr>
            <a:r>
              <a:rPr lang="en-GB" sz="2400" b="0">
                <a:solidFill>
                  <a:srgbClr val="201D1D"/>
                </a:solidFill>
                <a:latin typeface="Segoe UI"/>
                <a:ea typeface="Segoe UI"/>
                <a:cs typeface="Segoe UI"/>
              </a:rPr>
              <a:t xml:space="preserve">Local AI for the browser</a:t>
            </a:r>
            <a:endParaRPr lang="en-GB" sz="2400" b="0"/>
          </a:p>
          <a:p>
            <a:pPr algn="l">
              <a:lnSpc>
                <a:spcPct val="110000"/>
              </a:lnSpc>
            </a:pPr>
            <a:r>
              <a:rPr lang="en-GB" sz="2400" b="0">
                <a:solidFill>
                  <a:srgbClr val="201D1D"/>
                </a:solidFill>
                <a:latin typeface="Segoe UI"/>
                <a:ea typeface="Segoe UI"/>
                <a:cs typeface="Segoe UI"/>
              </a:rPr>
              <a:t xml:space="preserve">you already use.</a:t>
            </a:r>
            <a:endParaRPr lang="en-GB" sz="2400" b="0"/>
          </a:p>
        </p:txBody>
      </p:sp>
      <p:sp>
        <p:nvSpPr>
          <p:cNvPr id="5" name="github.com/MLouchini/Kopi"/>
          <p:cNvSpPr txBox="1"/>
          <p:nvPr/>
        </p:nvSpPr>
        <p:spPr>
          <a:xfrm>
            <a:off x="647700" y="6029325"/>
            <a:ext cx="8572500" cy="419100"/>
          </a:xfrm>
          <a:prstGeom prst="rect">
            <a:avLst/>
          </a:prstGeom>
          <a:noFill/>
          <a:ln>
            <a:noFill/>
          </a:ln>
        </p:spPr>
        <p:txBody>
          <a:bodyPr wrap="square" lIns="0" tIns="0" rIns="0" bIns="0" anchor="t"/>
          <a:lstStyle/>
          <a:p>
            <a:pPr algn="l">
              <a:lnSpc>
                <a:spcPct val="110000"/>
              </a:lnSpc>
            </a:pPr>
            <a:r>
              <a:rPr lang="en-GB" sz="2100" b="1">
                <a:solidFill>
                  <a:srgbClr val="201D1D"/>
                </a:solidFill>
                <a:latin typeface="Segoe UI"/>
                <a:ea typeface="Segoe UI"/>
                <a:cs typeface="Segoe UI"/>
              </a:rPr>
              <a:t xml:space="preserve">github.com/MLouchini/Kopi</a:t>
            </a:r>
            <a:endParaRPr lang="en-GB" sz="2100" b="1"/>
          </a:p>
        </p:txBody>
      </p:sp>
      <p:pic>
        <p:nvPicPr>
          <p:cNvPr id="6" name="Kopi brand artwork" descr="Original Kopi brand asset: kopi-loop.png"/>
          <p:cNvPicPr>
            <a:picLocks noChangeAspect="1"/>
          </p:cNvPicPr>
          <p:nvPr/>
        </p:nvPicPr>
        <p:blipFill>
          <a:blip r:embed="rId4"/>
          <a:stretch>
            <a:fillRect/>
          </a:stretch>
        </p:blipFill>
        <p:spPr>
          <a:xfrm>
            <a:off x="8667750" y="2619375"/>
            <a:ext cx="2714625" cy="271462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name="How the pitch maps to the judging criteria">
    <p:bg>
      <p:bgPr>
        <a:solidFill>
          <a:srgbClr val="FFFEFA"/>
        </a:solidFill>
        <a:effectLst/>
      </p:bgPr>
    </p:bg>
    <p:spTree>
      <p:nvGrpSpPr>
        <p:cNvPr id="1" name=""/>
        <p:cNvGrpSpPr/>
        <p:nvPr/>
      </p:nvGrpSpPr>
      <p:grpSpPr>
        <a:xfrm>
          <a:off x="0" y="0"/>
          <a:ext cx="0" cy="0"/>
          <a:chOff x="0" y="0"/>
          <a:chExt cx="0" cy="0"/>
        </a:xfrm>
      </p:grpSpPr>
      <p:sp>
        <p:nvSpPr>
          <p:cNvPr id="2" name="Kopi  /  Appendix"/>
          <p:cNvSpPr txBox="1"/>
          <p:nvPr/>
        </p:nvSpPr>
        <p:spPr>
          <a:xfrm>
            <a:off x="609600" y="285750"/>
            <a:ext cx="5715000" cy="228600"/>
          </a:xfrm>
          <a:prstGeom prst="rect">
            <a:avLst/>
          </a:prstGeom>
          <a:noFill/>
          <a:ln>
            <a:noFill/>
          </a:ln>
        </p:spPr>
        <p:txBody>
          <a:bodyPr wrap="square" lIns="0" tIns="0" rIns="0" bIns="0" anchor="t"/>
          <a:lstStyle/>
          <a:p>
            <a:pPr algn="l">
              <a:lnSpc>
                <a:spcPct val="110000"/>
              </a:lnSpc>
            </a:pPr>
            <a:r>
              <a:rPr lang="en-GB" sz="1275" b="0">
                <a:solidFill>
                  <a:srgbClr val="776B62"/>
                </a:solidFill>
                <a:latin typeface="Segoe UI"/>
                <a:ea typeface="Segoe UI"/>
                <a:cs typeface="Segoe UI"/>
              </a:rPr>
              <a:t xml:space="preserve">Kopi  /  Appendix</a:t>
            </a:r>
            <a:endParaRPr lang="en-GB" sz="1275" b="0"/>
          </a:p>
        </p:txBody>
      </p:sp>
      <p:sp>
        <p:nvSpPr>
          <p:cNvPr id="3" name="10"/>
          <p:cNvSpPr txBox="1"/>
          <p:nvPr/>
        </p:nvSpPr>
        <p:spPr>
          <a:xfrm>
            <a:off x="11049000" y="285750"/>
            <a:ext cx="533400" cy="228600"/>
          </a:xfrm>
          <a:prstGeom prst="rect">
            <a:avLst/>
          </a:prstGeom>
          <a:noFill/>
          <a:ln>
            <a:noFill/>
          </a:ln>
        </p:spPr>
        <p:txBody>
          <a:bodyPr wrap="square" lIns="0" tIns="0" rIns="0" bIns="0" anchor="t"/>
          <a:lstStyle/>
          <a:p>
            <a:pPr algn="r">
              <a:lnSpc>
                <a:spcPct val="110000"/>
              </a:lnSpc>
            </a:pPr>
            <a:r>
              <a:rPr lang="en-GB" sz="1275" b="0">
                <a:solidFill>
                  <a:srgbClr val="776B62"/>
                </a:solidFill>
                <a:latin typeface="Segoe UI"/>
                <a:ea typeface="Segoe UI"/>
                <a:cs typeface="Segoe UI"/>
              </a:rPr>
              <a:t xml:space="preserve">10</a:t>
            </a:r>
            <a:endParaRPr lang="en-GB" sz="1275" b="0"/>
          </a:p>
        </p:txBody>
      </p:sp>
      <p:sp>
        <p:nvSpPr>
          <p:cNvPr id="4" name="The judging case for Kopi"/>
          <p:cNvSpPr txBox="1"/>
          <p:nvPr/>
        </p:nvSpPr>
        <p:spPr>
          <a:xfrm>
            <a:off x="609600" y="876300"/>
            <a:ext cx="10972800" cy="1162050"/>
          </a:xfrm>
          <a:prstGeom prst="rect">
            <a:avLst/>
          </a:prstGeom>
          <a:noFill/>
          <a:ln>
            <a:noFill/>
          </a:ln>
        </p:spPr>
        <p:txBody>
          <a:bodyPr wrap="square" lIns="0" tIns="0" rIns="0" bIns="0" anchor="t"/>
          <a:lstStyle/>
          <a:p>
            <a:pPr algn="l">
              <a:lnSpc>
                <a:spcPct val="110000"/>
              </a:lnSpc>
            </a:pPr>
            <a:r>
              <a:rPr lang="en-GB" sz="3600" b="1">
                <a:solidFill>
                  <a:srgbClr val="201D1D"/>
                </a:solidFill>
                <a:latin typeface="Segoe UI"/>
                <a:ea typeface="Segoe UI"/>
                <a:cs typeface="Segoe UI"/>
              </a:rPr>
              <a:t xml:space="preserve">The judging case for Kopi</a:t>
            </a:r>
            <a:endParaRPr lang="en-GB" sz="3600" b="1"/>
          </a:p>
        </p:txBody>
      </p:sp>
      <p:graphicFrame>
        <p:nvGraphicFramePr>
          <p:cNvPr id="5" name="Judging criteria"/>
          <p:cNvGraphicFramePr/>
          <p:nvPr/>
        </p:nvGraphicFramePr>
        <p:xfrm>
          <a:off x="609600" y="2209800"/>
          <a:ext cx="10972800" cy="3829050"/>
        </p:xfrm>
        <a:graphic>
          <a:graphicData uri="http://schemas.openxmlformats.org/drawingml/2006/table">
            <a:tbl>
              <a:tblPr firstRow="1" bandRow="0"/>
              <a:tblGrid>
                <a:gridCol w="2714625"/>
                <a:gridCol w="1333500"/>
                <a:gridCol w="6924675"/>
              </a:tblGrid>
              <a:tr h="628650">
                <a:tc>
                  <a:txBody>
                    <a:bodyPr lIns="152400" rIns="152400" tIns="152400" bIns="95250"/>
                    <a:lstStyle/>
                    <a:p>
                      <a:pPr algn="l">
                        <a:lnSpc>
                          <a:spcPct val="110000"/>
                        </a:lnSpc>
                      </a:pPr>
                      <a:r>
                        <a:rPr lang="en-GB" sz="1650" b="1">
                          <a:solidFill>
                            <a:srgbClr val="FFFEFA"/>
                          </a:solidFill>
                          <a:latin typeface="Segoe UI"/>
                          <a:ea typeface="Segoe UI"/>
                          <a:cs typeface="Segoe UI"/>
                        </a:rPr>
                        <a:t xml:space="preserve">Criterion</a:t>
                      </a:r>
                      <a:endParaRPr lang="en-GB" sz="1650" b="1"/>
                    </a:p>
                  </a:txBody>
                  <a:tcPr>
                    <a:solidFill>
                      <a:srgbClr val="201D1D"/>
                    </a:solidFill>
                    <a:lnB w="9525">
                      <a:solidFill>
                        <a:srgbClr val="E7DDD3"/>
                      </a:solidFill>
                    </a:lnB>
                  </a:tcPr>
                </a:tc>
                <a:tc>
                  <a:txBody>
                    <a:bodyPr lIns="152400" rIns="152400" tIns="152400" bIns="95250"/>
                    <a:lstStyle/>
                    <a:p>
                      <a:pPr algn="l">
                        <a:lnSpc>
                          <a:spcPct val="110000"/>
                        </a:lnSpc>
                      </a:pPr>
                      <a:r>
                        <a:rPr lang="en-GB" sz="1650" b="1">
                          <a:solidFill>
                            <a:srgbClr val="FFFEFA"/>
                          </a:solidFill>
                          <a:latin typeface="Segoe UI"/>
                          <a:ea typeface="Segoe UI"/>
                          <a:cs typeface="Segoe UI"/>
                        </a:rPr>
                        <a:t xml:space="preserve">Weight</a:t>
                      </a:r>
                      <a:endParaRPr lang="en-GB" sz="1650" b="1"/>
                    </a:p>
                  </a:txBody>
                  <a:tcPr>
                    <a:solidFill>
                      <a:srgbClr val="201D1D"/>
                    </a:solidFill>
                    <a:lnB w="9525">
                      <a:solidFill>
                        <a:srgbClr val="E7DDD3"/>
                      </a:solidFill>
                    </a:lnB>
                  </a:tcPr>
                </a:tc>
                <a:tc>
                  <a:txBody>
                    <a:bodyPr lIns="152400" rIns="152400" tIns="152400" bIns="95250"/>
                    <a:lstStyle/>
                    <a:p>
                      <a:pPr algn="l">
                        <a:lnSpc>
                          <a:spcPct val="110000"/>
                        </a:lnSpc>
                      </a:pPr>
                      <a:r>
                        <a:rPr lang="en-GB" sz="1575" b="1">
                          <a:solidFill>
                            <a:srgbClr val="FFFEFA"/>
                          </a:solidFill>
                          <a:latin typeface="Segoe UI"/>
                          <a:ea typeface="Segoe UI"/>
                          <a:cs typeface="Segoe UI"/>
                        </a:rPr>
                        <a:t xml:space="preserve">Evidence to show</a:t>
                      </a:r>
                      <a:endParaRPr lang="en-GB" sz="1575" b="1"/>
                    </a:p>
                  </a:txBody>
                  <a:tcPr>
                    <a:solidFill>
                      <a:srgbClr val="201D1D"/>
                    </a:solidFill>
                    <a:lnB w="9525">
                      <a:solidFill>
                        <a:srgbClr val="E7DDD3"/>
                      </a:solidFill>
                    </a:lnB>
                  </a:tcPr>
                </a:tc>
              </a:tr>
              <a:tr h="800100">
                <a:tc>
                  <a:txBody>
                    <a:bodyPr lIns="152400" rIns="152400" tIns="152400" bIns="95250"/>
                    <a:lstStyle/>
                    <a:p>
                      <a:pPr algn="l">
                        <a:lnSpc>
                          <a:spcPct val="110000"/>
                        </a:lnSpc>
                      </a:pPr>
                      <a:r>
                        <a:rPr lang="en-GB" sz="1650" b="0">
                          <a:solidFill>
                            <a:srgbClr val="201D1D"/>
                          </a:solidFill>
                          <a:latin typeface="Segoe UI"/>
                          <a:ea typeface="Segoe UI"/>
                          <a:cs typeface="Segoe UI"/>
                        </a:rPr>
                        <a:t xml:space="preserve">Implementation</a:t>
                      </a:r>
                      <a:endParaRPr lang="en-GB" sz="1650" b="0"/>
                    </a:p>
                  </a:txBody>
                  <a:tcPr>
                    <a:solidFill>
                      <a:srgbClr val="FFFEFA"/>
                    </a:solidFill>
                    <a:lnB w="9525">
                      <a:solidFill>
                        <a:srgbClr val="E7DDD3"/>
                      </a:solidFill>
                    </a:lnB>
                  </a:tcPr>
                </a:tc>
                <a:tc>
                  <a:txBody>
                    <a:bodyPr lIns="152400" rIns="152400" tIns="152400" bIns="95250"/>
                    <a:lstStyle/>
                    <a:p>
                      <a:pPr algn="l">
                        <a:lnSpc>
                          <a:spcPct val="110000"/>
                        </a:lnSpc>
                      </a:pPr>
                      <a:r>
                        <a:rPr lang="en-GB" sz="1650" b="1">
                          <a:solidFill>
                            <a:srgbClr val="201D1D"/>
                          </a:solidFill>
                          <a:latin typeface="Segoe UI"/>
                          <a:ea typeface="Segoe UI"/>
                          <a:cs typeface="Segoe UI"/>
                        </a:rPr>
                        <a:t xml:space="preserve">30%</a:t>
                      </a:r>
                      <a:endParaRPr lang="en-GB" sz="1650" b="1"/>
                    </a:p>
                  </a:txBody>
                  <a:tcPr>
                    <a:solidFill>
                      <a:srgbClr val="FFDDBE"/>
                    </a:solidFill>
                    <a:lnB w="9525">
                      <a:solidFill>
                        <a:srgbClr val="E7DDD3"/>
                      </a:solidFill>
                    </a:lnB>
                  </a:tcPr>
                </a:tc>
                <a:tc>
                  <a:txBody>
                    <a:bodyPr lIns="152400" rIns="152400" tIns="152400" bIns="95250"/>
                    <a:lstStyle/>
                    <a:p>
                      <a:pPr algn="l">
                        <a:lnSpc>
                          <a:spcPct val="110000"/>
                        </a:lnSpc>
                      </a:pPr>
                      <a:r>
                        <a:rPr lang="en-GB" sz="1575" b="0">
                          <a:solidFill>
                            <a:srgbClr val="201D1D"/>
                          </a:solidFill>
                          <a:latin typeface="Segoe UI"/>
                          <a:ea typeface="Segoe UI"/>
                          <a:cs typeface="Segoe UI"/>
                        </a:rPr>
                        <a:t xml:space="preserve">Desktop, extension, recorded task, fresh run and verified outcome</a:t>
                      </a:r>
                      <a:endParaRPr lang="en-GB" sz="1575" b="0"/>
                    </a:p>
                  </a:txBody>
                  <a:tcPr>
                    <a:solidFill>
                      <a:srgbClr val="FFFEFA"/>
                    </a:solidFill>
                    <a:lnB w="9525">
                      <a:solidFill>
                        <a:srgbClr val="E7DDD3"/>
                      </a:solidFill>
                    </a:lnB>
                  </a:tcPr>
                </a:tc>
              </a:tr>
              <a:tr h="800100">
                <a:tc>
                  <a:txBody>
                    <a:bodyPr lIns="152400" rIns="152400" tIns="152400" bIns="95250"/>
                    <a:lstStyle/>
                    <a:p>
                      <a:pPr algn="l">
                        <a:lnSpc>
                          <a:spcPct val="110000"/>
                        </a:lnSpc>
                      </a:pPr>
                      <a:r>
                        <a:rPr lang="en-GB" sz="1650" b="0">
                          <a:solidFill>
                            <a:srgbClr val="201D1D"/>
                          </a:solidFill>
                          <a:latin typeface="Segoe UI"/>
                          <a:ea typeface="Segoe UI"/>
                          <a:cs typeface="Segoe UI"/>
                        </a:rPr>
                        <a:t xml:space="preserve">Creativity</a:t>
                      </a:r>
                      <a:endParaRPr lang="en-GB" sz="1650" b="0"/>
                    </a:p>
                  </a:txBody>
                  <a:tcPr>
                    <a:solidFill>
                      <a:srgbClr val="FFFEFA"/>
                    </a:solidFill>
                    <a:lnB w="9525">
                      <a:solidFill>
                        <a:srgbClr val="E7DDD3"/>
                      </a:solidFill>
                    </a:lnB>
                  </a:tcPr>
                </a:tc>
                <a:tc>
                  <a:txBody>
                    <a:bodyPr lIns="152400" rIns="152400" tIns="152400" bIns="95250"/>
                    <a:lstStyle/>
                    <a:p>
                      <a:pPr algn="l">
                        <a:lnSpc>
                          <a:spcPct val="110000"/>
                        </a:lnSpc>
                      </a:pPr>
                      <a:r>
                        <a:rPr lang="en-GB" sz="1650" b="1">
                          <a:solidFill>
                            <a:srgbClr val="201D1D"/>
                          </a:solidFill>
                          <a:latin typeface="Segoe UI"/>
                          <a:ea typeface="Segoe UI"/>
                          <a:cs typeface="Segoe UI"/>
                        </a:rPr>
                        <a:t xml:space="preserve">25%</a:t>
                      </a:r>
                      <a:endParaRPr lang="en-GB" sz="1650" b="1"/>
                    </a:p>
                  </a:txBody>
                  <a:tcPr>
                    <a:solidFill>
                      <a:srgbClr val="FFDDBE"/>
                    </a:solidFill>
                    <a:lnB w="9525">
                      <a:solidFill>
                        <a:srgbClr val="E7DDD3"/>
                      </a:solidFill>
                    </a:lnB>
                  </a:tcPr>
                </a:tc>
                <a:tc>
                  <a:txBody>
                    <a:bodyPr lIns="152400" rIns="152400" tIns="152400" bIns="95250"/>
                    <a:lstStyle/>
                    <a:p>
                      <a:pPr algn="l">
                        <a:lnSpc>
                          <a:spcPct val="110000"/>
                        </a:lnSpc>
                      </a:pPr>
                      <a:r>
                        <a:rPr lang="en-GB" sz="1575" b="0">
                          <a:solidFill>
                            <a:srgbClr val="201D1D"/>
                          </a:solidFill>
                          <a:latin typeface="Segoe UI"/>
                          <a:ea typeface="Segoe UI"/>
                          <a:cs typeface="Segoe UI"/>
                        </a:rPr>
                        <a:t xml:space="preserve">Demonstration learning with local AI in an existing browser session</a:t>
                      </a:r>
                      <a:endParaRPr lang="en-GB" sz="1575" b="0"/>
                    </a:p>
                  </a:txBody>
                  <a:tcPr>
                    <a:solidFill>
                      <a:srgbClr val="FFFEFA"/>
                    </a:solidFill>
                    <a:lnB w="9525">
                      <a:solidFill>
                        <a:srgbClr val="E7DDD3"/>
                      </a:solidFill>
                    </a:lnB>
                  </a:tcPr>
                </a:tc>
              </a:tr>
              <a:tr h="800100">
                <a:tc>
                  <a:txBody>
                    <a:bodyPr lIns="152400" rIns="152400" tIns="152400" bIns="95250"/>
                    <a:lstStyle/>
                    <a:p>
                      <a:pPr algn="l">
                        <a:lnSpc>
                          <a:spcPct val="110000"/>
                        </a:lnSpc>
                      </a:pPr>
                      <a:r>
                        <a:rPr lang="en-GB" sz="1650" b="0">
                          <a:solidFill>
                            <a:srgbClr val="201D1D"/>
                          </a:solidFill>
                          <a:latin typeface="Segoe UI"/>
                          <a:ea typeface="Segoe UI"/>
                          <a:cs typeface="Segoe UI"/>
                        </a:rPr>
                        <a:t xml:space="preserve">Impact</a:t>
                      </a:r>
                      <a:endParaRPr lang="en-GB" sz="1650" b="0"/>
                    </a:p>
                  </a:txBody>
                  <a:tcPr>
                    <a:solidFill>
                      <a:srgbClr val="FFFEFA"/>
                    </a:solidFill>
                    <a:lnB w="9525">
                      <a:solidFill>
                        <a:srgbClr val="E7DDD3"/>
                      </a:solidFill>
                    </a:lnB>
                  </a:tcPr>
                </a:tc>
                <a:tc>
                  <a:txBody>
                    <a:bodyPr lIns="152400" rIns="152400" tIns="152400" bIns="95250"/>
                    <a:lstStyle/>
                    <a:p>
                      <a:pPr algn="l">
                        <a:lnSpc>
                          <a:spcPct val="110000"/>
                        </a:lnSpc>
                      </a:pPr>
                      <a:r>
                        <a:rPr lang="en-GB" sz="1650" b="1">
                          <a:solidFill>
                            <a:srgbClr val="201D1D"/>
                          </a:solidFill>
                          <a:latin typeface="Segoe UI"/>
                          <a:ea typeface="Segoe UI"/>
                          <a:cs typeface="Segoe UI"/>
                        </a:rPr>
                        <a:t xml:space="preserve">25%</a:t>
                      </a:r>
                      <a:endParaRPr lang="en-GB" sz="1650" b="1"/>
                    </a:p>
                  </a:txBody>
                  <a:tcPr>
                    <a:solidFill>
                      <a:srgbClr val="FFDDBE"/>
                    </a:solidFill>
                    <a:lnB w="9525">
                      <a:solidFill>
                        <a:srgbClr val="E7DDD3"/>
                      </a:solidFill>
                    </a:lnB>
                  </a:tcPr>
                </a:tc>
                <a:tc>
                  <a:txBody>
                    <a:bodyPr lIns="152400" rIns="152400" tIns="152400" bIns="95250"/>
                    <a:lstStyle/>
                    <a:p>
                      <a:pPr algn="l">
                        <a:lnSpc>
                          <a:spcPct val="110000"/>
                        </a:lnSpc>
                      </a:pPr>
                      <a:r>
                        <a:rPr lang="en-GB" sz="1575" b="0">
                          <a:solidFill>
                            <a:srgbClr val="201D1D"/>
                          </a:solidFill>
                          <a:latin typeface="Segoe UI"/>
                          <a:ea typeface="Segoe UI"/>
                          <a:cs typeface="Segoe UI"/>
                        </a:rPr>
                        <a:t xml:space="preserve">A clear repetitive-work problem and a realistic user scenario</a:t>
                      </a:r>
                      <a:endParaRPr lang="en-GB" sz="1575" b="0"/>
                    </a:p>
                  </a:txBody>
                  <a:tcPr>
                    <a:solidFill>
                      <a:srgbClr val="FFFEFA"/>
                    </a:solidFill>
                    <a:lnB w="9525">
                      <a:solidFill>
                        <a:srgbClr val="E7DDD3"/>
                      </a:solidFill>
                    </a:lnB>
                  </a:tcPr>
                </a:tc>
              </a:tr>
              <a:tr h="800100">
                <a:tc>
                  <a:txBody>
                    <a:bodyPr lIns="152400" rIns="152400" tIns="152400" bIns="95250"/>
                    <a:lstStyle/>
                    <a:p>
                      <a:pPr algn="l">
                        <a:lnSpc>
                          <a:spcPct val="110000"/>
                        </a:lnSpc>
                      </a:pPr>
                      <a:r>
                        <a:rPr lang="en-GB" sz="1650" b="0">
                          <a:solidFill>
                            <a:srgbClr val="201D1D"/>
                          </a:solidFill>
                          <a:latin typeface="Segoe UI"/>
                          <a:ea typeface="Segoe UI"/>
                          <a:cs typeface="Segoe UI"/>
                        </a:rPr>
                        <a:t xml:space="preserve">Technical depth</a:t>
                      </a:r>
                      <a:endParaRPr lang="en-GB" sz="1650" b="0"/>
                    </a:p>
                  </a:txBody>
                  <a:tcPr>
                    <a:solidFill>
                      <a:srgbClr val="FFFEFA"/>
                    </a:solidFill>
                    <a:lnB w="9525">
                      <a:solidFill>
                        <a:srgbClr val="E7DDD3"/>
                      </a:solidFill>
                    </a:lnB>
                  </a:tcPr>
                </a:tc>
                <a:tc>
                  <a:txBody>
                    <a:bodyPr lIns="152400" rIns="152400" tIns="152400" bIns="95250"/>
                    <a:lstStyle/>
                    <a:p>
                      <a:pPr algn="l">
                        <a:lnSpc>
                          <a:spcPct val="110000"/>
                        </a:lnSpc>
                      </a:pPr>
                      <a:r>
                        <a:rPr lang="en-GB" sz="1650" b="1">
                          <a:solidFill>
                            <a:srgbClr val="201D1D"/>
                          </a:solidFill>
                          <a:latin typeface="Segoe UI"/>
                          <a:ea typeface="Segoe UI"/>
                          <a:cs typeface="Segoe UI"/>
                        </a:rPr>
                        <a:t xml:space="preserve">20%</a:t>
                      </a:r>
                      <a:endParaRPr lang="en-GB" sz="1650" b="1"/>
                    </a:p>
                  </a:txBody>
                  <a:tcPr>
                    <a:solidFill>
                      <a:srgbClr val="FFDDBE"/>
                    </a:solidFill>
                    <a:lnB w="9525">
                      <a:solidFill>
                        <a:srgbClr val="E7DDD3"/>
                      </a:solidFill>
                    </a:lnB>
                  </a:tcPr>
                </a:tc>
                <a:tc>
                  <a:txBody>
                    <a:bodyPr lIns="152400" rIns="152400" tIns="152400" bIns="95250"/>
                    <a:lstStyle/>
                    <a:p>
                      <a:pPr algn="l">
                        <a:lnSpc>
                          <a:spcPct val="110000"/>
                        </a:lnSpc>
                      </a:pPr>
                      <a:r>
                        <a:rPr lang="en-GB" sz="1575" b="0">
                          <a:solidFill>
                            <a:srgbClr val="201D1D"/>
                          </a:solidFill>
                          <a:latin typeface="Segoe UI"/>
                          <a:ea typeface="Segoe UI"/>
                          <a:cs typeface="Segoe UI"/>
                        </a:rPr>
                        <a:t xml:space="preserve">Typed harness, grounded bindings, local runtime and failure handling</a:t>
                      </a:r>
                      <a:endParaRPr lang="en-GB" sz="1575" b="0"/>
                    </a:p>
                  </a:txBody>
                  <a:tcPr>
                    <a:solidFill>
                      <a:srgbClr val="FFFEFA"/>
                    </a:solidFill>
                    <a:lnB w="9525">
                      <a:solidFill>
                        <a:srgbClr val="E7DDD3"/>
                      </a:solidFill>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name="Prize requirements and current fit">
    <p:bg>
      <p:bgPr>
        <a:solidFill>
          <a:srgbClr val="FFFEFA"/>
        </a:solidFill>
        <a:effectLst/>
      </p:bgPr>
    </p:bg>
    <p:spTree>
      <p:nvGrpSpPr>
        <p:cNvPr id="1" name=""/>
        <p:cNvGrpSpPr/>
        <p:nvPr/>
      </p:nvGrpSpPr>
      <p:grpSpPr>
        <a:xfrm>
          <a:off x="0" y="0"/>
          <a:ext cx="0" cy="0"/>
          <a:chOff x="0" y="0"/>
          <a:chExt cx="0" cy="0"/>
        </a:xfrm>
      </p:grpSpPr>
      <p:sp>
        <p:nvSpPr>
          <p:cNvPr id="2" name="Kopi  /  Appendix"/>
          <p:cNvSpPr txBox="1"/>
          <p:nvPr/>
        </p:nvSpPr>
        <p:spPr>
          <a:xfrm>
            <a:off x="609600" y="285750"/>
            <a:ext cx="5715000" cy="228600"/>
          </a:xfrm>
          <a:prstGeom prst="rect">
            <a:avLst/>
          </a:prstGeom>
          <a:noFill/>
          <a:ln>
            <a:noFill/>
          </a:ln>
        </p:spPr>
        <p:txBody>
          <a:bodyPr wrap="square" lIns="0" tIns="0" rIns="0" bIns="0" anchor="t"/>
          <a:lstStyle/>
          <a:p>
            <a:pPr algn="l">
              <a:lnSpc>
                <a:spcPct val="110000"/>
              </a:lnSpc>
            </a:pPr>
            <a:r>
              <a:rPr lang="en-GB" sz="1275" b="0">
                <a:solidFill>
                  <a:srgbClr val="776B62"/>
                </a:solidFill>
                <a:latin typeface="Segoe UI"/>
                <a:ea typeface="Segoe UI"/>
                <a:cs typeface="Segoe UI"/>
              </a:rPr>
              <a:t xml:space="preserve">Kopi  /  Appendix</a:t>
            </a:r>
            <a:endParaRPr lang="en-GB" sz="1275" b="0"/>
          </a:p>
        </p:txBody>
      </p:sp>
      <p:sp>
        <p:nvSpPr>
          <p:cNvPr id="3" name="11"/>
          <p:cNvSpPr txBox="1"/>
          <p:nvPr/>
        </p:nvSpPr>
        <p:spPr>
          <a:xfrm>
            <a:off x="11049000" y="285750"/>
            <a:ext cx="533400" cy="228600"/>
          </a:xfrm>
          <a:prstGeom prst="rect">
            <a:avLst/>
          </a:prstGeom>
          <a:noFill/>
          <a:ln>
            <a:noFill/>
          </a:ln>
        </p:spPr>
        <p:txBody>
          <a:bodyPr wrap="square" lIns="0" tIns="0" rIns="0" bIns="0" anchor="t"/>
          <a:lstStyle/>
          <a:p>
            <a:pPr algn="r">
              <a:lnSpc>
                <a:spcPct val="110000"/>
              </a:lnSpc>
            </a:pPr>
            <a:r>
              <a:rPr lang="en-GB" sz="1275" b="0">
                <a:solidFill>
                  <a:srgbClr val="776B62"/>
                </a:solidFill>
                <a:latin typeface="Segoe UI"/>
                <a:ea typeface="Segoe UI"/>
                <a:cs typeface="Segoe UI"/>
              </a:rPr>
              <a:t xml:space="preserve">11</a:t>
            </a:r>
            <a:endParaRPr lang="en-GB" sz="1275" b="0"/>
          </a:p>
        </p:txBody>
      </p:sp>
      <p:sp>
        <p:nvSpPr>
          <p:cNvPr id="4" name="Prize fit and eligibility gaps"/>
          <p:cNvSpPr txBox="1"/>
          <p:nvPr/>
        </p:nvSpPr>
        <p:spPr>
          <a:xfrm>
            <a:off x="609600" y="876300"/>
            <a:ext cx="10972800" cy="1162050"/>
          </a:xfrm>
          <a:prstGeom prst="rect">
            <a:avLst/>
          </a:prstGeom>
          <a:noFill/>
          <a:ln>
            <a:noFill/>
          </a:ln>
        </p:spPr>
        <p:txBody>
          <a:bodyPr wrap="square" lIns="0" tIns="0" rIns="0" bIns="0" anchor="t"/>
          <a:lstStyle/>
          <a:p>
            <a:pPr algn="l">
              <a:lnSpc>
                <a:spcPct val="110000"/>
              </a:lnSpc>
            </a:pPr>
            <a:r>
              <a:rPr lang="en-GB" sz="3600" b="1">
                <a:solidFill>
                  <a:srgbClr val="201D1D"/>
                </a:solidFill>
                <a:latin typeface="Segoe UI"/>
                <a:ea typeface="Segoe UI"/>
                <a:cs typeface="Segoe UI"/>
              </a:rPr>
              <a:t xml:space="preserve">Prize fit and eligibility gaps</a:t>
            </a:r>
            <a:endParaRPr lang="en-GB" sz="3600" b="1"/>
          </a:p>
        </p:txBody>
      </p:sp>
      <p:sp>
        <p:nvSpPr>
          <p:cNvPr id="5" name="Shape 5"/>
          <p:cNvSpPr/>
          <p:nvPr/>
        </p:nvSpPr>
        <p:spPr>
          <a:xfrm>
            <a:off x="609600" y="2200275"/>
            <a:ext cx="10972800" cy="12382"/>
          </a:xfrm>
          <a:prstGeom prst="rect">
            <a:avLst/>
          </a:prstGeom>
          <a:solidFill>
            <a:srgbClr val="E7DDD3"/>
          </a:solidFill>
          <a:ln w="9525">
            <a:noFill/>
          </a:ln>
        </p:spPr>
      </p:sp>
      <p:sp>
        <p:nvSpPr>
          <p:cNvPr id="6" name="Best Overall Hack"/>
          <p:cNvSpPr txBox="1"/>
          <p:nvPr/>
        </p:nvSpPr>
        <p:spPr>
          <a:xfrm>
            <a:off x="609600" y="2390775"/>
            <a:ext cx="4143375" cy="428625"/>
          </a:xfrm>
          <a:prstGeom prst="rect">
            <a:avLst/>
          </a:prstGeom>
          <a:noFill/>
          <a:ln>
            <a:noFill/>
          </a:ln>
        </p:spPr>
        <p:txBody>
          <a:bodyPr wrap="square" lIns="0" tIns="0" rIns="0" bIns="0" anchor="t"/>
          <a:lstStyle/>
          <a:p>
            <a:pPr algn="l">
              <a:lnSpc>
                <a:spcPct val="110000"/>
              </a:lnSpc>
            </a:pPr>
            <a:r>
              <a:rPr lang="en-GB" sz="2100" b="1">
                <a:solidFill>
                  <a:srgbClr val="201D1D"/>
                </a:solidFill>
                <a:latin typeface="Segoe UI"/>
                <a:ea typeface="Segoe UI"/>
                <a:cs typeface="Segoe UI"/>
              </a:rPr>
              <a:t xml:space="preserve">Best Overall Hack</a:t>
            </a:r>
            <a:endParaRPr lang="en-GB" sz="2100" b="1"/>
          </a:p>
        </p:txBody>
      </p:sp>
      <p:sp>
        <p:nvSpPr>
          <p:cNvPr id="7" name="OPEN CATEGORY"/>
          <p:cNvSpPr txBox="1"/>
          <p:nvPr/>
        </p:nvSpPr>
        <p:spPr>
          <a:xfrm>
            <a:off x="5000625" y="2352675"/>
            <a:ext cx="6581775" cy="333375"/>
          </a:xfrm>
          <a:prstGeom prst="rect">
            <a:avLst/>
          </a:prstGeom>
          <a:noFill/>
          <a:ln>
            <a:noFill/>
          </a:ln>
        </p:spPr>
        <p:txBody>
          <a:bodyPr wrap="square" lIns="0" tIns="0" rIns="0" bIns="0" anchor="t"/>
          <a:lstStyle/>
          <a:p>
            <a:pPr algn="l">
              <a:lnSpc>
                <a:spcPct val="110000"/>
              </a:lnSpc>
            </a:pPr>
            <a:r>
              <a:rPr lang="en-GB" sz="1500" b="1">
                <a:solidFill>
                  <a:srgbClr val="FF7A1A"/>
                </a:solidFill>
                <a:latin typeface="Segoe UI"/>
                <a:ea typeface="Segoe UI"/>
                <a:cs typeface="Segoe UI"/>
              </a:rPr>
              <a:t xml:space="preserve">OPEN CATEGORY</a:t>
            </a:r>
            <a:endParaRPr lang="en-GB" sz="1500" b="1"/>
          </a:p>
        </p:txBody>
      </p:sp>
      <p:sp>
        <p:nvSpPr>
          <p:cNvPr id="8" name="Show the working project and confirm event-rule complia"/>
          <p:cNvSpPr txBox="1"/>
          <p:nvPr/>
        </p:nvSpPr>
        <p:spPr>
          <a:xfrm>
            <a:off x="5000625" y="2752725"/>
            <a:ext cx="6581775" cy="723900"/>
          </a:xfrm>
          <a:prstGeom prst="rect">
            <a:avLst/>
          </a:prstGeom>
          <a:noFill/>
          <a:ln>
            <a:noFill/>
          </a:ln>
        </p:spPr>
        <p:txBody>
          <a:bodyPr wrap="square" lIns="0" tIns="0" rIns="0" bIns="0" anchor="t"/>
          <a:lstStyle/>
          <a:p>
            <a:pPr algn="l">
              <a:lnSpc>
                <a:spcPct val="110000"/>
              </a:lnSpc>
            </a:pPr>
            <a:r>
              <a:rPr lang="en-GB" sz="1725" b="0">
                <a:solidFill>
                  <a:srgbClr val="776B62"/>
                </a:solidFill>
                <a:latin typeface="Segoe UI"/>
                <a:ea typeface="Segoe UI"/>
                <a:cs typeface="Segoe UI"/>
              </a:rPr>
              <a:t xml:space="preserve">Show the working project and confirm event-rule compliance.</a:t>
            </a:r>
            <a:endParaRPr lang="en-GB" sz="1725" b="0"/>
          </a:p>
        </p:txBody>
      </p:sp>
      <p:sp>
        <p:nvSpPr>
          <p:cNvPr id="9" name="Shape 9"/>
          <p:cNvSpPr/>
          <p:nvPr/>
        </p:nvSpPr>
        <p:spPr>
          <a:xfrm>
            <a:off x="609600" y="3419475"/>
            <a:ext cx="10972800" cy="12382"/>
          </a:xfrm>
          <a:prstGeom prst="rect">
            <a:avLst/>
          </a:prstGeom>
          <a:solidFill>
            <a:srgbClr val="E7DDD3"/>
          </a:solidFill>
          <a:ln w="9525">
            <a:noFill/>
          </a:ln>
        </p:spPr>
      </p:sp>
      <p:sp>
        <p:nvSpPr>
          <p:cNvPr id="10" name="Best Open-Source AI"/>
          <p:cNvSpPr txBox="1"/>
          <p:nvPr/>
        </p:nvSpPr>
        <p:spPr>
          <a:xfrm>
            <a:off x="609600" y="3609975"/>
            <a:ext cx="4143375" cy="428625"/>
          </a:xfrm>
          <a:prstGeom prst="rect">
            <a:avLst/>
          </a:prstGeom>
          <a:noFill/>
          <a:ln>
            <a:noFill/>
          </a:ln>
        </p:spPr>
        <p:txBody>
          <a:bodyPr wrap="square" lIns="0" tIns="0" rIns="0" bIns="0" anchor="t"/>
          <a:lstStyle/>
          <a:p>
            <a:pPr algn="l">
              <a:lnSpc>
                <a:spcPct val="110000"/>
              </a:lnSpc>
            </a:pPr>
            <a:r>
              <a:rPr lang="en-GB" sz="2100" b="1">
                <a:solidFill>
                  <a:srgbClr val="201D1D"/>
                </a:solidFill>
                <a:latin typeface="Segoe UI"/>
                <a:ea typeface="Segoe UI"/>
                <a:cs typeface="Segoe UI"/>
              </a:rPr>
              <a:t xml:space="preserve">Best Open-Source AI</a:t>
            </a:r>
            <a:endParaRPr lang="en-GB" sz="2100" b="1"/>
          </a:p>
        </p:txBody>
      </p:sp>
      <p:sp>
        <p:nvSpPr>
          <p:cNvPr id="11" name="STRONG FIT, LICENSE GAP"/>
          <p:cNvSpPr txBox="1"/>
          <p:nvPr/>
        </p:nvSpPr>
        <p:spPr>
          <a:xfrm>
            <a:off x="5000625" y="3571875"/>
            <a:ext cx="6581775" cy="333375"/>
          </a:xfrm>
          <a:prstGeom prst="rect">
            <a:avLst/>
          </a:prstGeom>
          <a:noFill/>
          <a:ln>
            <a:noFill/>
          </a:ln>
        </p:spPr>
        <p:txBody>
          <a:bodyPr wrap="square" lIns="0" tIns="0" rIns="0" bIns="0" anchor="t"/>
          <a:lstStyle/>
          <a:p>
            <a:pPr algn="l">
              <a:lnSpc>
                <a:spcPct val="110000"/>
              </a:lnSpc>
            </a:pPr>
            <a:r>
              <a:rPr lang="en-GB" sz="1500" b="1">
                <a:solidFill>
                  <a:srgbClr val="FF7A1A"/>
                </a:solidFill>
                <a:latin typeface="Segoe UI"/>
                <a:ea typeface="Segoe UI"/>
                <a:cs typeface="Segoe UI"/>
              </a:rPr>
              <a:t xml:space="preserve">STRONG FIT, LICENSE GAP</a:t>
            </a:r>
            <a:endParaRPr lang="en-GB" sz="1500" b="1"/>
          </a:p>
        </p:txBody>
      </p:sp>
      <p:sp>
        <p:nvSpPr>
          <p:cNvPr id="12" name="Public repo and original harness. Add a project license"/>
          <p:cNvSpPr txBox="1"/>
          <p:nvPr/>
        </p:nvSpPr>
        <p:spPr>
          <a:xfrm>
            <a:off x="5000625" y="3971925"/>
            <a:ext cx="6581775" cy="723900"/>
          </a:xfrm>
          <a:prstGeom prst="rect">
            <a:avLst/>
          </a:prstGeom>
          <a:noFill/>
          <a:ln>
            <a:noFill/>
          </a:ln>
        </p:spPr>
        <p:txBody>
          <a:bodyPr wrap="square" lIns="0" tIns="0" rIns="0" bIns="0" anchor="t"/>
          <a:lstStyle/>
          <a:p>
            <a:pPr algn="l">
              <a:lnSpc>
                <a:spcPct val="110000"/>
              </a:lnSpc>
            </a:pPr>
            <a:r>
              <a:rPr lang="en-GB" sz="1725" b="0">
                <a:solidFill>
                  <a:srgbClr val="776B62"/>
                </a:solidFill>
                <a:latin typeface="Segoe UI"/>
                <a:ea typeface="Segoe UI"/>
                <a:cs typeface="Segoe UI"/>
              </a:rPr>
              <a:t xml:space="preserve">Public repo and original harness. Add a project license and model links.</a:t>
            </a:r>
            <a:endParaRPr lang="en-GB" sz="1725" b="0"/>
          </a:p>
        </p:txBody>
      </p:sp>
      <p:sp>
        <p:nvSpPr>
          <p:cNvPr id="13" name="Shape 13"/>
          <p:cNvSpPr/>
          <p:nvPr/>
        </p:nvSpPr>
        <p:spPr>
          <a:xfrm>
            <a:off x="609600" y="4638675"/>
            <a:ext cx="10972800" cy="12382"/>
          </a:xfrm>
          <a:prstGeom prst="rect">
            <a:avLst/>
          </a:prstGeom>
          <a:solidFill>
            <a:srgbClr val="E7DDD3"/>
          </a:solidFill>
          <a:ln w="9525">
            <a:noFill/>
          </a:ln>
        </p:spPr>
      </p:sp>
      <p:sp>
        <p:nvSpPr>
          <p:cNvPr id="14" name="Best Use of Gemma 4"/>
          <p:cNvSpPr txBox="1"/>
          <p:nvPr/>
        </p:nvSpPr>
        <p:spPr>
          <a:xfrm>
            <a:off x="609600" y="4829175"/>
            <a:ext cx="4143375" cy="428625"/>
          </a:xfrm>
          <a:prstGeom prst="rect">
            <a:avLst/>
          </a:prstGeom>
          <a:noFill/>
          <a:ln>
            <a:noFill/>
          </a:ln>
        </p:spPr>
        <p:txBody>
          <a:bodyPr wrap="square" lIns="0" tIns="0" rIns="0" bIns="0" anchor="t"/>
          <a:lstStyle/>
          <a:p>
            <a:pPr algn="l">
              <a:lnSpc>
                <a:spcPct val="110000"/>
              </a:lnSpc>
            </a:pPr>
            <a:r>
              <a:rPr lang="en-GB" sz="2100" b="1">
                <a:solidFill>
                  <a:srgbClr val="201D1D"/>
                </a:solidFill>
                <a:latin typeface="Segoe UI"/>
                <a:ea typeface="Segoe UI"/>
                <a:cs typeface="Segoe UI"/>
              </a:rPr>
              <a:t xml:space="preserve">Best Use of Gemma 4</a:t>
            </a:r>
            <a:endParaRPr lang="en-GB" sz="2100" b="1"/>
          </a:p>
        </p:txBody>
      </p:sp>
      <p:sp>
        <p:nvSpPr>
          <p:cNvPr id="15" name="API REQUIREMENT UNMET"/>
          <p:cNvSpPr txBox="1"/>
          <p:nvPr/>
        </p:nvSpPr>
        <p:spPr>
          <a:xfrm>
            <a:off x="5000625" y="4791075"/>
            <a:ext cx="6581775" cy="333375"/>
          </a:xfrm>
          <a:prstGeom prst="rect">
            <a:avLst/>
          </a:prstGeom>
          <a:noFill/>
          <a:ln>
            <a:noFill/>
          </a:ln>
        </p:spPr>
        <p:txBody>
          <a:bodyPr wrap="square" lIns="0" tIns="0" rIns="0" bIns="0" anchor="t"/>
          <a:lstStyle/>
          <a:p>
            <a:pPr algn="l">
              <a:lnSpc>
                <a:spcPct val="110000"/>
              </a:lnSpc>
            </a:pPr>
            <a:r>
              <a:rPr lang="en-GB" sz="1500" b="1">
                <a:solidFill>
                  <a:srgbClr val="FF7A1A"/>
                </a:solidFill>
                <a:latin typeface="Segoe UI"/>
                <a:ea typeface="Segoe UI"/>
                <a:cs typeface="Segoe UI"/>
              </a:rPr>
              <a:t xml:space="preserve">API REQUIREMENT UNMET</a:t>
            </a:r>
            <a:endParaRPr lang="en-GB" sz="1500" b="1"/>
          </a:p>
        </p:txBody>
      </p:sp>
      <p:sp>
        <p:nvSpPr>
          <p:cNvPr id="16" name="The brief requires Gemini API use. Kopi currently runs "/>
          <p:cNvSpPr txBox="1"/>
          <p:nvPr/>
        </p:nvSpPr>
        <p:spPr>
          <a:xfrm>
            <a:off x="5000625" y="5191125"/>
            <a:ext cx="6581775" cy="723900"/>
          </a:xfrm>
          <a:prstGeom prst="rect">
            <a:avLst/>
          </a:prstGeom>
          <a:noFill/>
          <a:ln>
            <a:noFill/>
          </a:ln>
        </p:spPr>
        <p:txBody>
          <a:bodyPr wrap="square" lIns="0" tIns="0" rIns="0" bIns="0" anchor="t"/>
          <a:lstStyle/>
          <a:p>
            <a:pPr algn="l">
              <a:lnSpc>
                <a:spcPct val="110000"/>
              </a:lnSpc>
            </a:pPr>
            <a:r>
              <a:rPr lang="en-GB" sz="1725" b="0">
                <a:solidFill>
                  <a:srgbClr val="776B62"/>
                </a:solidFill>
                <a:latin typeface="Segoe UI"/>
                <a:ea typeface="Segoe UI"/>
                <a:cs typeface="Segoe UI"/>
              </a:rPr>
              <a:t xml:space="preserve">The brief requires Gemini API use. Kopi currently runs Gemma locally.</a:t>
            </a:r>
            <a:endParaRPr lang="en-GB" sz="1725" b="0"/>
          </a:p>
        </p:txBody>
      </p:sp>
      <p:sp>
        <p:nvSpPr>
          <p:cNvPr id="17" name="Model-harness entry. Agent Skills compliance applies if"/>
          <p:cNvSpPr txBox="1"/>
          <p:nvPr/>
        </p:nvSpPr>
        <p:spPr>
          <a:xfrm>
            <a:off x="609600" y="6210300"/>
            <a:ext cx="10972800" cy="314325"/>
          </a:xfrm>
          <a:prstGeom prst="rect">
            <a:avLst/>
          </a:prstGeom>
          <a:noFill/>
          <a:ln>
            <a:noFill/>
          </a:ln>
        </p:spPr>
        <p:txBody>
          <a:bodyPr wrap="square" lIns="0" tIns="0" rIns="0" bIns="0" anchor="t"/>
          <a:lstStyle/>
          <a:p>
            <a:pPr algn="l">
              <a:lnSpc>
                <a:spcPct val="110000"/>
              </a:lnSpc>
            </a:pPr>
            <a:r>
              <a:rPr lang="en-GB" sz="1500" b="0">
                <a:solidFill>
                  <a:srgbClr val="776B62"/>
                </a:solidFill>
                <a:latin typeface="Segoe UI"/>
                <a:ea typeface="Segoe UI"/>
                <a:cs typeface="Segoe UI"/>
              </a:rPr>
              <a:t xml:space="preserve">Model-harness entry. Agent Skills compliance applies if submitting a separate skill.</a:t>
            </a:r>
            <a:endParaRPr lang="en-GB" sz="1500" b="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name="Submission checklist and technologies">
    <p:bg>
      <p:bgPr>
        <a:solidFill>
          <a:srgbClr val="FFFEFA"/>
        </a:solidFill>
        <a:effectLst/>
      </p:bgPr>
    </p:bg>
    <p:spTree>
      <p:nvGrpSpPr>
        <p:cNvPr id="1" name=""/>
        <p:cNvGrpSpPr/>
        <p:nvPr/>
      </p:nvGrpSpPr>
      <p:grpSpPr>
        <a:xfrm>
          <a:off x="0" y="0"/>
          <a:ext cx="0" cy="0"/>
          <a:chOff x="0" y="0"/>
          <a:chExt cx="0" cy="0"/>
        </a:xfrm>
      </p:grpSpPr>
      <p:sp>
        <p:nvSpPr>
          <p:cNvPr id="2" name="Kopi  /  Appendix"/>
          <p:cNvSpPr txBox="1"/>
          <p:nvPr/>
        </p:nvSpPr>
        <p:spPr>
          <a:xfrm>
            <a:off x="609600" y="285750"/>
            <a:ext cx="5715000" cy="228600"/>
          </a:xfrm>
          <a:prstGeom prst="rect">
            <a:avLst/>
          </a:prstGeom>
          <a:noFill/>
          <a:ln>
            <a:noFill/>
          </a:ln>
        </p:spPr>
        <p:txBody>
          <a:bodyPr wrap="square" lIns="0" tIns="0" rIns="0" bIns="0" anchor="t"/>
          <a:lstStyle/>
          <a:p>
            <a:pPr algn="l">
              <a:lnSpc>
                <a:spcPct val="110000"/>
              </a:lnSpc>
            </a:pPr>
            <a:r>
              <a:rPr lang="en-GB" sz="1275" b="0">
                <a:solidFill>
                  <a:srgbClr val="776B62"/>
                </a:solidFill>
                <a:latin typeface="Segoe UI"/>
                <a:ea typeface="Segoe UI"/>
                <a:cs typeface="Segoe UI"/>
              </a:rPr>
              <a:t xml:space="preserve">Kopi  /  Appendix</a:t>
            </a:r>
            <a:endParaRPr lang="en-GB" sz="1275" b="0"/>
          </a:p>
        </p:txBody>
      </p:sp>
      <p:sp>
        <p:nvSpPr>
          <p:cNvPr id="3" name="12"/>
          <p:cNvSpPr txBox="1"/>
          <p:nvPr/>
        </p:nvSpPr>
        <p:spPr>
          <a:xfrm>
            <a:off x="11049000" y="285750"/>
            <a:ext cx="533400" cy="228600"/>
          </a:xfrm>
          <a:prstGeom prst="rect">
            <a:avLst/>
          </a:prstGeom>
          <a:noFill/>
          <a:ln>
            <a:noFill/>
          </a:ln>
        </p:spPr>
        <p:txBody>
          <a:bodyPr wrap="square" lIns="0" tIns="0" rIns="0" bIns="0" anchor="t"/>
          <a:lstStyle/>
          <a:p>
            <a:pPr algn="r">
              <a:lnSpc>
                <a:spcPct val="110000"/>
              </a:lnSpc>
            </a:pPr>
            <a:r>
              <a:rPr lang="en-GB" sz="1275" b="0">
                <a:solidFill>
                  <a:srgbClr val="776B62"/>
                </a:solidFill>
                <a:latin typeface="Segoe UI"/>
                <a:ea typeface="Segoe UI"/>
                <a:cs typeface="Segoe UI"/>
              </a:rPr>
              <a:t xml:space="preserve">12</a:t>
            </a:r>
            <a:endParaRPr lang="en-GB" sz="1275" b="0"/>
          </a:p>
        </p:txBody>
      </p:sp>
      <p:sp>
        <p:nvSpPr>
          <p:cNvPr id="4" name="Submission readiness"/>
          <p:cNvSpPr txBox="1"/>
          <p:nvPr/>
        </p:nvSpPr>
        <p:spPr>
          <a:xfrm>
            <a:off x="609600" y="876300"/>
            <a:ext cx="10972800" cy="1162050"/>
          </a:xfrm>
          <a:prstGeom prst="rect">
            <a:avLst/>
          </a:prstGeom>
          <a:noFill/>
          <a:ln>
            <a:noFill/>
          </a:ln>
        </p:spPr>
        <p:txBody>
          <a:bodyPr wrap="square" lIns="0" tIns="0" rIns="0" bIns="0" anchor="t"/>
          <a:lstStyle/>
          <a:p>
            <a:pPr algn="l">
              <a:lnSpc>
                <a:spcPct val="110000"/>
              </a:lnSpc>
            </a:pPr>
            <a:r>
              <a:rPr lang="en-GB" sz="3600" b="1">
                <a:solidFill>
                  <a:srgbClr val="201D1D"/>
                </a:solidFill>
                <a:latin typeface="Segoe UI"/>
                <a:ea typeface="Segoe UI"/>
                <a:cs typeface="Segoe UI"/>
              </a:rPr>
              <a:t xml:space="preserve">Submission readiness</a:t>
            </a:r>
            <a:endParaRPr lang="en-GB" sz="3600" b="1"/>
          </a:p>
        </p:txBody>
      </p:sp>
      <p:sp>
        <p:nvSpPr>
          <p:cNvPr id="5" name="Technologies used"/>
          <p:cNvSpPr txBox="1"/>
          <p:nvPr/>
        </p:nvSpPr>
        <p:spPr>
          <a:xfrm>
            <a:off x="609600" y="2295525"/>
            <a:ext cx="4762500" cy="419100"/>
          </a:xfrm>
          <a:prstGeom prst="rect">
            <a:avLst/>
          </a:prstGeom>
          <a:noFill/>
          <a:ln>
            <a:noFill/>
          </a:ln>
        </p:spPr>
        <p:txBody>
          <a:bodyPr wrap="square" lIns="0" tIns="0" rIns="0" bIns="0" anchor="t"/>
          <a:lstStyle/>
          <a:p>
            <a:pPr algn="l">
              <a:lnSpc>
                <a:spcPct val="110000"/>
              </a:lnSpc>
            </a:pPr>
            <a:r>
              <a:rPr lang="en-GB" sz="2325" b="1">
                <a:solidFill>
                  <a:srgbClr val="201D1D"/>
                </a:solidFill>
                <a:latin typeface="Segoe UI"/>
                <a:ea typeface="Segoe UI"/>
                <a:cs typeface="Segoe UI"/>
              </a:rPr>
              <a:t xml:space="preserve">Technologies used</a:t>
            </a:r>
            <a:endParaRPr lang="en-GB" sz="2325" b="1"/>
          </a:p>
        </p:txBody>
      </p:sp>
      <p:sp>
        <p:nvSpPr>
          <p:cNvPr id="6" name="C# / .NET 10 / WPF JavaScript browser extension Kestrel"/>
          <p:cNvSpPr txBox="1"/>
          <p:nvPr/>
        </p:nvSpPr>
        <p:spPr>
          <a:xfrm>
            <a:off x="609600" y="2943225"/>
            <a:ext cx="4953000" cy="2514600"/>
          </a:xfrm>
          <a:prstGeom prst="rect">
            <a:avLst/>
          </a:prstGeom>
          <a:noFill/>
          <a:ln>
            <a:noFill/>
          </a:ln>
        </p:spPr>
        <p:txBody>
          <a:bodyPr wrap="square" lIns="0" tIns="0" rIns="0" bIns="0" anchor="t"/>
          <a:lstStyle/>
          <a:p>
            <a:pPr algn="l">
              <a:lnSpc>
                <a:spcPct val="110000"/>
              </a:lnSpc>
            </a:pPr>
            <a:r>
              <a:rPr lang="en-GB" sz="1875" b="0">
                <a:solidFill>
                  <a:srgbClr val="776B62"/>
                </a:solidFill>
                <a:latin typeface="Segoe UI"/>
                <a:ea typeface="Segoe UI"/>
                <a:cs typeface="Segoe UI"/>
              </a:rPr>
              <a:t xml:space="preserve">C# / .NET 10 / WPF</a:t>
            </a:r>
            <a:endParaRPr lang="en-GB" sz="1875" b="0"/>
          </a:p>
          <a:p>
            <a:pPr algn="l">
              <a:lnSpc>
                <a:spcPct val="110000"/>
              </a:lnSpc>
            </a:pPr>
            <a:r>
              <a:rPr lang="en-GB" sz="1875" b="0">
                <a:solidFill>
                  <a:srgbClr val="776B62"/>
                </a:solidFill>
                <a:latin typeface="Segoe UI"/>
                <a:ea typeface="Segoe UI"/>
                <a:cs typeface="Segoe UI"/>
              </a:rPr>
              <a:t xml:space="preserve">JavaScript browser extension</a:t>
            </a:r>
            <a:endParaRPr lang="en-GB" sz="1875" b="0"/>
          </a:p>
          <a:p>
            <a:pPr algn="l">
              <a:lnSpc>
                <a:spcPct val="110000"/>
              </a:lnSpc>
            </a:pPr>
            <a:r>
              <a:rPr lang="en-GB" sz="1875" b="0">
                <a:solidFill>
                  <a:srgbClr val="776B62"/>
                </a:solidFill>
                <a:latin typeface="Segoe UI"/>
                <a:ea typeface="Segoe UI"/>
                <a:cs typeface="Segoe UI"/>
              </a:rPr>
              <a:t xml:space="preserve">Kestrel loopback bridge</a:t>
            </a:r>
            <a:endParaRPr lang="en-GB" sz="1875" b="0"/>
          </a:p>
          <a:p>
            <a:pPr algn="l">
              <a:lnSpc>
                <a:spcPct val="110000"/>
              </a:lnSpc>
            </a:pPr>
            <a:r>
              <a:rPr lang="en-GB" sz="1875" b="0">
                <a:solidFill>
                  <a:srgbClr val="776B62"/>
                </a:solidFill>
                <a:latin typeface="Segoe UI"/>
                <a:ea typeface="Segoe UI"/>
                <a:cs typeface="Segoe UI"/>
              </a:rPr>
              <a:t xml:space="preserve">Gemma 4 E2B / llama.cpp CPU</a:t>
            </a:r>
            <a:endParaRPr lang="en-GB" sz="1875" b="0"/>
          </a:p>
          <a:p>
            <a:pPr algn="l">
              <a:lnSpc>
                <a:spcPct val="110000"/>
              </a:lnSpc>
            </a:pPr>
            <a:r>
              <a:rPr lang="en-GB" sz="1875" b="0">
                <a:solidFill>
                  <a:srgbClr val="776B62"/>
                </a:solidFill>
                <a:latin typeface="Segoe UI"/>
                <a:ea typeface="Segoe UI"/>
                <a:cs typeface="Segoe UI"/>
              </a:rPr>
              <a:t xml:space="preserve">Playwright / xUnit</a:t>
            </a:r>
            <a:endParaRPr lang="en-GB" sz="1875" b="0"/>
          </a:p>
          <a:p>
            <a:pPr algn="l">
              <a:lnSpc>
                <a:spcPct val="110000"/>
              </a:lnSpc>
            </a:pPr>
            <a:r>
              <a:rPr lang="en-GB" sz="1875" b="0">
                <a:solidFill>
                  <a:srgbClr val="776B62"/>
                </a:solidFill>
                <a:latin typeface="Segoe UI"/>
                <a:ea typeface="Segoe UI"/>
                <a:cs typeface="Segoe UI"/>
              </a:rPr>
              <a:t xml:space="preserve">GitHub Actions / Inno Setup</a:t>
            </a:r>
            <a:endParaRPr lang="en-GB" sz="1875" b="0"/>
          </a:p>
        </p:txBody>
      </p:sp>
      <p:sp>
        <p:nvSpPr>
          <p:cNvPr id="7" name="Before submitting"/>
          <p:cNvSpPr txBox="1"/>
          <p:nvPr/>
        </p:nvSpPr>
        <p:spPr>
          <a:xfrm>
            <a:off x="6296025" y="2295525"/>
            <a:ext cx="5286375" cy="419100"/>
          </a:xfrm>
          <a:prstGeom prst="rect">
            <a:avLst/>
          </a:prstGeom>
          <a:noFill/>
          <a:ln>
            <a:noFill/>
          </a:ln>
        </p:spPr>
        <p:txBody>
          <a:bodyPr wrap="square" lIns="0" tIns="0" rIns="0" bIns="0" anchor="t"/>
          <a:lstStyle/>
          <a:p>
            <a:pPr algn="l">
              <a:lnSpc>
                <a:spcPct val="110000"/>
              </a:lnSpc>
            </a:pPr>
            <a:r>
              <a:rPr lang="en-GB" sz="2325" b="1">
                <a:solidFill>
                  <a:srgbClr val="201D1D"/>
                </a:solidFill>
                <a:latin typeface="Segoe UI"/>
                <a:ea typeface="Segoe UI"/>
                <a:cs typeface="Segoe UI"/>
              </a:rPr>
              <a:t xml:space="preserve">Before submitting</a:t>
            </a:r>
            <a:endParaRPr lang="en-GB" sz="2325" b="1"/>
          </a:p>
        </p:txBody>
      </p:sp>
      <p:sp>
        <p:nvSpPr>
          <p:cNvPr id="8" name="Add the project license and model links. Show a genuine"/>
          <p:cNvSpPr txBox="1"/>
          <p:nvPr/>
        </p:nvSpPr>
        <p:spPr>
          <a:xfrm>
            <a:off x="6296025" y="2943225"/>
            <a:ext cx="5286375" cy="2686050"/>
          </a:xfrm>
          <a:prstGeom prst="rect">
            <a:avLst/>
          </a:prstGeom>
          <a:noFill/>
          <a:ln>
            <a:noFill/>
          </a:ln>
        </p:spPr>
        <p:txBody>
          <a:bodyPr wrap="square" lIns="0" tIns="0" rIns="0" bIns="0" anchor="t"/>
          <a:lstStyle/>
          <a:p>
            <a:pPr algn="l">
              <a:lnSpc>
                <a:spcPct val="110000"/>
              </a:lnSpc>
            </a:pPr>
            <a:r>
              <a:rPr lang="en-GB" sz="1800" b="0">
                <a:solidFill>
                  <a:srgbClr val="776B62"/>
                </a:solidFill>
                <a:latin typeface="Segoe UI"/>
                <a:ea typeface="Segoe UI"/>
                <a:cs typeface="Segoe UI"/>
              </a:rPr>
              <a:t xml:space="preserve">Add the project license and model links.</a:t>
            </a:r>
            <a:endParaRPr lang="en-GB" sz="1800" b="0"/>
          </a:p>
          <a:p>
            <a:pPr algn="l">
              <a:lnSpc>
                <a:spcPct val="110000"/>
              </a:lnSpc>
            </a:pPr>
            <a:r>
              <a:rPr lang="en-GB" sz="1800" b="0">
                <a:solidFill>
                  <a:srgbClr val="776B62"/>
                </a:solidFill>
                <a:latin typeface="Segoe UI"/>
                <a:ea typeface="Segoe UI"/>
                <a:cs typeface="Segoe UI"/>
              </a:rPr>
              <a:t xml:space="preserve">Show a genuine working demo in the video.</a:t>
            </a:r>
            <a:endParaRPr lang="en-GB" sz="1800" b="0"/>
          </a:p>
          <a:p>
            <a:pPr algn="l">
              <a:lnSpc>
                <a:spcPct val="110000"/>
              </a:lnSpc>
            </a:pPr>
            <a:r>
              <a:rPr lang="en-GB" sz="1800" b="0">
                <a:solidFill>
                  <a:srgbClr val="776B62"/>
                </a:solidFill>
                <a:latin typeface="Segoe UI"/>
                <a:ea typeface="Segoe UI"/>
                <a:cs typeface="Segoe UI"/>
              </a:rPr>
              <a:t xml:space="preserve">Confirm event-only work after 10:00.</a:t>
            </a:r>
            <a:endParaRPr lang="en-GB" sz="1800" b="0"/>
          </a:p>
          <a:p>
            <a:pPr algn="l">
              <a:lnSpc>
                <a:spcPct val="110000"/>
              </a:lnSpc>
            </a:pPr>
            <a:r>
              <a:rPr lang="en-GB" sz="1800" b="0">
                <a:solidFill>
                  <a:srgbClr val="776B62"/>
                </a:solidFill>
                <a:latin typeface="Segoe UI"/>
                <a:ea typeface="Segoe UI"/>
                <a:cs typeface="Segoe UI"/>
              </a:rPr>
              <a:t xml:space="preserve">Register and check in every member, up to 4.</a:t>
            </a:r>
            <a:endParaRPr lang="en-GB" sz="1800" b="0"/>
          </a:p>
          <a:p>
            <a:pPr algn="l">
              <a:lnSpc>
                <a:spcPct val="110000"/>
              </a:lnSpc>
            </a:pPr>
            <a:r>
              <a:rPr lang="en-GB" sz="1800" b="0">
                <a:solidFill>
                  <a:srgbClr val="776B62"/>
                </a:solidFill>
                <a:latin typeface="Segoe UI"/>
                <a:ea typeface="Segoe UI"/>
                <a:cs typeface="Segoe UI"/>
              </a:rPr>
              <a:t xml:space="preserve">Stay for finalists at 16:15.</a:t>
            </a:r>
            <a:endParaRPr lang="en-GB" sz="1800" b="0"/>
          </a:p>
          <a:p>
            <a:pPr algn="l">
              <a:lnSpc>
                <a:spcPct val="110000"/>
              </a:lnSpc>
            </a:pPr>
            <a:r>
              <a:rPr lang="en-GB" sz="1800" b="0">
                <a:solidFill>
                  <a:srgbClr val="776B62"/>
                </a:solidFill>
                <a:latin typeface="Segoe UI"/>
                <a:ea typeface="Segoe UI"/>
                <a:cs typeface="Segoe UI"/>
              </a:rPr>
              <a:t xml:space="preserve">Prepare the five-minute live final.</a:t>
            </a:r>
            <a:endParaRPr lang="en-GB" sz="1800" b="0"/>
          </a:p>
        </p:txBody>
      </p:sp>
      <p:sp>
        <p:nvSpPr>
          <p:cNvPr id="9" name="Shape 9"/>
          <p:cNvSpPr/>
          <p:nvPr/>
        </p:nvSpPr>
        <p:spPr>
          <a:xfrm>
            <a:off x="609600" y="5838825"/>
            <a:ext cx="10972800" cy="12382"/>
          </a:xfrm>
          <a:prstGeom prst="rect">
            <a:avLst/>
          </a:prstGeom>
          <a:solidFill>
            <a:srgbClr val="E7DDD3"/>
          </a:solidFill>
          <a:ln w="9525">
            <a:noFill/>
          </a:ln>
        </p:spPr>
      </p:sp>
      <p:sp>
        <p:nvSpPr>
          <p:cNvPr id="10" name="Bring laptop, charger, GitHub and student ID. Follow th"/>
          <p:cNvSpPr txBox="1"/>
          <p:nvPr/>
        </p:nvSpPr>
        <p:spPr>
          <a:xfrm>
            <a:off x="609600" y="6115050"/>
            <a:ext cx="10972800" cy="333375"/>
          </a:xfrm>
          <a:prstGeom prst="rect">
            <a:avLst/>
          </a:prstGeom>
          <a:noFill/>
          <a:ln>
            <a:noFill/>
          </a:ln>
        </p:spPr>
        <p:txBody>
          <a:bodyPr wrap="square" lIns="0" tIns="0" rIns="0" bIns="0" anchor="t"/>
          <a:lstStyle/>
          <a:p>
            <a:pPr algn="l">
              <a:lnSpc>
                <a:spcPct val="110000"/>
              </a:lnSpc>
            </a:pPr>
            <a:r>
              <a:rPr lang="en-GB" sz="1575" b="0">
                <a:solidFill>
                  <a:srgbClr val="776B62"/>
                </a:solidFill>
                <a:latin typeface="Segoe UI"/>
                <a:ea typeface="Segoe UI"/>
                <a:cs typeface="Segoe UI"/>
              </a:rPr>
              <a:t xml:space="preserve">Bring laptop, charger, GitHub and student ID. Follow the MLH Code of Conduct.</a:t>
            </a:r>
            <a:endParaRPr lang="en-GB" sz="1575" b="0"/>
          </a:p>
        </p:txBody>
      </p:sp>
    </p:spTree>
  </p:cSld>
  <p:clrMapOvr>
    <a:masterClrMapping/>
  </p:clrMapOvr>
</p:sld>
</file>

<file path=ppt/theme/theme1.xml><?xml version="1.0" encoding="utf-8"?>
<a:theme xmlns:a="http://schemas.openxmlformats.org/drawingml/2006/main" name="Kopi">
  <a:themeElements>
    <a:clrScheme name="Kopi">
      <a:dk1>
        <a:srgbClr val="201D1D"/>
      </a:dk1>
      <a:lt1>
        <a:srgbClr val="FFFEFA"/>
      </a:lt1>
      <a:dk2>
        <a:srgbClr val="776B62"/>
      </a:dk2>
      <a:lt2>
        <a:srgbClr val="FFDDBE"/>
      </a:lt2>
      <a:accent1>
        <a:srgbClr val="FF7A1A"/>
      </a:accent1>
      <a:accent2>
        <a:srgbClr val="FFDDBE"/>
      </a:accent2>
      <a:accent3>
        <a:srgbClr val="201D1D"/>
      </a:accent3>
      <a:accent4>
        <a:srgbClr val="BD6933"/>
      </a:accent4>
      <a:accent5>
        <a:srgbClr val="F4EDE5"/>
      </a:accent5>
      <a:accent6>
        <a:srgbClr val="776B62"/>
      </a:accent6>
      <a:hlink>
        <a:srgbClr val="B24E00"/>
      </a:hlink>
      <a:folHlink>
        <a:srgbClr val="776B62"/>
      </a:folHlink>
    </a:clrScheme>
    <a:fontScheme name="Kopi">
      <a:majorFont>
        <a:latin typeface="Segoe UI"/>
        <a:ea typeface=""/>
        <a:cs typeface=""/>
      </a:majorFont>
      <a:minorFont>
        <a:latin typeface="Segoe UI"/>
        <a:ea typeface=""/>
        <a:cs typeface=""/>
      </a:minorFont>
    </a:fontScheme>
    <a:fmtScheme name="Kopi">
      <a:fillStyleLst>
        <a:solidFill>
          <a:srgbClr val="FFFEFA"/>
        </a:solidFill>
        <a:solidFill>
          <a:srgbClr val="FF7A1A"/>
        </a:solidFill>
        <a:solidFill>
          <a:srgbClr val="FFDDBE"/>
        </a:solidFill>
      </a:fillStyleLst>
      <a:lnStyleLst>
        <a:ln w="9525">
          <a:solidFill>
            <a:srgbClr val="201D1D"/>
          </a:solidFill>
          <a:prstDash val="solid"/>
        </a:ln>
        <a:ln w="19050">
          <a:solidFill>
            <a:srgbClr val="201D1D"/>
          </a:solidFill>
          <a:prstDash val="solid"/>
        </a:ln>
        <a:ln w="28575">
          <a:solidFill>
            <a:srgbClr val="201D1D"/>
          </a:solidFill>
          <a:prstDash val="solid"/>
        </a:ln>
      </a:lnStyleLst>
      <a:effectStyleLst>
        <a:effectStyle>
          <a:effectLst/>
        </a:effectStyle>
        <a:effectStyle>
          <a:effectLst/>
        </a:effectStyle>
        <a:effectStyle>
          <a:effectLst/>
        </a:effectStyle>
      </a:effectStyleLst>
      <a:bgFillStyleLst>
        <a:solidFill>
          <a:srgbClr val="FFFEFA"/>
        </a:solidFill>
        <a:solidFill>
          <a:srgbClr val="FFFEFA"/>
        </a:solidFill>
        <a:solidFill>
          <a:srgbClr val="FFFEFA"/>
        </a:solidFill>
      </a:bgFillStyleLst>
    </a:fmtScheme>
  </a:themeElements>
</a:theme>
</file>

<file path=docProps/app.xml><?xml version="1.0" encoding="utf-8"?>
<Properties xmlns="http://schemas.openxmlformats.org/officeDocument/2006/extended-properties">
  <Application>Kopi</Application>
  <PresentationFormat>On-screen Show (16:9)</PresentationFormat>
  <Slides>12</Slides>
  <Notes>12</Notes>
</Properties>
</file>

<file path=docProps/core.xml><?xml version="1.0" encoding="utf-8"?>
<cp:coreProperties xmlns:cp="http://schemas.openxmlformats.org/package/2006/metadata/core-properties" xmlns:dc="http://purl.org/dc/elements/1.1/">
  <dc:title>Kopi — Hackathon Pitch</dc:title>
  <dc:creator>Kopi</dc:creator>
  <dc:subject>Local AI browser workflow learner</dc:subject>
</cp:coreProperties>
</file>
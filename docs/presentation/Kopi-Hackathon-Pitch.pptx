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
  </p:notesMasterIdLst>
  <p:sldIdLst>
    <p:sldId id="256" r:id="rId3"/>
    <p:sldId id="257" r:id="rId4"/>
    <p:sldId id="258" r:id="rId5"/>
    <p:sldId id="259" r:id="rId6"/>
    <p:sldId id="260" r:id="rId7"/>
    <p:sldId id="261" r:id="rId8"/>
    <p:sldId id="262" r:id="rId9"/>
    <p:sldId id="263" r:id="rId10"/>
  </p:sldIdLst>
  <p:sldSz cx="12192000" cy="6858000" type="screen16x9"/>
  <p:notesSz cx="6858000" cy="9144000"/>
  <p:defaultTextStyle>
    <a:defPPr>
      <a:defRPr lang="en-GB">
        <a:latin typeface="Segoe UI"/>
      </a:defRPr>
    </a:defPPr>
  </p:defaultTextStyle>
</p:presentation>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txBox="1"/>
          <p:nvPr>
            <p:ph type="body" idx="1"/>
          </p:nvPr>
        </p:nvSpPr>
        <p:spPr>
          <a:xfrm>
            <a:off x="457200" y="952500"/>
            <a:ext cx="5943600" cy="7429500"/>
          </a:xfrm>
        </p:spPr>
        <p:txBody>
          <a:bodyPr/>
          <a:lstStyle/>
          <a:p>
            <a:pPr algn="l">
              <a:lnSpc>
                <a:spcPct val="110000"/>
              </a:lnSpc>
            </a:pPr>
            <a:r>
              <a:rPr lang="en-GB" sz="1200" b="0">
                <a:solidFill>
                  <a:srgbClr val="201D1D"/>
                </a:solidFill>
                <a:latin typeface="Segoe UI"/>
                <a:ea typeface="Segoe UI"/>
                <a:cs typeface="Segoe UI"/>
              </a:rPr>
              <a:t xml:space="preserve">00:00–00:15 / 15 seconds</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Kopi is designed to handle repeated browser work in the background. The idea started with something I kept doing myself: logging into university and going through verification every day. Once a supported verification workflow is learned and enabled, Kopi can recognise a matching challenge and execute it automatically.</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Sources</a:t>
            </a:r>
            <a:endParaRPr lang="en-GB" sz="1200" b="0"/>
          </a:p>
          <a:p>
            <a:pPr algn="l">
              <a:lnSpc>
                <a:spcPct val="110000"/>
              </a:lnSpc>
            </a:pPr>
            <a:r>
              <a:rPr lang="en-GB" sz="1200" b="0">
                <a:solidFill>
                  <a:srgbClr val="201D1D"/>
                </a:solidFill>
                <a:latin typeface="Segoe UI"/>
                <a:ea typeface="Segoe UI"/>
                <a:cs typeface="Segoe UI"/>
              </a:rPr>
              <a:t xml:space="preserve">Origin story supplied by the user in this chat.</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https://github.com/MLouchini/Kopi/blob/main/README.md</a:t>
            </a:r>
            <a:endParaRPr lang="en-GB" sz="1200" b="0"/>
          </a:p>
          <a:p>
            <a:pPr algn="l">
              <a:lnSpc>
                <a:spcPct val="110000"/>
              </a:lnSpc>
            </a:pPr>
            <a:r>
              <a:rPr lang="en-GB" sz="1200" b="0">
                <a:solidFill>
                  <a:srgbClr val="201D1D"/>
                </a:solidFill>
                <a:latin typeface="Segoe UI"/>
                <a:ea typeface="Segoe UI"/>
                <a:cs typeface="Segoe UI"/>
              </a:rPr>
              <a:t xml:space="preserve">Brand assets: site/assets. Palette: site/style.css.</a:t>
            </a:r>
            <a:endParaRPr lang="en-GB" sz="1200" b="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txBox="1"/>
          <p:nvPr>
            <p:ph type="body" idx="1"/>
          </p:nvPr>
        </p:nvSpPr>
        <p:spPr>
          <a:xfrm>
            <a:off x="457200" y="952500"/>
            <a:ext cx="5943600" cy="7429500"/>
          </a:xfrm>
        </p:spPr>
        <p:txBody>
          <a:bodyPr/>
          <a:lstStyle/>
          <a:p>
            <a:pPr algn="l">
              <a:lnSpc>
                <a:spcPct val="110000"/>
              </a:lnSpc>
            </a:pPr>
            <a:r>
              <a:rPr lang="en-GB" sz="1200" b="0">
                <a:solidFill>
                  <a:srgbClr val="201D1D"/>
                </a:solidFill>
                <a:latin typeface="Segoe UI"/>
                <a:ea typeface="Segoe UI"/>
                <a:cs typeface="Segoe UI"/>
              </a:rPr>
              <a:t xml:space="preserve">00:15–00:55 / 40 seconds</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Every day I log into my university account, and every day I have to verify again. That means requesting a code, finding it in the right conversation, going back to the university page and entering it. The verification protects the account, but manually moving through the same browser steps is repetitive. That repeated routine gave me a concrete problem to build around. I wanted to reduce the manual steps while keeping the verification itself.</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Sources</a:t>
            </a:r>
            <a:endParaRPr lang="en-GB" sz="1200" b="0"/>
          </a:p>
          <a:p>
            <a:pPr algn="l">
              <a:lnSpc>
                <a:spcPct val="110000"/>
              </a:lnSpc>
            </a:pPr>
            <a:r>
              <a:rPr lang="en-GB" sz="1200" b="0">
                <a:solidFill>
                  <a:srgbClr val="201D1D"/>
                </a:solidFill>
                <a:latin typeface="Segoe UI"/>
                <a:ea typeface="Segoe UI"/>
                <a:cs typeface="Segoe UI"/>
              </a:rPr>
              <a:t xml:space="preserve">Personal motivation supplied by the user in this chat.</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https://github.com/MLouchini/Kopi/blob/main/HANDOFF.md</a:t>
            </a:r>
            <a:endParaRPr lang="en-GB" sz="1200" b="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txBox="1"/>
          <p:nvPr>
            <p:ph type="body" idx="1"/>
          </p:nvPr>
        </p:nvSpPr>
        <p:spPr>
          <a:xfrm>
            <a:off x="457200" y="952500"/>
            <a:ext cx="5943600" cy="7429500"/>
          </a:xfrm>
        </p:spPr>
        <p:txBody>
          <a:bodyPr/>
          <a:lstStyle/>
          <a:p>
            <a:pPr algn="l">
              <a:lnSpc>
                <a:spcPct val="110000"/>
              </a:lnSpc>
            </a:pPr>
            <a:r>
              <a:rPr lang="en-GB" sz="1200" b="0">
                <a:solidFill>
                  <a:srgbClr val="201D1D"/>
                </a:solidFill>
                <a:latin typeface="Segoe UI"/>
                <a:ea typeface="Segoe UI"/>
                <a:cs typeface="Segoe UI"/>
              </a:rPr>
              <a:t xml:space="preserve">00:55–01:35 / 40 seconds</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My first thought was to automate that login routine. But a script written for one university page would only solve that one case. The wider idea was a local assistant that recognises repeated browser work and handles it in the background. It should understand which steps stay the same and which information changes, so I can carry on with my day. Current automatic execution covers explicitly enabled learned verification workflows. Broader background learning and automation remain the product direction.</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Sources</a:t>
            </a:r>
            <a:endParaRPr lang="en-GB" sz="1200" b="0"/>
          </a:p>
          <a:p>
            <a:pPr algn="l">
              <a:lnSpc>
                <a:spcPct val="110000"/>
              </a:lnSpc>
            </a:pPr>
            <a:r>
              <a:rPr lang="en-GB" sz="1200" b="0">
                <a:solidFill>
                  <a:srgbClr val="201D1D"/>
                </a:solidFill>
                <a:latin typeface="Segoe UI"/>
                <a:ea typeface="Segoe UI"/>
                <a:cs typeface="Segoe UI"/>
              </a:rPr>
              <a:t xml:space="preserve">User-provided motivation.</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https://github.com/MLouchini/Kopi/blob/main/README.md</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https://github.com/MLouchini/Kopi/blob/main/src/Kopi.Core/Intelligence.cs</a:t>
            </a:r>
            <a:endParaRPr lang="en-GB" sz="1200" b="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txBox="1"/>
          <p:nvPr>
            <p:ph type="body" idx="1"/>
          </p:nvPr>
        </p:nvSpPr>
        <p:spPr>
          <a:xfrm>
            <a:off x="457200" y="952500"/>
            <a:ext cx="5943600" cy="7429500"/>
          </a:xfrm>
        </p:spPr>
        <p:txBody>
          <a:bodyPr/>
          <a:lstStyle/>
          <a:p>
            <a:pPr algn="l">
              <a:lnSpc>
                <a:spcPct val="110000"/>
              </a:lnSpc>
            </a:pPr>
            <a:r>
              <a:rPr lang="en-GB" sz="1200" b="0">
                <a:solidFill>
                  <a:srgbClr val="201D1D"/>
                </a:solidFill>
                <a:latin typeface="Segoe UI"/>
                <a:ea typeface="Segoe UI"/>
                <a:cs typeface="Segoe UI"/>
              </a:rPr>
              <a:t xml:space="preserve">01:35–02:15 / 40 seconds</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Kopi stays running with the paired browser extension. With page monitoring enabled, it receives page context and uses local Gemma to match that context to an approved learned workflow. When I reach a matching new verification challenge, Kopi runs the enabled workflow automatically, transfers a fresh code and checks the result. I do not have to open the app, start a recording or approve every repeat. Setup and enablement happen beforehand. Current automatic execution is scoped to supported fresh-value workflows. Ordinary workflows still require approval, and fully passive learning of arbitrary routines is not implemented.</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Sources</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https://github.com/MLouchini/Kopi/blob/main/HANDOFF.md</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https://github.com/MLouchini/Kopi/blob/main/docs/verification-workflows.md</a:t>
            </a:r>
            <a:endParaRPr lang="en-GB" sz="1200" b="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txBox="1"/>
          <p:nvPr>
            <p:ph type="body" idx="1"/>
          </p:nvPr>
        </p:nvSpPr>
        <p:spPr>
          <a:xfrm>
            <a:off x="457200" y="952500"/>
            <a:ext cx="5943600" cy="7429500"/>
          </a:xfrm>
        </p:spPr>
        <p:txBody>
          <a:bodyPr/>
          <a:lstStyle/>
          <a:p>
            <a:pPr algn="l">
              <a:lnSpc>
                <a:spcPct val="110000"/>
              </a:lnSpc>
            </a:pPr>
            <a:r>
              <a:rPr lang="en-GB" sz="1200" b="0">
                <a:solidFill>
                  <a:srgbClr val="201D1D"/>
                </a:solidFill>
                <a:latin typeface="Segoe UI"/>
                <a:ea typeface="Segoe UI"/>
                <a:cs typeface="Segoe UI"/>
              </a:rPr>
              <a:t xml:space="preserve">02:15–02:55 / 40 seconds</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After initial setup and enablement, reaching a matching new university challenge is the trigger. Kopi detects the page context in the background, requests a fresh code, finds the new matching message in the approved conversation, transfers the code, submits it and checks for a separate success state. No new recording or per-run approval is needed for this enabled workflow. The implementation checks freshness, source identity and destination identity, and stops if the new message is stale, missing or ambiguous. Browser tests exercise this flow on test pages. Real WhatsApp and university accounts still need validation.</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Sources</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https://github.com/MLouchini/Kopi/blob/main/extension/fresh.js</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https://github.com/MLouchini/Kopi/blob/main/src/Kopi.Core/FreshCompiler.cs</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https://github.com/MLouchini/Kopi/blob/main/HANDOFF.md</a:t>
            </a:r>
            <a:endParaRPr lang="en-GB" sz="1200" b="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txBox="1"/>
          <p:nvPr>
            <p:ph type="body" idx="1"/>
          </p:nvPr>
        </p:nvSpPr>
        <p:spPr>
          <a:xfrm>
            <a:off x="457200" y="952500"/>
            <a:ext cx="5943600" cy="7429500"/>
          </a:xfrm>
        </p:spPr>
        <p:txBody>
          <a:bodyPr/>
          <a:lstStyle/>
          <a:p>
            <a:pPr algn="l">
              <a:lnSpc>
                <a:spcPct val="110000"/>
              </a:lnSpc>
            </a:pPr>
            <a:r>
              <a:rPr lang="en-GB" sz="1200" b="0">
                <a:solidFill>
                  <a:srgbClr val="201D1D"/>
                </a:solidFill>
                <a:latin typeface="Segoe UI"/>
                <a:ea typeface="Segoe UI"/>
                <a:cs typeface="Segoe UI"/>
              </a:rPr>
              <a:t xml:space="preserve">02:55–03:45 / 50 seconds</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The problem shaped the architecture. First, I was already signed into my normal browser. Using an extension lets Kopi work there without another profile or another login. Second, browser evidence can contain personal information, so Gemma runs locally through llama.cpp rather than sending that evidence to cloud inference. Third, an AI proposal can be wrong. Kopi uses a reviewed workflow and fixed actions, with observed targets and checks around identity, freshness and success. The model interprets the task, while the execution code controls what can actually happen. Verification values stay transient in the extension and destination page.</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Sources</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https://github.com/MLouchini/Kopi/blob/main/docs/architecture.md</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https://github.com/MLouchini/Kopi/blob/main/docs/privacy.md</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https://github.com/MLouchini/Kopi/blob/main/src/Kopi.Core/FreshCompiler.cs</a:t>
            </a:r>
            <a:endParaRPr lang="en-GB" sz="1200" b="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txBox="1"/>
          <p:nvPr>
            <p:ph type="body" idx="1"/>
          </p:nvPr>
        </p:nvSpPr>
        <p:spPr>
          <a:xfrm>
            <a:off x="457200" y="952500"/>
            <a:ext cx="5943600" cy="7429500"/>
          </a:xfrm>
        </p:spPr>
        <p:txBody>
          <a:bodyPr/>
          <a:lstStyle/>
          <a:p>
            <a:pPr algn="l">
              <a:lnSpc>
                <a:spcPct val="110000"/>
              </a:lnSpc>
            </a:pPr>
            <a:r>
              <a:rPr lang="en-GB" sz="1200" b="0">
                <a:solidFill>
                  <a:srgbClr val="201D1D"/>
                </a:solidFill>
                <a:latin typeface="Segoe UI"/>
                <a:ea typeface="Segoe UI"/>
                <a:cs typeface="Segoe UI"/>
              </a:rPr>
              <a:t xml:space="preserve">03:45–04:30 / 45 seconds</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The JavaScript browser extension monitors page context and performs browser actions. The desktop is C# with .NET 10 and WPF. An authenticated Kestrel loopback bridge connects it to the extension. The open-weight model is Google Gemma 4 E2B IT QAT Q4_0, running locally with llama.cpp on the CPU. It interprets task evidence, extracts changing values, resolves questions and matches the current page to a learned workflow. My application code supplies the observation adapter, workflow contracts and compiler, page-trigger matching, fresh-code coordinator and runtime manager. Model weights and llama.cpp are upstream dependencies. This product uses local inference rather than the Gemini API.</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Sources</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https://github.com/MLouchini/Kopi/blob/main/model-manifest.json</a:t>
            </a:r>
            <a:endParaRPr lang="en-GB" sz="1200" b="0"/>
          </a:p>
          <a:p>
            <a:pPr algn="l">
              <a:lnSpc>
                <a:spcPct val="110000"/>
              </a:lnSpc>
            </a:pPr>
            <a:r>
              <a:rPr lang="en-GB" sz="1200" b="0">
                <a:solidFill>
                  <a:srgbClr val="201D1D"/>
                </a:solidFill>
                <a:latin typeface="Segoe UI"/>
                <a:ea typeface="Segoe UI"/>
                <a:cs typeface="Segoe UI"/>
              </a:rPr>
              <a:t xml:space="preserve">https://huggingface.co/google/gemma-4-E2B-it-qat-q4_0-gguf</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https://github.com/MLouchini/Kopi/blob/main/src/Kopi.Core/Intelligence.cs</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https://github.com/MLouchini/Kopi/blob/main/src/Kopi.Core/ModelRuntime.cs</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https://github.com/MLouchini/Kopi/blob/main/src/Kopi.Core/FreshCompiler.cs</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https://github.com/MLouchini/Kopi/blob/main/docs/architecture.md</a:t>
            </a:r>
            <a:endParaRPr lang="en-GB" sz="1200" b="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txBox="1"/>
          <p:nvPr>
            <p:ph type="body" idx="1"/>
          </p:nvPr>
        </p:nvSpPr>
        <p:spPr>
          <a:xfrm>
            <a:off x="457200" y="952500"/>
            <a:ext cx="5943600" cy="7429500"/>
          </a:xfrm>
        </p:spPr>
        <p:txBody>
          <a:bodyPr/>
          <a:lstStyle/>
          <a:p>
            <a:pPr algn="l">
              <a:lnSpc>
                <a:spcPct val="110000"/>
              </a:lnSpc>
            </a:pPr>
            <a:r>
              <a:rPr lang="en-GB" sz="1200" b="0">
                <a:solidFill>
                  <a:srgbClr val="201D1D"/>
                </a:solidFill>
                <a:latin typeface="Segoe UI"/>
                <a:ea typeface="Segoe UI"/>
                <a:cs typeface="Segoe UI"/>
              </a:rPr>
              <a:t xml:space="preserve">04:30–05:00 / 30 seconds</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The current implementation includes page monitoring, local task matching and automatic execution of explicitly enabled learned verification workflows. Fresh-code checks have browser-fixture coverage. General background learning and automation remain the wider goal, rather than a completed capability for arbitrary browser work. Next comes real university and WhatsApp account testing, performance measurement on the actual laptop and resolving the remaining expanded workflow QA issues. The aim is to let Kopi handle routine work while I carry on. No time-saving or adoption metrics have been measured.</a:t>
            </a:r>
            <a:endParaRPr lang="en-GB" sz="1200" b="0"/>
          </a:p>
          <a:p>
            <a:pPr algn="l">
              <a:lnSpc>
                <a:spcPct val="110000"/>
              </a:lnSpc>
            </a:pPr>
            <a:r>
              <a:rPr lang="en-GB" sz="1200" b="0">
                <a:solidFill>
                  <a:srgbClr val="201D1D"/>
                </a:solidFill>
                <a:latin typeface="Segoe UI"/>
                <a:ea typeface="Segoe UI"/>
                <a:cs typeface="Segoe UI"/>
              </a:rPr>
              <a:t xml:space="preserve"/>
            </a:r>
            <a:endParaRPr lang="en-GB" sz="1200" b="0"/>
          </a:p>
          <a:p>
            <a:pPr algn="l">
              <a:lnSpc>
                <a:spcPct val="110000"/>
              </a:lnSpc>
            </a:pPr>
            <a:r>
              <a:rPr lang="en-GB" sz="1200" b="0">
                <a:solidFill>
                  <a:srgbClr val="201D1D"/>
                </a:solidFill>
                <a:latin typeface="Segoe UI"/>
                <a:ea typeface="Segoe UI"/>
                <a:cs typeface="Segoe UI"/>
              </a:rPr>
              <a:t xml:space="preserve">Sources</a:t>
            </a:r>
            <a:endParaRPr lang="en-GB" sz="1200" b="0"/>
          </a:p>
          <a:p>
            <a:pPr algn="l">
              <a:lnSpc>
                <a:spcPct val="110000"/>
              </a:lnSpc>
            </a:pPr>
            <a:r>
              <a:rPr lang="en-GB" sz="1200" b="0">
                <a:solidFill>
                  <a:srgbClr val="201D1D"/>
                </a:solidFill>
                <a:latin typeface="Segoe UI"/>
                <a:ea typeface="Segoe UI"/>
                <a:cs typeface="Segoe UI"/>
              </a:rPr>
              <a:t xml:space="preserve">https://github.com/MLouchini/Kopi</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https://github.com/MLouchini/Kopi/blob/main/HANDOFF.md</a:t>
            </a:r>
            <a:endParaRPr lang="en-GB" sz="1200" b="0"/>
          </a:p>
          <a:p>
            <a:pPr algn="l">
              <a:lnSpc>
                <a:spcPct val="110000"/>
              </a:lnSpc>
            </a:pPr>
            <a:r>
              <a:rPr lang="en-GB" sz="1200" b="0">
                <a:solidFill>
                  <a:srgbClr val="201D1D"/>
                </a:solidFill>
                <a:latin typeface="Segoe UI"/>
                <a:ea typeface="Segoe UI"/>
                <a:cs typeface="Segoe UI"/>
              </a:rPr>
              <a:t xml:space="preserve">https://github.com/MLouchini/Kopi/blob/main/docs/qa.md</a:t>
            </a:r>
            <a:endParaRPr lang="en-GB" sz="1200" b="0"/>
          </a:p>
          <a:p>
            <a:pPr algn="l">
              <a:lnSpc>
                <a:spcPct val="110000"/>
              </a:lnSpc>
            </a:pPr>
            <a:r>
              <a:rPr lang="en-GB" sz="1200" b="0">
                <a:solidFill>
                  <a:srgbClr val="201D1D"/>
                </a:solidFill>
                <a:latin typeface="Segoe UI"/>
                <a:ea typeface="Segoe UI"/>
                <a:cs typeface="Segoe UI"/>
              </a:rPr>
              <a:t xml:space="preserve">https://github.com/MLouchini/Kopi/actions/runs/40097950425</a:t>
            </a:r>
            <a:endParaRPr lang="en-GB" sz="1200" b="0"/>
          </a:p>
        </p:txBody>
      </p:sp>
    </p:spTree>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1"/>
  </p:sldLayoutIdLst>
  <p:txStyles>
    <p:titleStyle/>
    <p:bodyStyle/>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kopi-wordmark.png"/><Relationship Id="rId4" Type="http://schemas.openxmlformats.org/officeDocument/2006/relationships/image" Target="../media/kopi-logo.png"/></Relationships>
</file>

<file path=ppt/slides/_rels/slide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show="1">
  <p:cSld name="Kopi">
    <p:bg>
      <p:bgPr>
        <a:solidFill>
          <a:srgbClr val="FFFEFA"/>
        </a:solidFill>
        <a:effectLst/>
      </p:bgPr>
    </p:bg>
    <p:spTree>
      <p:nvGrpSpPr>
        <p:cNvPr id="1" name=""/>
        <p:cNvGrpSpPr/>
        <p:nvPr/>
      </p:nvGrpSpPr>
      <p:grpSpPr>
        <a:xfrm>
          <a:off x="0" y="0"/>
          <a:ext cx="0" cy="0"/>
          <a:chOff x="0" y="0"/>
          <a:chExt cx="0" cy="0"/>
        </a:xfrm>
      </p:grpSpPr>
      <p:pic>
        <p:nvPicPr>
          <p:cNvPr id="2" name="Kopi brand artwork" descr="Original Kopi brand asset: kopi-wordmark.png"/>
          <p:cNvPicPr>
            <a:picLocks noChangeAspect="1"/>
          </p:cNvPicPr>
          <p:nvPr/>
        </p:nvPicPr>
        <p:blipFill>
          <a:blip r:embed="rId3"/>
          <a:stretch>
            <a:fillRect/>
          </a:stretch>
        </p:blipFill>
        <p:spPr>
          <a:xfrm>
            <a:off x="457200" y="1466850"/>
            <a:ext cx="6096000" cy="2286000"/>
          </a:xfrm>
          <a:prstGeom prst="rect">
            <a:avLst/>
          </a:prstGeom>
        </p:spPr>
      </p:pic>
      <p:sp>
        <p:nvSpPr>
          <p:cNvPr id="3" name="A local AI assistant that handles browser routines in t"/>
          <p:cNvSpPr txBox="1"/>
          <p:nvPr/>
        </p:nvSpPr>
        <p:spPr>
          <a:xfrm>
            <a:off x="685800" y="4324350"/>
            <a:ext cx="6572250" cy="1257300"/>
          </a:xfrm>
          <a:prstGeom prst="rect">
            <a:avLst/>
          </a:prstGeom>
          <a:noFill/>
          <a:ln>
            <a:noFill/>
          </a:ln>
        </p:spPr>
        <p:txBody>
          <a:bodyPr wrap="square" lIns="0" tIns="0" rIns="0" bIns="0" anchor="t"/>
          <a:lstStyle/>
          <a:p>
            <a:pPr algn="l">
              <a:lnSpc>
                <a:spcPct val="110000"/>
              </a:lnSpc>
            </a:pPr>
            <a:r>
              <a:rPr lang="en-GB" sz="2550" b="0">
                <a:solidFill>
                  <a:srgbClr val="201D1D"/>
                </a:solidFill>
                <a:latin typeface="Segoe UI"/>
                <a:ea typeface="Segoe UI"/>
                <a:cs typeface="Segoe UI"/>
              </a:rPr>
              <a:t xml:space="preserve">A local AI assistant that handles</a:t>
            </a:r>
            <a:endParaRPr lang="en-GB" sz="2550" b="0"/>
          </a:p>
          <a:p>
            <a:pPr algn="l">
              <a:lnSpc>
                <a:spcPct val="110000"/>
              </a:lnSpc>
            </a:pPr>
            <a:r>
              <a:rPr lang="en-GB" sz="2550" b="0">
                <a:solidFill>
                  <a:srgbClr val="201D1D"/>
                </a:solidFill>
                <a:latin typeface="Segoe UI"/>
                <a:ea typeface="Segoe UI"/>
                <a:cs typeface="Segoe UI"/>
              </a:rPr>
              <a:t xml:space="preserve">browser routines in the background</a:t>
            </a:r>
            <a:endParaRPr lang="en-GB" sz="2550" b="0"/>
          </a:p>
        </p:txBody>
      </p:sp>
      <p:pic>
        <p:nvPicPr>
          <p:cNvPr id="4" name="Kopi brand artwork" descr="Original Kopi brand asset: kopi-logo.png"/>
          <p:cNvPicPr>
            <a:picLocks noChangeAspect="1"/>
          </p:cNvPicPr>
          <p:nvPr/>
        </p:nvPicPr>
        <p:blipFill>
          <a:blip r:embed="rId4"/>
          <a:stretch>
            <a:fillRect/>
          </a:stretch>
        </p:blipFill>
        <p:spPr>
          <a:xfrm>
            <a:off x="7334250" y="1600200"/>
            <a:ext cx="4191000" cy="4191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1">
  <p:cSld name="The problem">
    <p:bg>
      <p:bgPr>
        <a:solidFill>
          <a:srgbClr val="FFFEFA"/>
        </a:solidFill>
        <a:effectLst/>
      </p:bgPr>
    </p:bg>
    <p:spTree>
      <p:nvGrpSpPr>
        <p:cNvPr id="1" name=""/>
        <p:cNvGrpSpPr/>
        <p:nvPr/>
      </p:nvGrpSpPr>
      <p:grpSpPr>
        <a:xfrm>
          <a:off x="0" y="0"/>
          <a:ext cx="0" cy="0"/>
          <a:chOff x="0" y="0"/>
          <a:chExt cx="0" cy="0"/>
        </a:xfrm>
      </p:grpSpPr>
      <p:sp>
        <p:nvSpPr>
          <p:cNvPr id="2" name="The problem"/>
          <p:cNvSpPr txBox="1"/>
          <p:nvPr/>
        </p:nvSpPr>
        <p:spPr>
          <a:xfrm>
            <a:off x="609600" y="619125"/>
            <a:ext cx="10972800" cy="1162050"/>
          </a:xfrm>
          <a:prstGeom prst="rect">
            <a:avLst/>
          </a:prstGeom>
          <a:noFill/>
          <a:ln>
            <a:noFill/>
          </a:ln>
        </p:spPr>
        <p:txBody>
          <a:bodyPr wrap="square" lIns="0" tIns="0" rIns="0" bIns="0" anchor="t"/>
          <a:lstStyle/>
          <a:p>
            <a:pPr algn="l">
              <a:lnSpc>
                <a:spcPct val="110000"/>
              </a:lnSpc>
            </a:pPr>
            <a:r>
              <a:rPr lang="en-GB" sz="3600" b="1">
                <a:solidFill>
                  <a:srgbClr val="201D1D"/>
                </a:solidFill>
                <a:latin typeface="Segoe UI"/>
                <a:ea typeface="Segoe UI"/>
                <a:cs typeface="Segoe UI"/>
              </a:rPr>
              <a:t xml:space="preserve">The problem</a:t>
            </a:r>
            <a:endParaRPr lang="en-GB" sz="3600" b="1"/>
          </a:p>
        </p:txBody>
      </p:sp>
      <p:sp>
        <p:nvSpPr>
          <p:cNvPr id="3" name="Every day, I log into university. Every day, I have to "/>
          <p:cNvSpPr txBox="1"/>
          <p:nvPr/>
        </p:nvSpPr>
        <p:spPr>
          <a:xfrm>
            <a:off x="609600" y="2200275"/>
            <a:ext cx="10972800" cy="1362075"/>
          </a:xfrm>
          <a:prstGeom prst="rect">
            <a:avLst/>
          </a:prstGeom>
          <a:noFill/>
          <a:ln>
            <a:noFill/>
          </a:ln>
        </p:spPr>
        <p:txBody>
          <a:bodyPr wrap="square" lIns="0" tIns="0" rIns="0" bIns="0" anchor="t"/>
          <a:lstStyle/>
          <a:p>
            <a:pPr algn="l">
              <a:lnSpc>
                <a:spcPct val="110000"/>
              </a:lnSpc>
            </a:pPr>
            <a:r>
              <a:rPr lang="en-GB" sz="3375" b="1">
                <a:solidFill>
                  <a:srgbClr val="201D1D"/>
                </a:solidFill>
                <a:latin typeface="Segoe UI"/>
                <a:ea typeface="Segoe UI"/>
                <a:cs typeface="Segoe UI"/>
              </a:rPr>
              <a:t xml:space="preserve">Every day, I log into university.</a:t>
            </a:r>
            <a:endParaRPr lang="en-GB" sz="3375" b="1"/>
          </a:p>
          <a:p>
            <a:pPr algn="l">
              <a:lnSpc>
                <a:spcPct val="110000"/>
              </a:lnSpc>
            </a:pPr>
            <a:r>
              <a:rPr lang="en-GB" sz="3375" b="1">
                <a:solidFill>
                  <a:srgbClr val="201D1D"/>
                </a:solidFill>
                <a:latin typeface="Segoe UI"/>
                <a:ea typeface="Segoe UI"/>
                <a:cs typeface="Segoe UI"/>
              </a:rPr>
              <a:t xml:space="preserve">Every day, I have to verify again.</a:t>
            </a:r>
            <a:endParaRPr lang="en-GB" sz="3375" b="1"/>
          </a:p>
        </p:txBody>
      </p:sp>
      <p:sp>
        <p:nvSpPr>
          <p:cNvPr id="4" name="Shape 4"/>
          <p:cNvSpPr/>
          <p:nvPr/>
        </p:nvSpPr>
        <p:spPr>
          <a:xfrm>
            <a:off x="609600" y="4343400"/>
            <a:ext cx="3333750" cy="12382"/>
          </a:xfrm>
          <a:prstGeom prst="rect">
            <a:avLst/>
          </a:prstGeom>
          <a:solidFill>
            <a:srgbClr val="E7DDD3"/>
          </a:solidFill>
          <a:ln w="9525">
            <a:noFill/>
          </a:ln>
        </p:spPr>
      </p:sp>
      <p:sp>
        <p:nvSpPr>
          <p:cNvPr id="5" name="01"/>
          <p:cNvSpPr txBox="1"/>
          <p:nvPr/>
        </p:nvSpPr>
        <p:spPr>
          <a:xfrm>
            <a:off x="609600" y="4619625"/>
            <a:ext cx="3333750" cy="619125"/>
          </a:xfrm>
          <a:prstGeom prst="rect">
            <a:avLst/>
          </a:prstGeom>
          <a:noFill/>
          <a:ln>
            <a:noFill/>
          </a:ln>
        </p:spPr>
        <p:txBody>
          <a:bodyPr wrap="square" lIns="0" tIns="0" rIns="0" bIns="0" anchor="t"/>
          <a:lstStyle/>
          <a:p>
            <a:pPr algn="l">
              <a:lnSpc>
                <a:spcPct val="110000"/>
              </a:lnSpc>
            </a:pPr>
            <a:r>
              <a:rPr lang="en-GB" sz="3600" b="0">
                <a:solidFill>
                  <a:srgbClr val="FF7A1A"/>
                </a:solidFill>
                <a:latin typeface="Segoe UI"/>
                <a:ea typeface="Segoe UI"/>
                <a:cs typeface="Segoe UI"/>
              </a:rPr>
              <a:t xml:space="preserve">01</a:t>
            </a:r>
            <a:endParaRPr lang="en-GB" sz="3600" b="0"/>
          </a:p>
        </p:txBody>
      </p:sp>
      <p:sp>
        <p:nvSpPr>
          <p:cNvPr id="6" name="Request a code"/>
          <p:cNvSpPr txBox="1"/>
          <p:nvPr/>
        </p:nvSpPr>
        <p:spPr>
          <a:xfrm>
            <a:off x="609600" y="5467350"/>
            <a:ext cx="3333750" cy="571500"/>
          </a:xfrm>
          <a:prstGeom prst="rect">
            <a:avLst/>
          </a:prstGeom>
          <a:noFill/>
          <a:ln>
            <a:noFill/>
          </a:ln>
        </p:spPr>
        <p:txBody>
          <a:bodyPr wrap="square" lIns="0" tIns="0" rIns="0" bIns="0" anchor="t"/>
          <a:lstStyle/>
          <a:p>
            <a:pPr algn="l">
              <a:lnSpc>
                <a:spcPct val="110000"/>
              </a:lnSpc>
            </a:pPr>
            <a:r>
              <a:rPr lang="en-GB" sz="2175" b="1">
                <a:solidFill>
                  <a:srgbClr val="201D1D"/>
                </a:solidFill>
                <a:latin typeface="Segoe UI"/>
                <a:ea typeface="Segoe UI"/>
                <a:cs typeface="Segoe UI"/>
              </a:rPr>
              <a:t xml:space="preserve">Request a code</a:t>
            </a:r>
            <a:endParaRPr lang="en-GB" sz="2175" b="1"/>
          </a:p>
        </p:txBody>
      </p:sp>
      <p:sp>
        <p:nvSpPr>
          <p:cNvPr id="7" name="Shape 7"/>
          <p:cNvSpPr/>
          <p:nvPr/>
        </p:nvSpPr>
        <p:spPr>
          <a:xfrm>
            <a:off x="4391025" y="4343400"/>
            <a:ext cx="3333750" cy="12382"/>
          </a:xfrm>
          <a:prstGeom prst="rect">
            <a:avLst/>
          </a:prstGeom>
          <a:solidFill>
            <a:srgbClr val="E7DDD3"/>
          </a:solidFill>
          <a:ln w="9525">
            <a:noFill/>
          </a:ln>
        </p:spPr>
      </p:sp>
      <p:sp>
        <p:nvSpPr>
          <p:cNvPr id="8" name="02"/>
          <p:cNvSpPr txBox="1"/>
          <p:nvPr/>
        </p:nvSpPr>
        <p:spPr>
          <a:xfrm>
            <a:off x="4391025" y="4619625"/>
            <a:ext cx="3333750" cy="619125"/>
          </a:xfrm>
          <a:prstGeom prst="rect">
            <a:avLst/>
          </a:prstGeom>
          <a:noFill/>
          <a:ln>
            <a:noFill/>
          </a:ln>
        </p:spPr>
        <p:txBody>
          <a:bodyPr wrap="square" lIns="0" tIns="0" rIns="0" bIns="0" anchor="t"/>
          <a:lstStyle/>
          <a:p>
            <a:pPr algn="l">
              <a:lnSpc>
                <a:spcPct val="110000"/>
              </a:lnSpc>
            </a:pPr>
            <a:r>
              <a:rPr lang="en-GB" sz="3600" b="0">
                <a:solidFill>
                  <a:srgbClr val="FF7A1A"/>
                </a:solidFill>
                <a:latin typeface="Segoe UI"/>
                <a:ea typeface="Segoe UI"/>
                <a:cs typeface="Segoe UI"/>
              </a:rPr>
              <a:t xml:space="preserve">02</a:t>
            </a:r>
            <a:endParaRPr lang="en-GB" sz="3600" b="0"/>
          </a:p>
        </p:txBody>
      </p:sp>
      <p:sp>
        <p:nvSpPr>
          <p:cNvPr id="9" name="Find the message"/>
          <p:cNvSpPr txBox="1"/>
          <p:nvPr/>
        </p:nvSpPr>
        <p:spPr>
          <a:xfrm>
            <a:off x="4391025" y="5467350"/>
            <a:ext cx="3333750" cy="571500"/>
          </a:xfrm>
          <a:prstGeom prst="rect">
            <a:avLst/>
          </a:prstGeom>
          <a:noFill/>
          <a:ln>
            <a:noFill/>
          </a:ln>
        </p:spPr>
        <p:txBody>
          <a:bodyPr wrap="square" lIns="0" tIns="0" rIns="0" bIns="0" anchor="t"/>
          <a:lstStyle/>
          <a:p>
            <a:pPr algn="l">
              <a:lnSpc>
                <a:spcPct val="110000"/>
              </a:lnSpc>
            </a:pPr>
            <a:r>
              <a:rPr lang="en-GB" sz="2175" b="1">
                <a:solidFill>
                  <a:srgbClr val="201D1D"/>
                </a:solidFill>
                <a:latin typeface="Segoe UI"/>
                <a:ea typeface="Segoe UI"/>
                <a:cs typeface="Segoe UI"/>
              </a:rPr>
              <a:t xml:space="preserve">Find the message</a:t>
            </a:r>
            <a:endParaRPr lang="en-GB" sz="2175" b="1"/>
          </a:p>
        </p:txBody>
      </p:sp>
      <p:sp>
        <p:nvSpPr>
          <p:cNvPr id="10" name="Shape 10"/>
          <p:cNvSpPr/>
          <p:nvPr/>
        </p:nvSpPr>
        <p:spPr>
          <a:xfrm>
            <a:off x="8172450" y="4343400"/>
            <a:ext cx="3333750" cy="12382"/>
          </a:xfrm>
          <a:prstGeom prst="rect">
            <a:avLst/>
          </a:prstGeom>
          <a:solidFill>
            <a:srgbClr val="E7DDD3"/>
          </a:solidFill>
          <a:ln w="9525">
            <a:noFill/>
          </a:ln>
        </p:spPr>
      </p:sp>
      <p:sp>
        <p:nvSpPr>
          <p:cNvPr id="11" name="03"/>
          <p:cNvSpPr txBox="1"/>
          <p:nvPr/>
        </p:nvSpPr>
        <p:spPr>
          <a:xfrm>
            <a:off x="8172450" y="4619625"/>
            <a:ext cx="3333750" cy="619125"/>
          </a:xfrm>
          <a:prstGeom prst="rect">
            <a:avLst/>
          </a:prstGeom>
          <a:noFill/>
          <a:ln>
            <a:noFill/>
          </a:ln>
        </p:spPr>
        <p:txBody>
          <a:bodyPr wrap="square" lIns="0" tIns="0" rIns="0" bIns="0" anchor="t"/>
          <a:lstStyle/>
          <a:p>
            <a:pPr algn="l">
              <a:lnSpc>
                <a:spcPct val="110000"/>
              </a:lnSpc>
            </a:pPr>
            <a:r>
              <a:rPr lang="en-GB" sz="3600" b="0">
                <a:solidFill>
                  <a:srgbClr val="FF7A1A"/>
                </a:solidFill>
                <a:latin typeface="Segoe UI"/>
                <a:ea typeface="Segoe UI"/>
                <a:cs typeface="Segoe UI"/>
              </a:rPr>
              <a:t xml:space="preserve">03</a:t>
            </a:r>
            <a:endParaRPr lang="en-GB" sz="3600" b="0"/>
          </a:p>
        </p:txBody>
      </p:sp>
      <p:sp>
        <p:nvSpPr>
          <p:cNvPr id="12" name="Return and verify"/>
          <p:cNvSpPr txBox="1"/>
          <p:nvPr/>
        </p:nvSpPr>
        <p:spPr>
          <a:xfrm>
            <a:off x="8172450" y="5467350"/>
            <a:ext cx="3333750" cy="571500"/>
          </a:xfrm>
          <a:prstGeom prst="rect">
            <a:avLst/>
          </a:prstGeom>
          <a:noFill/>
          <a:ln>
            <a:noFill/>
          </a:ln>
        </p:spPr>
        <p:txBody>
          <a:bodyPr wrap="square" lIns="0" tIns="0" rIns="0" bIns="0" anchor="t"/>
          <a:lstStyle/>
          <a:p>
            <a:pPr algn="l">
              <a:lnSpc>
                <a:spcPct val="110000"/>
              </a:lnSpc>
            </a:pPr>
            <a:r>
              <a:rPr lang="en-GB" sz="2175" b="1">
                <a:solidFill>
                  <a:srgbClr val="201D1D"/>
                </a:solidFill>
                <a:latin typeface="Segoe UI"/>
                <a:ea typeface="Segoe UI"/>
                <a:cs typeface="Segoe UI"/>
              </a:rPr>
              <a:t xml:space="preserve">Return and verify</a:t>
            </a:r>
            <a:endParaRPr lang="en-GB" sz="2175" b="1"/>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1">
  <p:cSld name="The idea">
    <p:bg>
      <p:bgPr>
        <a:solidFill>
          <a:srgbClr val="FFFEFA"/>
        </a:solidFill>
        <a:effectLst/>
      </p:bgPr>
    </p:bg>
    <p:spTree>
      <p:nvGrpSpPr>
        <p:cNvPr id="1" name=""/>
        <p:cNvGrpSpPr/>
        <p:nvPr/>
      </p:nvGrpSpPr>
      <p:grpSpPr>
        <a:xfrm>
          <a:off x="0" y="0"/>
          <a:ext cx="0" cy="0"/>
          <a:chOff x="0" y="0"/>
          <a:chExt cx="0" cy="0"/>
        </a:xfrm>
      </p:grpSpPr>
      <p:sp>
        <p:nvSpPr>
          <p:cNvPr id="2" name="The idea"/>
          <p:cNvSpPr txBox="1"/>
          <p:nvPr/>
        </p:nvSpPr>
        <p:spPr>
          <a:xfrm>
            <a:off x="609600" y="619125"/>
            <a:ext cx="10972800" cy="1162050"/>
          </a:xfrm>
          <a:prstGeom prst="rect">
            <a:avLst/>
          </a:prstGeom>
          <a:noFill/>
          <a:ln>
            <a:noFill/>
          </a:ln>
        </p:spPr>
        <p:txBody>
          <a:bodyPr wrap="square" lIns="0" tIns="0" rIns="0" bIns="0" anchor="t"/>
          <a:lstStyle/>
          <a:p>
            <a:pPr algn="l">
              <a:lnSpc>
                <a:spcPct val="110000"/>
              </a:lnSpc>
            </a:pPr>
            <a:r>
              <a:rPr lang="en-GB" sz="3600" b="1">
                <a:solidFill>
                  <a:srgbClr val="201D1D"/>
                </a:solidFill>
                <a:latin typeface="Segoe UI"/>
                <a:ea typeface="Segoe UI"/>
                <a:cs typeface="Segoe UI"/>
              </a:rPr>
              <a:t xml:space="preserve">The idea</a:t>
            </a:r>
            <a:endParaRPr lang="en-GB" sz="3600" b="1"/>
          </a:p>
        </p:txBody>
      </p:sp>
      <p:sp>
        <p:nvSpPr>
          <p:cNvPr id="3" name="Shape 3"/>
          <p:cNvSpPr/>
          <p:nvPr/>
        </p:nvSpPr>
        <p:spPr>
          <a:xfrm>
            <a:off x="609600" y="2457450"/>
            <a:ext cx="85725" cy="2181225"/>
          </a:xfrm>
          <a:prstGeom prst="rect">
            <a:avLst/>
          </a:prstGeom>
          <a:solidFill>
            <a:srgbClr val="FF7A1A"/>
          </a:solidFill>
          <a:ln w="9525">
            <a:noFill/>
          </a:ln>
        </p:spPr>
      </p:sp>
      <p:sp>
        <p:nvSpPr>
          <p:cNvPr id="4" name="What if my computer recognised the routine and handled "/>
          <p:cNvSpPr txBox="1"/>
          <p:nvPr/>
        </p:nvSpPr>
        <p:spPr>
          <a:xfrm>
            <a:off x="971550" y="2352675"/>
            <a:ext cx="10382250" cy="2295525"/>
          </a:xfrm>
          <a:prstGeom prst="rect">
            <a:avLst/>
          </a:prstGeom>
          <a:noFill/>
          <a:ln>
            <a:noFill/>
          </a:ln>
        </p:spPr>
        <p:txBody>
          <a:bodyPr wrap="square" lIns="0" tIns="0" rIns="0" bIns="0" anchor="t"/>
          <a:lstStyle/>
          <a:p>
            <a:pPr algn="l">
              <a:lnSpc>
                <a:spcPct val="110000"/>
              </a:lnSpc>
            </a:pPr>
            <a:r>
              <a:rPr lang="en-GB" sz="3675" b="1">
                <a:solidFill>
                  <a:srgbClr val="201D1D"/>
                </a:solidFill>
                <a:latin typeface="Segoe UI"/>
                <a:ea typeface="Segoe UI"/>
                <a:cs typeface="Segoe UI"/>
              </a:rPr>
              <a:t xml:space="preserve">What if my computer recognised</a:t>
            </a:r>
            <a:endParaRPr lang="en-GB" sz="3675" b="1"/>
          </a:p>
          <a:p>
            <a:pPr algn="l">
              <a:lnSpc>
                <a:spcPct val="110000"/>
              </a:lnSpc>
            </a:pPr>
            <a:r>
              <a:rPr lang="en-GB" sz="3675" b="1">
                <a:solidFill>
                  <a:srgbClr val="201D1D"/>
                </a:solidFill>
                <a:latin typeface="Segoe UI"/>
                <a:ea typeface="Segoe UI"/>
                <a:cs typeface="Segoe UI"/>
              </a:rPr>
              <a:t xml:space="preserve">the routine and handled it</a:t>
            </a:r>
            <a:endParaRPr lang="en-GB" sz="3675" b="1"/>
          </a:p>
          <a:p>
            <a:pPr algn="l">
              <a:lnSpc>
                <a:spcPct val="110000"/>
              </a:lnSpc>
            </a:pPr>
            <a:r>
              <a:rPr lang="en-GB" sz="3675" b="1">
                <a:solidFill>
                  <a:srgbClr val="201D1D"/>
                </a:solidFill>
                <a:latin typeface="Segoe UI"/>
                <a:ea typeface="Segoe UI"/>
                <a:cs typeface="Segoe UI"/>
              </a:rPr>
              <a:t xml:space="preserve">while I carried on?</a:t>
            </a:r>
            <a:endParaRPr lang="en-GB" sz="3675" b="1"/>
          </a:p>
        </p:txBody>
      </p:sp>
      <p:sp>
        <p:nvSpPr>
          <p:cNvPr id="5" name="Start with my university login. Make the same approach "/>
          <p:cNvSpPr txBox="1"/>
          <p:nvPr/>
        </p:nvSpPr>
        <p:spPr>
          <a:xfrm>
            <a:off x="971550" y="5257800"/>
            <a:ext cx="10382250" cy="1000125"/>
          </a:xfrm>
          <a:prstGeom prst="rect">
            <a:avLst/>
          </a:prstGeom>
          <a:noFill/>
          <a:ln>
            <a:noFill/>
          </a:ln>
        </p:spPr>
        <p:txBody>
          <a:bodyPr wrap="square" lIns="0" tIns="0" rIns="0" bIns="0" anchor="t"/>
          <a:lstStyle/>
          <a:p>
            <a:pPr algn="l">
              <a:lnSpc>
                <a:spcPct val="110000"/>
              </a:lnSpc>
            </a:pPr>
            <a:r>
              <a:rPr lang="en-GB" sz="2175" b="0">
                <a:solidFill>
                  <a:srgbClr val="776B62"/>
                </a:solidFill>
                <a:latin typeface="Segoe UI"/>
                <a:ea typeface="Segoe UI"/>
                <a:cs typeface="Segoe UI"/>
              </a:rPr>
              <a:t xml:space="preserve">Start with my university login.</a:t>
            </a:r>
            <a:endParaRPr lang="en-GB" sz="2175" b="0"/>
          </a:p>
          <a:p>
            <a:pPr algn="l">
              <a:lnSpc>
                <a:spcPct val="110000"/>
              </a:lnSpc>
            </a:pPr>
            <a:r>
              <a:rPr lang="en-GB" sz="2175" b="0">
                <a:solidFill>
                  <a:srgbClr val="776B62"/>
                </a:solidFill>
                <a:latin typeface="Segoe UI"/>
                <a:ea typeface="Segoe UI"/>
                <a:cs typeface="Segoe UI"/>
              </a:rPr>
              <a:t xml:space="preserve">Make the same approach reusable for other browser tasks.</a:t>
            </a:r>
            <a:endParaRPr lang="en-GB" sz="2175" b="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1">
  <p:cSld name="What Kopi actually does">
    <p:bg>
      <p:bgPr>
        <a:solidFill>
          <a:srgbClr val="FFFEFA"/>
        </a:solidFill>
        <a:effectLst/>
      </p:bgPr>
    </p:bg>
    <p:spTree>
      <p:nvGrpSpPr>
        <p:cNvPr id="1" name=""/>
        <p:cNvGrpSpPr/>
        <p:nvPr/>
      </p:nvGrpSpPr>
      <p:grpSpPr>
        <a:xfrm>
          <a:off x="0" y="0"/>
          <a:ext cx="0" cy="0"/>
          <a:chOff x="0" y="0"/>
          <a:chExt cx="0" cy="0"/>
        </a:xfrm>
      </p:grpSpPr>
      <p:sp>
        <p:nvSpPr>
          <p:cNvPr id="2" name="What Kopi actually does"/>
          <p:cNvSpPr txBox="1"/>
          <p:nvPr/>
        </p:nvSpPr>
        <p:spPr>
          <a:xfrm>
            <a:off x="609600" y="619125"/>
            <a:ext cx="10972800" cy="1162050"/>
          </a:xfrm>
          <a:prstGeom prst="rect">
            <a:avLst/>
          </a:prstGeom>
          <a:noFill/>
          <a:ln>
            <a:noFill/>
          </a:ln>
        </p:spPr>
        <p:txBody>
          <a:bodyPr wrap="square" lIns="0" tIns="0" rIns="0" bIns="0" anchor="t"/>
          <a:lstStyle/>
          <a:p>
            <a:pPr algn="l">
              <a:lnSpc>
                <a:spcPct val="110000"/>
              </a:lnSpc>
            </a:pPr>
            <a:r>
              <a:rPr lang="en-GB" sz="3600" b="1">
                <a:solidFill>
                  <a:srgbClr val="201D1D"/>
                </a:solidFill>
                <a:latin typeface="Segoe UI"/>
                <a:ea typeface="Segoe UI"/>
                <a:cs typeface="Segoe UI"/>
              </a:rPr>
              <a:t xml:space="preserve">What Kopi actually does</a:t>
            </a:r>
            <a:endParaRPr lang="en-GB" sz="3600" b="1"/>
          </a:p>
        </p:txBody>
      </p:sp>
      <p:sp>
        <p:nvSpPr>
          <p:cNvPr id="3" name="01"/>
          <p:cNvSpPr txBox="1"/>
          <p:nvPr/>
        </p:nvSpPr>
        <p:spPr>
          <a:xfrm>
            <a:off x="609600" y="2095500"/>
            <a:ext cx="800100" cy="571500"/>
          </a:xfrm>
          <a:prstGeom prst="rect">
            <a:avLst/>
          </a:prstGeom>
          <a:noFill/>
          <a:ln>
            <a:noFill/>
          </a:ln>
        </p:spPr>
        <p:txBody>
          <a:bodyPr wrap="square" lIns="0" tIns="0" rIns="0" bIns="0" anchor="t"/>
          <a:lstStyle/>
          <a:p>
            <a:pPr algn="l">
              <a:lnSpc>
                <a:spcPct val="110000"/>
              </a:lnSpc>
            </a:pPr>
            <a:r>
              <a:rPr lang="en-GB" sz="3000" b="0">
                <a:solidFill>
                  <a:srgbClr val="FF7A1A"/>
                </a:solidFill>
                <a:latin typeface="Segoe UI"/>
                <a:ea typeface="Segoe UI"/>
                <a:cs typeface="Segoe UI"/>
              </a:rPr>
              <a:t xml:space="preserve">01</a:t>
            </a:r>
            <a:endParaRPr lang="en-GB" sz="3000" b="0"/>
          </a:p>
        </p:txBody>
      </p:sp>
      <p:sp>
        <p:nvSpPr>
          <p:cNvPr id="4" name="Watch"/>
          <p:cNvSpPr txBox="1"/>
          <p:nvPr/>
        </p:nvSpPr>
        <p:spPr>
          <a:xfrm>
            <a:off x="1666875" y="2133600"/>
            <a:ext cx="2143125" cy="552450"/>
          </a:xfrm>
          <a:prstGeom prst="rect">
            <a:avLst/>
          </a:prstGeom>
          <a:noFill/>
          <a:ln>
            <a:noFill/>
          </a:ln>
        </p:spPr>
        <p:txBody>
          <a:bodyPr wrap="square" lIns="0" tIns="0" rIns="0" bIns="0" anchor="t"/>
          <a:lstStyle/>
          <a:p>
            <a:pPr algn="l">
              <a:lnSpc>
                <a:spcPct val="110000"/>
              </a:lnSpc>
            </a:pPr>
            <a:r>
              <a:rPr lang="en-GB" sz="2400" b="1">
                <a:solidFill>
                  <a:srgbClr val="201D1D"/>
                </a:solidFill>
                <a:latin typeface="Segoe UI"/>
                <a:ea typeface="Segoe UI"/>
                <a:cs typeface="Segoe UI"/>
              </a:rPr>
              <a:t xml:space="preserve">Watch</a:t>
            </a:r>
            <a:endParaRPr lang="en-GB" sz="2400" b="1"/>
          </a:p>
        </p:txBody>
      </p:sp>
      <p:sp>
        <p:nvSpPr>
          <p:cNvPr id="5" name="Notice page context while Kopi runs in the background."/>
          <p:cNvSpPr txBox="1"/>
          <p:nvPr/>
        </p:nvSpPr>
        <p:spPr>
          <a:xfrm>
            <a:off x="4191000" y="2171700"/>
            <a:ext cx="7391400" cy="733425"/>
          </a:xfrm>
          <a:prstGeom prst="rect">
            <a:avLst/>
          </a:prstGeom>
          <a:noFill/>
          <a:ln>
            <a:noFill/>
          </a:ln>
        </p:spPr>
        <p:txBody>
          <a:bodyPr wrap="square" lIns="0" tIns="0" rIns="0" bIns="0" anchor="t"/>
          <a:lstStyle/>
          <a:p>
            <a:pPr algn="l">
              <a:lnSpc>
                <a:spcPct val="110000"/>
              </a:lnSpc>
            </a:pPr>
            <a:r>
              <a:rPr lang="en-GB" sz="2100" b="0">
                <a:solidFill>
                  <a:srgbClr val="201D1D"/>
                </a:solidFill>
                <a:latin typeface="Segoe UI"/>
                <a:ea typeface="Segoe UI"/>
                <a:cs typeface="Segoe UI"/>
              </a:rPr>
              <a:t xml:space="preserve">Notice page context while Kopi runs in the background.</a:t>
            </a:r>
            <a:endParaRPr lang="en-GB" sz="2100" b="0"/>
          </a:p>
        </p:txBody>
      </p:sp>
      <p:sp>
        <p:nvSpPr>
          <p:cNvPr id="6" name="Shape 6"/>
          <p:cNvSpPr/>
          <p:nvPr/>
        </p:nvSpPr>
        <p:spPr>
          <a:xfrm>
            <a:off x="609600" y="2943225"/>
            <a:ext cx="10972800" cy="12382"/>
          </a:xfrm>
          <a:prstGeom prst="rect">
            <a:avLst/>
          </a:prstGeom>
          <a:solidFill>
            <a:srgbClr val="E7DDD3"/>
          </a:solidFill>
          <a:ln w="9525">
            <a:noFill/>
          </a:ln>
        </p:spPr>
      </p:sp>
      <p:sp>
        <p:nvSpPr>
          <p:cNvPr id="7" name="02"/>
          <p:cNvSpPr txBox="1"/>
          <p:nvPr/>
        </p:nvSpPr>
        <p:spPr>
          <a:xfrm>
            <a:off x="609600" y="3133725"/>
            <a:ext cx="800100" cy="571500"/>
          </a:xfrm>
          <a:prstGeom prst="rect">
            <a:avLst/>
          </a:prstGeom>
          <a:noFill/>
          <a:ln>
            <a:noFill/>
          </a:ln>
        </p:spPr>
        <p:txBody>
          <a:bodyPr wrap="square" lIns="0" tIns="0" rIns="0" bIns="0" anchor="t"/>
          <a:lstStyle/>
          <a:p>
            <a:pPr algn="l">
              <a:lnSpc>
                <a:spcPct val="110000"/>
              </a:lnSpc>
            </a:pPr>
            <a:r>
              <a:rPr lang="en-GB" sz="3000" b="0">
                <a:solidFill>
                  <a:srgbClr val="FF7A1A"/>
                </a:solidFill>
                <a:latin typeface="Segoe UI"/>
                <a:ea typeface="Segoe UI"/>
                <a:cs typeface="Segoe UI"/>
              </a:rPr>
              <a:t xml:space="preserve">02</a:t>
            </a:r>
            <a:endParaRPr lang="en-GB" sz="3000" b="0"/>
          </a:p>
        </p:txBody>
      </p:sp>
      <p:sp>
        <p:nvSpPr>
          <p:cNvPr id="8" name="Recognise"/>
          <p:cNvSpPr txBox="1"/>
          <p:nvPr/>
        </p:nvSpPr>
        <p:spPr>
          <a:xfrm>
            <a:off x="1666875" y="3171825"/>
            <a:ext cx="2143125" cy="552450"/>
          </a:xfrm>
          <a:prstGeom prst="rect">
            <a:avLst/>
          </a:prstGeom>
          <a:noFill/>
          <a:ln>
            <a:noFill/>
          </a:ln>
        </p:spPr>
        <p:txBody>
          <a:bodyPr wrap="square" lIns="0" tIns="0" rIns="0" bIns="0" anchor="t"/>
          <a:lstStyle/>
          <a:p>
            <a:pPr algn="l">
              <a:lnSpc>
                <a:spcPct val="110000"/>
              </a:lnSpc>
            </a:pPr>
            <a:r>
              <a:rPr lang="en-GB" sz="2400" b="1">
                <a:solidFill>
                  <a:srgbClr val="201D1D"/>
                </a:solidFill>
                <a:latin typeface="Segoe UI"/>
                <a:ea typeface="Segoe UI"/>
                <a:cs typeface="Segoe UI"/>
              </a:rPr>
              <a:t xml:space="preserve">Recognise</a:t>
            </a:r>
            <a:endParaRPr lang="en-GB" sz="2400" b="1"/>
          </a:p>
        </p:txBody>
      </p:sp>
      <p:sp>
        <p:nvSpPr>
          <p:cNvPr id="9" name="Match the current task to a learned routine with Gemma."/>
          <p:cNvSpPr txBox="1"/>
          <p:nvPr/>
        </p:nvSpPr>
        <p:spPr>
          <a:xfrm>
            <a:off x="4191000" y="3209925"/>
            <a:ext cx="7391400" cy="733425"/>
          </a:xfrm>
          <a:prstGeom prst="rect">
            <a:avLst/>
          </a:prstGeom>
          <a:noFill/>
          <a:ln>
            <a:noFill/>
          </a:ln>
        </p:spPr>
        <p:txBody>
          <a:bodyPr wrap="square" lIns="0" tIns="0" rIns="0" bIns="0" anchor="t"/>
          <a:lstStyle/>
          <a:p>
            <a:pPr algn="l">
              <a:lnSpc>
                <a:spcPct val="110000"/>
              </a:lnSpc>
            </a:pPr>
            <a:r>
              <a:rPr lang="en-GB" sz="2100" b="0">
                <a:solidFill>
                  <a:srgbClr val="201D1D"/>
                </a:solidFill>
                <a:latin typeface="Segoe UI"/>
                <a:ea typeface="Segoe UI"/>
                <a:cs typeface="Segoe UI"/>
              </a:rPr>
              <a:t xml:space="preserve">Match the current task to a learned routine with Gemma.</a:t>
            </a:r>
            <a:endParaRPr lang="en-GB" sz="2100" b="0"/>
          </a:p>
        </p:txBody>
      </p:sp>
      <p:sp>
        <p:nvSpPr>
          <p:cNvPr id="10" name="Shape 10"/>
          <p:cNvSpPr/>
          <p:nvPr/>
        </p:nvSpPr>
        <p:spPr>
          <a:xfrm>
            <a:off x="609600" y="3981450"/>
            <a:ext cx="10972800" cy="12382"/>
          </a:xfrm>
          <a:prstGeom prst="rect">
            <a:avLst/>
          </a:prstGeom>
          <a:solidFill>
            <a:srgbClr val="E7DDD3"/>
          </a:solidFill>
          <a:ln w="9525">
            <a:noFill/>
          </a:ln>
        </p:spPr>
      </p:sp>
      <p:sp>
        <p:nvSpPr>
          <p:cNvPr id="11" name="03"/>
          <p:cNvSpPr txBox="1"/>
          <p:nvPr/>
        </p:nvSpPr>
        <p:spPr>
          <a:xfrm>
            <a:off x="609600" y="4171950"/>
            <a:ext cx="800100" cy="571500"/>
          </a:xfrm>
          <a:prstGeom prst="rect">
            <a:avLst/>
          </a:prstGeom>
          <a:noFill/>
          <a:ln>
            <a:noFill/>
          </a:ln>
        </p:spPr>
        <p:txBody>
          <a:bodyPr wrap="square" lIns="0" tIns="0" rIns="0" bIns="0" anchor="t"/>
          <a:lstStyle/>
          <a:p>
            <a:pPr algn="l">
              <a:lnSpc>
                <a:spcPct val="110000"/>
              </a:lnSpc>
            </a:pPr>
            <a:r>
              <a:rPr lang="en-GB" sz="3000" b="0">
                <a:solidFill>
                  <a:srgbClr val="FF7A1A"/>
                </a:solidFill>
                <a:latin typeface="Segoe UI"/>
                <a:ea typeface="Segoe UI"/>
                <a:cs typeface="Segoe UI"/>
              </a:rPr>
              <a:t xml:space="preserve">03</a:t>
            </a:r>
            <a:endParaRPr lang="en-GB" sz="3000" b="0"/>
          </a:p>
        </p:txBody>
      </p:sp>
      <p:sp>
        <p:nvSpPr>
          <p:cNvPr id="12" name="Act"/>
          <p:cNvSpPr txBox="1"/>
          <p:nvPr/>
        </p:nvSpPr>
        <p:spPr>
          <a:xfrm>
            <a:off x="1666875" y="4210050"/>
            <a:ext cx="2143125" cy="552450"/>
          </a:xfrm>
          <a:prstGeom prst="rect">
            <a:avLst/>
          </a:prstGeom>
          <a:noFill/>
          <a:ln>
            <a:noFill/>
          </a:ln>
        </p:spPr>
        <p:txBody>
          <a:bodyPr wrap="square" lIns="0" tIns="0" rIns="0" bIns="0" anchor="t"/>
          <a:lstStyle/>
          <a:p>
            <a:pPr algn="l">
              <a:lnSpc>
                <a:spcPct val="110000"/>
              </a:lnSpc>
            </a:pPr>
            <a:r>
              <a:rPr lang="en-GB" sz="2400" b="1">
                <a:solidFill>
                  <a:srgbClr val="201D1D"/>
                </a:solidFill>
                <a:latin typeface="Segoe UI"/>
                <a:ea typeface="Segoe UI"/>
                <a:cs typeface="Segoe UI"/>
              </a:rPr>
              <a:t xml:space="preserve">Act</a:t>
            </a:r>
            <a:endParaRPr lang="en-GB" sz="2400" b="1"/>
          </a:p>
        </p:txBody>
      </p:sp>
      <p:sp>
        <p:nvSpPr>
          <p:cNvPr id="13" name="Run an enabled verification workflow automatically."/>
          <p:cNvSpPr txBox="1"/>
          <p:nvPr/>
        </p:nvSpPr>
        <p:spPr>
          <a:xfrm>
            <a:off x="4191000" y="4248150"/>
            <a:ext cx="7391400" cy="733425"/>
          </a:xfrm>
          <a:prstGeom prst="rect">
            <a:avLst/>
          </a:prstGeom>
          <a:noFill/>
          <a:ln>
            <a:noFill/>
          </a:ln>
        </p:spPr>
        <p:txBody>
          <a:bodyPr wrap="square" lIns="0" tIns="0" rIns="0" bIns="0" anchor="t"/>
          <a:lstStyle/>
          <a:p>
            <a:pPr algn="l">
              <a:lnSpc>
                <a:spcPct val="110000"/>
              </a:lnSpc>
            </a:pPr>
            <a:r>
              <a:rPr lang="en-GB" sz="2100" b="0">
                <a:solidFill>
                  <a:srgbClr val="201D1D"/>
                </a:solidFill>
                <a:latin typeface="Segoe UI"/>
                <a:ea typeface="Segoe UI"/>
                <a:cs typeface="Segoe UI"/>
              </a:rPr>
              <a:t xml:space="preserve">Run an enabled verification workflow automatically.</a:t>
            </a:r>
            <a:endParaRPr lang="en-GB" sz="2100" b="0"/>
          </a:p>
        </p:txBody>
      </p:sp>
      <p:sp>
        <p:nvSpPr>
          <p:cNvPr id="14" name="Shape 14"/>
          <p:cNvSpPr/>
          <p:nvPr/>
        </p:nvSpPr>
        <p:spPr>
          <a:xfrm>
            <a:off x="609600" y="5019675"/>
            <a:ext cx="10972800" cy="12382"/>
          </a:xfrm>
          <a:prstGeom prst="rect">
            <a:avLst/>
          </a:prstGeom>
          <a:solidFill>
            <a:srgbClr val="E7DDD3"/>
          </a:solidFill>
          <a:ln w="9525">
            <a:noFill/>
          </a:ln>
        </p:spPr>
      </p:sp>
      <p:sp>
        <p:nvSpPr>
          <p:cNvPr id="15" name="04"/>
          <p:cNvSpPr txBox="1"/>
          <p:nvPr/>
        </p:nvSpPr>
        <p:spPr>
          <a:xfrm>
            <a:off x="609600" y="5210175"/>
            <a:ext cx="800100" cy="571500"/>
          </a:xfrm>
          <a:prstGeom prst="rect">
            <a:avLst/>
          </a:prstGeom>
          <a:noFill/>
          <a:ln>
            <a:noFill/>
          </a:ln>
        </p:spPr>
        <p:txBody>
          <a:bodyPr wrap="square" lIns="0" tIns="0" rIns="0" bIns="0" anchor="t"/>
          <a:lstStyle/>
          <a:p>
            <a:pPr algn="l">
              <a:lnSpc>
                <a:spcPct val="110000"/>
              </a:lnSpc>
            </a:pPr>
            <a:r>
              <a:rPr lang="en-GB" sz="3000" b="0">
                <a:solidFill>
                  <a:srgbClr val="FF7A1A"/>
                </a:solidFill>
                <a:latin typeface="Segoe UI"/>
                <a:ea typeface="Segoe UI"/>
                <a:cs typeface="Segoe UI"/>
              </a:rPr>
              <a:t xml:space="preserve">04</a:t>
            </a:r>
            <a:endParaRPr lang="en-GB" sz="3000" b="0"/>
          </a:p>
        </p:txBody>
      </p:sp>
      <p:sp>
        <p:nvSpPr>
          <p:cNvPr id="16" name="Check"/>
          <p:cNvSpPr txBox="1"/>
          <p:nvPr/>
        </p:nvSpPr>
        <p:spPr>
          <a:xfrm>
            <a:off x="1666875" y="5248275"/>
            <a:ext cx="2143125" cy="552450"/>
          </a:xfrm>
          <a:prstGeom prst="rect">
            <a:avLst/>
          </a:prstGeom>
          <a:noFill/>
          <a:ln>
            <a:noFill/>
          </a:ln>
        </p:spPr>
        <p:txBody>
          <a:bodyPr wrap="square" lIns="0" tIns="0" rIns="0" bIns="0" anchor="t"/>
          <a:lstStyle/>
          <a:p>
            <a:pPr algn="l">
              <a:lnSpc>
                <a:spcPct val="110000"/>
              </a:lnSpc>
            </a:pPr>
            <a:r>
              <a:rPr lang="en-GB" sz="2400" b="1">
                <a:solidFill>
                  <a:srgbClr val="201D1D"/>
                </a:solidFill>
                <a:latin typeface="Segoe UI"/>
                <a:ea typeface="Segoe UI"/>
                <a:cs typeface="Segoe UI"/>
              </a:rPr>
              <a:t xml:space="preserve">Check</a:t>
            </a:r>
            <a:endParaRPr lang="en-GB" sz="2400" b="1"/>
          </a:p>
        </p:txBody>
      </p:sp>
      <p:sp>
        <p:nvSpPr>
          <p:cNvPr id="17" name="Confirm the result and stop if anything is uncertain."/>
          <p:cNvSpPr txBox="1"/>
          <p:nvPr/>
        </p:nvSpPr>
        <p:spPr>
          <a:xfrm>
            <a:off x="4191000" y="5286375"/>
            <a:ext cx="7391400" cy="733425"/>
          </a:xfrm>
          <a:prstGeom prst="rect">
            <a:avLst/>
          </a:prstGeom>
          <a:noFill/>
          <a:ln>
            <a:noFill/>
          </a:ln>
        </p:spPr>
        <p:txBody>
          <a:bodyPr wrap="square" lIns="0" tIns="0" rIns="0" bIns="0" anchor="t"/>
          <a:lstStyle/>
          <a:p>
            <a:pPr algn="l">
              <a:lnSpc>
                <a:spcPct val="110000"/>
              </a:lnSpc>
            </a:pPr>
            <a:r>
              <a:rPr lang="en-GB" sz="2100" b="0">
                <a:solidFill>
                  <a:srgbClr val="201D1D"/>
                </a:solidFill>
                <a:latin typeface="Segoe UI"/>
                <a:ea typeface="Segoe UI"/>
                <a:cs typeface="Segoe UI"/>
              </a:rPr>
              <a:t xml:space="preserve">Confirm the result and stop if anything is uncertain.</a:t>
            </a:r>
            <a:endParaRPr lang="en-GB" sz="2100" b="0"/>
          </a:p>
        </p:txBody>
      </p:sp>
      <p:sp>
        <p:nvSpPr>
          <p:cNvPr id="18" name="Shape 18"/>
          <p:cNvSpPr/>
          <p:nvPr/>
        </p:nvSpPr>
        <p:spPr>
          <a:xfrm>
            <a:off x="609600" y="6057900"/>
            <a:ext cx="10972800" cy="12382"/>
          </a:xfrm>
          <a:prstGeom prst="rect">
            <a:avLst/>
          </a:prstGeom>
          <a:solidFill>
            <a:srgbClr val="E7DDD3"/>
          </a:solidFill>
          <a:ln w="9525">
            <a:no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1">
  <p:cSld name="The university login example">
    <p:bg>
      <p:bgPr>
        <a:solidFill>
          <a:srgbClr val="FFFEFA"/>
        </a:solidFill>
        <a:effectLst/>
      </p:bgPr>
    </p:bg>
    <p:spTree>
      <p:nvGrpSpPr>
        <p:cNvPr id="1" name=""/>
        <p:cNvGrpSpPr/>
        <p:nvPr/>
      </p:nvGrpSpPr>
      <p:grpSpPr>
        <a:xfrm>
          <a:off x="0" y="0"/>
          <a:ext cx="0" cy="0"/>
          <a:chOff x="0" y="0"/>
          <a:chExt cx="0" cy="0"/>
        </a:xfrm>
      </p:grpSpPr>
      <p:sp>
        <p:nvSpPr>
          <p:cNvPr id="2" name="The university login example"/>
          <p:cNvSpPr txBox="1"/>
          <p:nvPr/>
        </p:nvSpPr>
        <p:spPr>
          <a:xfrm>
            <a:off x="609600" y="619125"/>
            <a:ext cx="10972800" cy="1162050"/>
          </a:xfrm>
          <a:prstGeom prst="rect">
            <a:avLst/>
          </a:prstGeom>
          <a:noFill/>
          <a:ln>
            <a:noFill/>
          </a:ln>
        </p:spPr>
        <p:txBody>
          <a:bodyPr wrap="square" lIns="0" tIns="0" rIns="0" bIns="0" anchor="t"/>
          <a:lstStyle/>
          <a:p>
            <a:pPr algn="l">
              <a:lnSpc>
                <a:spcPct val="110000"/>
              </a:lnSpc>
            </a:pPr>
            <a:r>
              <a:rPr lang="en-GB" sz="3600" b="1">
                <a:solidFill>
                  <a:srgbClr val="201D1D"/>
                </a:solidFill>
                <a:latin typeface="Segoe UI"/>
                <a:ea typeface="Segoe UI"/>
                <a:cs typeface="Segoe UI"/>
              </a:rPr>
              <a:t xml:space="preserve">The university login example</a:t>
            </a:r>
            <a:endParaRPr lang="en-GB" sz="3600" b="1"/>
          </a:p>
        </p:txBody>
      </p:sp>
      <p:sp>
        <p:nvSpPr>
          <p:cNvPr id="3" name="Shape 3"/>
          <p:cNvSpPr/>
          <p:nvPr/>
        </p:nvSpPr>
        <p:spPr>
          <a:xfrm>
            <a:off x="609600" y="2209800"/>
            <a:ext cx="3333750" cy="66675"/>
          </a:xfrm>
          <a:prstGeom prst="rect">
            <a:avLst/>
          </a:prstGeom>
          <a:solidFill>
            <a:srgbClr val="FF7A1A"/>
          </a:solidFill>
          <a:ln w="9525">
            <a:noFill/>
          </a:ln>
        </p:spPr>
      </p:sp>
      <p:sp>
        <p:nvSpPr>
          <p:cNvPr id="4" name="01"/>
          <p:cNvSpPr txBox="1"/>
          <p:nvPr/>
        </p:nvSpPr>
        <p:spPr>
          <a:xfrm>
            <a:off x="609600" y="2686050"/>
            <a:ext cx="3333750" cy="952500"/>
          </a:xfrm>
          <a:prstGeom prst="rect">
            <a:avLst/>
          </a:prstGeom>
          <a:noFill/>
          <a:ln>
            <a:noFill/>
          </a:ln>
        </p:spPr>
        <p:txBody>
          <a:bodyPr wrap="square" lIns="0" tIns="0" rIns="0" bIns="0" anchor="t"/>
          <a:lstStyle/>
          <a:p>
            <a:pPr algn="l">
              <a:lnSpc>
                <a:spcPct val="110000"/>
              </a:lnSpc>
            </a:pPr>
            <a:r>
              <a:rPr lang="en-GB" sz="5700" b="0">
                <a:solidFill>
                  <a:srgbClr val="FF7A1A"/>
                </a:solidFill>
                <a:latin typeface="Segoe UI"/>
                <a:ea typeface="Segoe UI"/>
                <a:cs typeface="Segoe UI"/>
              </a:rPr>
              <a:t xml:space="preserve">01</a:t>
            </a:r>
            <a:endParaRPr lang="en-GB" sz="5700" b="0"/>
          </a:p>
        </p:txBody>
      </p:sp>
      <p:sp>
        <p:nvSpPr>
          <p:cNvPr id="5" name="Detect"/>
          <p:cNvSpPr txBox="1"/>
          <p:nvPr/>
        </p:nvSpPr>
        <p:spPr>
          <a:xfrm>
            <a:off x="609600" y="3981450"/>
            <a:ext cx="3333750" cy="666750"/>
          </a:xfrm>
          <a:prstGeom prst="rect">
            <a:avLst/>
          </a:prstGeom>
          <a:noFill/>
          <a:ln>
            <a:noFill/>
          </a:ln>
        </p:spPr>
        <p:txBody>
          <a:bodyPr wrap="square" lIns="0" tIns="0" rIns="0" bIns="0" anchor="t"/>
          <a:lstStyle/>
          <a:p>
            <a:pPr algn="l">
              <a:lnSpc>
                <a:spcPct val="110000"/>
              </a:lnSpc>
            </a:pPr>
            <a:r>
              <a:rPr lang="en-GB" sz="2925" b="1">
                <a:solidFill>
                  <a:srgbClr val="201D1D"/>
                </a:solidFill>
                <a:latin typeface="Segoe UI"/>
                <a:ea typeface="Segoe UI"/>
                <a:cs typeface="Segoe UI"/>
              </a:rPr>
              <a:t xml:space="preserve">Detect</a:t>
            </a:r>
            <a:endParaRPr lang="en-GB" sz="2925" b="1"/>
          </a:p>
        </p:txBody>
      </p:sp>
      <p:sp>
        <p:nvSpPr>
          <p:cNvPr id="6" name="Recognise a matching new sign-in challenge."/>
          <p:cNvSpPr txBox="1"/>
          <p:nvPr/>
        </p:nvSpPr>
        <p:spPr>
          <a:xfrm>
            <a:off x="609600" y="4924425"/>
            <a:ext cx="3333750" cy="1133475"/>
          </a:xfrm>
          <a:prstGeom prst="rect">
            <a:avLst/>
          </a:prstGeom>
          <a:noFill/>
          <a:ln>
            <a:noFill/>
          </a:ln>
        </p:spPr>
        <p:txBody>
          <a:bodyPr wrap="square" lIns="0" tIns="0" rIns="0" bIns="0" anchor="t"/>
          <a:lstStyle/>
          <a:p>
            <a:pPr algn="l">
              <a:lnSpc>
                <a:spcPct val="110000"/>
              </a:lnSpc>
            </a:pPr>
            <a:r>
              <a:rPr lang="en-GB" sz="2175" b="0">
                <a:solidFill>
                  <a:srgbClr val="201D1D"/>
                </a:solidFill>
                <a:latin typeface="Segoe UI"/>
                <a:ea typeface="Segoe UI"/>
                <a:cs typeface="Segoe UI"/>
              </a:rPr>
              <a:t xml:space="preserve">Recognise a matching</a:t>
            </a:r>
            <a:endParaRPr lang="en-GB" sz="2175" b="0"/>
          </a:p>
          <a:p>
            <a:pPr algn="l">
              <a:lnSpc>
                <a:spcPct val="110000"/>
              </a:lnSpc>
            </a:pPr>
            <a:r>
              <a:rPr lang="en-GB" sz="2175" b="0">
                <a:solidFill>
                  <a:srgbClr val="201D1D"/>
                </a:solidFill>
                <a:latin typeface="Segoe UI"/>
                <a:ea typeface="Segoe UI"/>
                <a:cs typeface="Segoe UI"/>
              </a:rPr>
              <a:t xml:space="preserve">new sign-in challenge.</a:t>
            </a:r>
            <a:endParaRPr lang="en-GB" sz="2175" b="0"/>
          </a:p>
        </p:txBody>
      </p:sp>
      <p:sp>
        <p:nvSpPr>
          <p:cNvPr id="7" name="Shape 7"/>
          <p:cNvSpPr/>
          <p:nvPr/>
        </p:nvSpPr>
        <p:spPr>
          <a:xfrm>
            <a:off x="4391025" y="2209800"/>
            <a:ext cx="3333750" cy="66675"/>
          </a:xfrm>
          <a:prstGeom prst="rect">
            <a:avLst/>
          </a:prstGeom>
          <a:solidFill>
            <a:srgbClr val="FF7A1A"/>
          </a:solidFill>
          <a:ln w="9525">
            <a:noFill/>
          </a:ln>
        </p:spPr>
      </p:sp>
      <p:sp>
        <p:nvSpPr>
          <p:cNvPr id="8" name="02"/>
          <p:cNvSpPr txBox="1"/>
          <p:nvPr/>
        </p:nvSpPr>
        <p:spPr>
          <a:xfrm>
            <a:off x="4391025" y="2686050"/>
            <a:ext cx="3333750" cy="952500"/>
          </a:xfrm>
          <a:prstGeom prst="rect">
            <a:avLst/>
          </a:prstGeom>
          <a:noFill/>
          <a:ln>
            <a:noFill/>
          </a:ln>
        </p:spPr>
        <p:txBody>
          <a:bodyPr wrap="square" lIns="0" tIns="0" rIns="0" bIns="0" anchor="t"/>
          <a:lstStyle/>
          <a:p>
            <a:pPr algn="l">
              <a:lnSpc>
                <a:spcPct val="110000"/>
              </a:lnSpc>
            </a:pPr>
            <a:r>
              <a:rPr lang="en-GB" sz="5700" b="0">
                <a:solidFill>
                  <a:srgbClr val="FF7A1A"/>
                </a:solidFill>
                <a:latin typeface="Segoe UI"/>
                <a:ea typeface="Segoe UI"/>
                <a:cs typeface="Segoe UI"/>
              </a:rPr>
              <a:t xml:space="preserve">02</a:t>
            </a:r>
            <a:endParaRPr lang="en-GB" sz="5700" b="0"/>
          </a:p>
        </p:txBody>
      </p:sp>
      <p:sp>
        <p:nvSpPr>
          <p:cNvPr id="9" name="Fetch"/>
          <p:cNvSpPr txBox="1"/>
          <p:nvPr/>
        </p:nvSpPr>
        <p:spPr>
          <a:xfrm>
            <a:off x="4391025" y="3981450"/>
            <a:ext cx="3333750" cy="666750"/>
          </a:xfrm>
          <a:prstGeom prst="rect">
            <a:avLst/>
          </a:prstGeom>
          <a:noFill/>
          <a:ln>
            <a:noFill/>
          </a:ln>
        </p:spPr>
        <p:txBody>
          <a:bodyPr wrap="square" lIns="0" tIns="0" rIns="0" bIns="0" anchor="t"/>
          <a:lstStyle/>
          <a:p>
            <a:pPr algn="l">
              <a:lnSpc>
                <a:spcPct val="110000"/>
              </a:lnSpc>
            </a:pPr>
            <a:r>
              <a:rPr lang="en-GB" sz="2925" b="1">
                <a:solidFill>
                  <a:srgbClr val="201D1D"/>
                </a:solidFill>
                <a:latin typeface="Segoe UI"/>
                <a:ea typeface="Segoe UI"/>
                <a:cs typeface="Segoe UI"/>
              </a:rPr>
              <a:t xml:space="preserve">Fetch</a:t>
            </a:r>
            <a:endParaRPr lang="en-GB" sz="2925" b="1"/>
          </a:p>
        </p:txBody>
      </p:sp>
      <p:sp>
        <p:nvSpPr>
          <p:cNvPr id="10" name="Request a code and read the new matching message."/>
          <p:cNvSpPr txBox="1"/>
          <p:nvPr/>
        </p:nvSpPr>
        <p:spPr>
          <a:xfrm>
            <a:off x="4391025" y="4924425"/>
            <a:ext cx="3333750" cy="1133475"/>
          </a:xfrm>
          <a:prstGeom prst="rect">
            <a:avLst/>
          </a:prstGeom>
          <a:noFill/>
          <a:ln>
            <a:noFill/>
          </a:ln>
        </p:spPr>
        <p:txBody>
          <a:bodyPr wrap="square" lIns="0" tIns="0" rIns="0" bIns="0" anchor="t"/>
          <a:lstStyle/>
          <a:p>
            <a:pPr algn="l">
              <a:lnSpc>
                <a:spcPct val="110000"/>
              </a:lnSpc>
            </a:pPr>
            <a:r>
              <a:rPr lang="en-GB" sz="2175" b="0">
                <a:solidFill>
                  <a:srgbClr val="201D1D"/>
                </a:solidFill>
                <a:latin typeface="Segoe UI"/>
                <a:ea typeface="Segoe UI"/>
                <a:cs typeface="Segoe UI"/>
              </a:rPr>
              <a:t xml:space="preserve">Request a code and read</a:t>
            </a:r>
            <a:endParaRPr lang="en-GB" sz="2175" b="0"/>
          </a:p>
          <a:p>
            <a:pPr algn="l">
              <a:lnSpc>
                <a:spcPct val="110000"/>
              </a:lnSpc>
            </a:pPr>
            <a:r>
              <a:rPr lang="en-GB" sz="2175" b="0">
                <a:solidFill>
                  <a:srgbClr val="201D1D"/>
                </a:solidFill>
                <a:latin typeface="Segoe UI"/>
                <a:ea typeface="Segoe UI"/>
                <a:cs typeface="Segoe UI"/>
              </a:rPr>
              <a:t xml:space="preserve">the new matching message.</a:t>
            </a:r>
            <a:endParaRPr lang="en-GB" sz="2175" b="0"/>
          </a:p>
        </p:txBody>
      </p:sp>
      <p:sp>
        <p:nvSpPr>
          <p:cNvPr id="11" name="Shape 11"/>
          <p:cNvSpPr/>
          <p:nvPr/>
        </p:nvSpPr>
        <p:spPr>
          <a:xfrm>
            <a:off x="8172450" y="2209800"/>
            <a:ext cx="3333750" cy="66675"/>
          </a:xfrm>
          <a:prstGeom prst="rect">
            <a:avLst/>
          </a:prstGeom>
          <a:solidFill>
            <a:srgbClr val="FF7A1A"/>
          </a:solidFill>
          <a:ln w="9525">
            <a:noFill/>
          </a:ln>
        </p:spPr>
      </p:sp>
      <p:sp>
        <p:nvSpPr>
          <p:cNvPr id="12" name="03"/>
          <p:cNvSpPr txBox="1"/>
          <p:nvPr/>
        </p:nvSpPr>
        <p:spPr>
          <a:xfrm>
            <a:off x="8172450" y="2686050"/>
            <a:ext cx="3333750" cy="952500"/>
          </a:xfrm>
          <a:prstGeom prst="rect">
            <a:avLst/>
          </a:prstGeom>
          <a:noFill/>
          <a:ln>
            <a:noFill/>
          </a:ln>
        </p:spPr>
        <p:txBody>
          <a:bodyPr wrap="square" lIns="0" tIns="0" rIns="0" bIns="0" anchor="t"/>
          <a:lstStyle/>
          <a:p>
            <a:pPr algn="l">
              <a:lnSpc>
                <a:spcPct val="110000"/>
              </a:lnSpc>
            </a:pPr>
            <a:r>
              <a:rPr lang="en-GB" sz="5700" b="0">
                <a:solidFill>
                  <a:srgbClr val="FF7A1A"/>
                </a:solidFill>
                <a:latin typeface="Segoe UI"/>
                <a:ea typeface="Segoe UI"/>
                <a:cs typeface="Segoe UI"/>
              </a:rPr>
              <a:t xml:space="preserve">03</a:t>
            </a:r>
            <a:endParaRPr lang="en-GB" sz="5700" b="0"/>
          </a:p>
        </p:txBody>
      </p:sp>
      <p:sp>
        <p:nvSpPr>
          <p:cNvPr id="13" name="Verify"/>
          <p:cNvSpPr txBox="1"/>
          <p:nvPr/>
        </p:nvSpPr>
        <p:spPr>
          <a:xfrm>
            <a:off x="8172450" y="3981450"/>
            <a:ext cx="3333750" cy="666750"/>
          </a:xfrm>
          <a:prstGeom prst="rect">
            <a:avLst/>
          </a:prstGeom>
          <a:noFill/>
          <a:ln>
            <a:noFill/>
          </a:ln>
        </p:spPr>
        <p:txBody>
          <a:bodyPr wrap="square" lIns="0" tIns="0" rIns="0" bIns="0" anchor="t"/>
          <a:lstStyle/>
          <a:p>
            <a:pPr algn="l">
              <a:lnSpc>
                <a:spcPct val="110000"/>
              </a:lnSpc>
            </a:pPr>
            <a:r>
              <a:rPr lang="en-GB" sz="2925" b="1">
                <a:solidFill>
                  <a:srgbClr val="201D1D"/>
                </a:solidFill>
                <a:latin typeface="Segoe UI"/>
                <a:ea typeface="Segoe UI"/>
                <a:cs typeface="Segoe UI"/>
              </a:rPr>
              <a:t xml:space="preserve">Verify</a:t>
            </a:r>
            <a:endParaRPr lang="en-GB" sz="2925" b="1"/>
          </a:p>
        </p:txBody>
      </p:sp>
      <p:sp>
        <p:nvSpPr>
          <p:cNvPr id="14" name="Fill, submit and check the result automatically."/>
          <p:cNvSpPr txBox="1"/>
          <p:nvPr/>
        </p:nvSpPr>
        <p:spPr>
          <a:xfrm>
            <a:off x="8172450" y="4924425"/>
            <a:ext cx="3333750" cy="1133475"/>
          </a:xfrm>
          <a:prstGeom prst="rect">
            <a:avLst/>
          </a:prstGeom>
          <a:noFill/>
          <a:ln>
            <a:noFill/>
          </a:ln>
        </p:spPr>
        <p:txBody>
          <a:bodyPr wrap="square" lIns="0" tIns="0" rIns="0" bIns="0" anchor="t"/>
          <a:lstStyle/>
          <a:p>
            <a:pPr algn="l">
              <a:lnSpc>
                <a:spcPct val="110000"/>
              </a:lnSpc>
            </a:pPr>
            <a:r>
              <a:rPr lang="en-GB" sz="2175" b="0">
                <a:solidFill>
                  <a:srgbClr val="201D1D"/>
                </a:solidFill>
                <a:latin typeface="Segoe UI"/>
                <a:ea typeface="Segoe UI"/>
                <a:cs typeface="Segoe UI"/>
              </a:rPr>
              <a:t xml:space="preserve">Fill, submit and check</a:t>
            </a:r>
            <a:endParaRPr lang="en-GB" sz="2175" b="0"/>
          </a:p>
          <a:p>
            <a:pPr algn="l">
              <a:lnSpc>
                <a:spcPct val="110000"/>
              </a:lnSpc>
            </a:pPr>
            <a:r>
              <a:rPr lang="en-GB" sz="2175" b="0">
                <a:solidFill>
                  <a:srgbClr val="201D1D"/>
                </a:solidFill>
                <a:latin typeface="Segoe UI"/>
                <a:ea typeface="Segoe UI"/>
                <a:cs typeface="Segoe UI"/>
              </a:rPr>
              <a:t xml:space="preserve">the result automatically.</a:t>
            </a:r>
            <a:endParaRPr lang="en-GB" sz="2175" b="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1">
  <p:cSld name="Why I built it this way">
    <p:bg>
      <p:bgPr>
        <a:solidFill>
          <a:srgbClr val="FFFEFA"/>
        </a:solidFill>
        <a:effectLst/>
      </p:bgPr>
    </p:bg>
    <p:spTree>
      <p:nvGrpSpPr>
        <p:cNvPr id="1" name=""/>
        <p:cNvGrpSpPr/>
        <p:nvPr/>
      </p:nvGrpSpPr>
      <p:grpSpPr>
        <a:xfrm>
          <a:off x="0" y="0"/>
          <a:ext cx="0" cy="0"/>
          <a:chOff x="0" y="0"/>
          <a:chExt cx="0" cy="0"/>
        </a:xfrm>
      </p:grpSpPr>
      <p:sp>
        <p:nvSpPr>
          <p:cNvPr id="2" name="Why I built it this way"/>
          <p:cNvSpPr txBox="1"/>
          <p:nvPr/>
        </p:nvSpPr>
        <p:spPr>
          <a:xfrm>
            <a:off x="609600" y="619125"/>
            <a:ext cx="10972800" cy="1162050"/>
          </a:xfrm>
          <a:prstGeom prst="rect">
            <a:avLst/>
          </a:prstGeom>
          <a:noFill/>
          <a:ln>
            <a:noFill/>
          </a:ln>
        </p:spPr>
        <p:txBody>
          <a:bodyPr wrap="square" lIns="0" tIns="0" rIns="0" bIns="0" anchor="t"/>
          <a:lstStyle/>
          <a:p>
            <a:pPr algn="l">
              <a:lnSpc>
                <a:spcPct val="110000"/>
              </a:lnSpc>
            </a:pPr>
            <a:r>
              <a:rPr lang="en-GB" sz="3600" b="1">
                <a:solidFill>
                  <a:srgbClr val="201D1D"/>
                </a:solidFill>
                <a:latin typeface="Segoe UI"/>
                <a:ea typeface="Segoe UI"/>
                <a:cs typeface="Segoe UI"/>
              </a:rPr>
              <a:t xml:space="preserve">Why I built it this way</a:t>
            </a:r>
            <a:endParaRPr lang="en-GB" sz="3600" b="1"/>
          </a:p>
        </p:txBody>
      </p:sp>
      <p:sp>
        <p:nvSpPr>
          <p:cNvPr id="3" name="Existing browser"/>
          <p:cNvSpPr txBox="1"/>
          <p:nvPr/>
        </p:nvSpPr>
        <p:spPr>
          <a:xfrm>
            <a:off x="609600" y="2228850"/>
            <a:ext cx="3352800" cy="647700"/>
          </a:xfrm>
          <a:prstGeom prst="rect">
            <a:avLst/>
          </a:prstGeom>
          <a:noFill/>
          <a:ln>
            <a:noFill/>
          </a:ln>
        </p:spPr>
        <p:txBody>
          <a:bodyPr wrap="square" lIns="0" tIns="0" rIns="0" bIns="0" anchor="t"/>
          <a:lstStyle/>
          <a:p>
            <a:pPr algn="l">
              <a:lnSpc>
                <a:spcPct val="110000"/>
              </a:lnSpc>
            </a:pPr>
            <a:r>
              <a:rPr lang="en-GB" sz="2625" b="1">
                <a:solidFill>
                  <a:srgbClr val="201D1D"/>
                </a:solidFill>
                <a:latin typeface="Segoe UI"/>
                <a:ea typeface="Segoe UI"/>
                <a:cs typeface="Segoe UI"/>
              </a:rPr>
              <a:t xml:space="preserve">Existing browser</a:t>
            </a:r>
            <a:endParaRPr lang="en-GB" sz="2625" b="1"/>
          </a:p>
        </p:txBody>
      </p:sp>
      <p:sp>
        <p:nvSpPr>
          <p:cNvPr id="4" name="I was already signed in, so Kopi works inside my curren"/>
          <p:cNvSpPr txBox="1"/>
          <p:nvPr/>
        </p:nvSpPr>
        <p:spPr>
          <a:xfrm>
            <a:off x="4381500" y="2238375"/>
            <a:ext cx="7200900" cy="1057275"/>
          </a:xfrm>
          <a:prstGeom prst="rect">
            <a:avLst/>
          </a:prstGeom>
          <a:noFill/>
          <a:ln>
            <a:noFill/>
          </a:ln>
        </p:spPr>
        <p:txBody>
          <a:bodyPr wrap="square" lIns="0" tIns="0" rIns="0" bIns="0" anchor="t"/>
          <a:lstStyle/>
          <a:p>
            <a:pPr algn="l">
              <a:lnSpc>
                <a:spcPct val="110000"/>
              </a:lnSpc>
            </a:pPr>
            <a:r>
              <a:rPr lang="en-GB" sz="2175" b="0">
                <a:solidFill>
                  <a:srgbClr val="201D1D"/>
                </a:solidFill>
                <a:latin typeface="Segoe UI"/>
                <a:ea typeface="Segoe UI"/>
                <a:cs typeface="Segoe UI"/>
              </a:rPr>
              <a:t xml:space="preserve">I was already signed in, so Kopi works</a:t>
            </a:r>
            <a:endParaRPr lang="en-GB" sz="2175" b="0"/>
          </a:p>
          <a:p>
            <a:pPr algn="l">
              <a:lnSpc>
                <a:spcPct val="110000"/>
              </a:lnSpc>
            </a:pPr>
            <a:r>
              <a:rPr lang="en-GB" sz="2175" b="0">
                <a:solidFill>
                  <a:srgbClr val="201D1D"/>
                </a:solidFill>
                <a:latin typeface="Segoe UI"/>
                <a:ea typeface="Segoe UI"/>
                <a:cs typeface="Segoe UI"/>
              </a:rPr>
              <a:t xml:space="preserve">inside my current Chrome or Edge session.</a:t>
            </a:r>
            <a:endParaRPr lang="en-GB" sz="2175" b="0"/>
          </a:p>
        </p:txBody>
      </p:sp>
      <p:sp>
        <p:nvSpPr>
          <p:cNvPr id="5" name="Shape 5"/>
          <p:cNvSpPr/>
          <p:nvPr/>
        </p:nvSpPr>
        <p:spPr>
          <a:xfrm>
            <a:off x="609600" y="3371850"/>
            <a:ext cx="10972800" cy="12382"/>
          </a:xfrm>
          <a:prstGeom prst="rect">
            <a:avLst/>
          </a:prstGeom>
          <a:solidFill>
            <a:srgbClr val="E7DDD3"/>
          </a:solidFill>
          <a:ln w="9525">
            <a:noFill/>
          </a:ln>
        </p:spPr>
      </p:sp>
      <p:sp>
        <p:nvSpPr>
          <p:cNvPr id="6" name="Local AI"/>
          <p:cNvSpPr txBox="1"/>
          <p:nvPr/>
        </p:nvSpPr>
        <p:spPr>
          <a:xfrm>
            <a:off x="609600" y="3648075"/>
            <a:ext cx="3352800" cy="647700"/>
          </a:xfrm>
          <a:prstGeom prst="rect">
            <a:avLst/>
          </a:prstGeom>
          <a:noFill/>
          <a:ln>
            <a:noFill/>
          </a:ln>
        </p:spPr>
        <p:txBody>
          <a:bodyPr wrap="square" lIns="0" tIns="0" rIns="0" bIns="0" anchor="t"/>
          <a:lstStyle/>
          <a:p>
            <a:pPr algn="l">
              <a:lnSpc>
                <a:spcPct val="110000"/>
              </a:lnSpc>
            </a:pPr>
            <a:r>
              <a:rPr lang="en-GB" sz="2625" b="1">
                <a:solidFill>
                  <a:srgbClr val="201D1D"/>
                </a:solidFill>
                <a:latin typeface="Segoe UI"/>
                <a:ea typeface="Segoe UI"/>
                <a:cs typeface="Segoe UI"/>
              </a:rPr>
              <a:t xml:space="preserve">Local AI</a:t>
            </a:r>
            <a:endParaRPr lang="en-GB" sz="2625" b="1"/>
          </a:p>
        </p:txBody>
      </p:sp>
      <p:sp>
        <p:nvSpPr>
          <p:cNvPr id="7" name="Browser evidence can be personal, so Gemma runs on my c"/>
          <p:cNvSpPr txBox="1"/>
          <p:nvPr/>
        </p:nvSpPr>
        <p:spPr>
          <a:xfrm>
            <a:off x="4381500" y="3657600"/>
            <a:ext cx="7200900" cy="1057275"/>
          </a:xfrm>
          <a:prstGeom prst="rect">
            <a:avLst/>
          </a:prstGeom>
          <a:noFill/>
          <a:ln>
            <a:noFill/>
          </a:ln>
        </p:spPr>
        <p:txBody>
          <a:bodyPr wrap="square" lIns="0" tIns="0" rIns="0" bIns="0" anchor="t"/>
          <a:lstStyle/>
          <a:p>
            <a:pPr algn="l">
              <a:lnSpc>
                <a:spcPct val="110000"/>
              </a:lnSpc>
            </a:pPr>
            <a:r>
              <a:rPr lang="en-GB" sz="2175" b="0">
                <a:solidFill>
                  <a:srgbClr val="201D1D"/>
                </a:solidFill>
                <a:latin typeface="Segoe UI"/>
                <a:ea typeface="Segoe UI"/>
                <a:cs typeface="Segoe UI"/>
              </a:rPr>
              <a:t xml:space="preserve">Browser evidence can be personal,</a:t>
            </a:r>
            <a:endParaRPr lang="en-GB" sz="2175" b="0"/>
          </a:p>
          <a:p>
            <a:pPr algn="l">
              <a:lnSpc>
                <a:spcPct val="110000"/>
              </a:lnSpc>
            </a:pPr>
            <a:r>
              <a:rPr lang="en-GB" sz="2175" b="0">
                <a:solidFill>
                  <a:srgbClr val="201D1D"/>
                </a:solidFill>
                <a:latin typeface="Segoe UI"/>
                <a:ea typeface="Segoe UI"/>
                <a:cs typeface="Segoe UI"/>
              </a:rPr>
              <a:t xml:space="preserve">so Gemma runs on my computer.</a:t>
            </a:r>
            <a:endParaRPr lang="en-GB" sz="2175" b="0"/>
          </a:p>
        </p:txBody>
      </p:sp>
      <p:sp>
        <p:nvSpPr>
          <p:cNvPr id="8" name="Shape 8"/>
          <p:cNvSpPr/>
          <p:nvPr/>
        </p:nvSpPr>
        <p:spPr>
          <a:xfrm>
            <a:off x="609600" y="4791075"/>
            <a:ext cx="10972800" cy="12382"/>
          </a:xfrm>
          <a:prstGeom prst="rect">
            <a:avLst/>
          </a:prstGeom>
          <a:solidFill>
            <a:srgbClr val="E7DDD3"/>
          </a:solidFill>
          <a:ln w="9525">
            <a:noFill/>
          </a:ln>
        </p:spPr>
      </p:sp>
      <p:sp>
        <p:nvSpPr>
          <p:cNvPr id="9" name="Checked actions"/>
          <p:cNvSpPr txBox="1"/>
          <p:nvPr/>
        </p:nvSpPr>
        <p:spPr>
          <a:xfrm>
            <a:off x="609600" y="5067300"/>
            <a:ext cx="3352800" cy="647700"/>
          </a:xfrm>
          <a:prstGeom prst="rect">
            <a:avLst/>
          </a:prstGeom>
          <a:noFill/>
          <a:ln>
            <a:noFill/>
          </a:ln>
        </p:spPr>
        <p:txBody>
          <a:bodyPr wrap="square" lIns="0" tIns="0" rIns="0" bIns="0" anchor="t"/>
          <a:lstStyle/>
          <a:p>
            <a:pPr algn="l">
              <a:lnSpc>
                <a:spcPct val="110000"/>
              </a:lnSpc>
            </a:pPr>
            <a:r>
              <a:rPr lang="en-GB" sz="2625" b="1">
                <a:solidFill>
                  <a:srgbClr val="201D1D"/>
                </a:solidFill>
                <a:latin typeface="Segoe UI"/>
                <a:ea typeface="Segoe UI"/>
                <a:cs typeface="Segoe UI"/>
              </a:rPr>
              <a:t xml:space="preserve">Checked actions</a:t>
            </a:r>
            <a:endParaRPr lang="en-GB" sz="2625" b="1"/>
          </a:p>
        </p:txBody>
      </p:sp>
      <p:sp>
        <p:nvSpPr>
          <p:cNvPr id="10" name="The model can misunderstand a task, so execution checks"/>
          <p:cNvSpPr txBox="1"/>
          <p:nvPr/>
        </p:nvSpPr>
        <p:spPr>
          <a:xfrm>
            <a:off x="4381500" y="5076825"/>
            <a:ext cx="7200900" cy="1057275"/>
          </a:xfrm>
          <a:prstGeom prst="rect">
            <a:avLst/>
          </a:prstGeom>
          <a:noFill/>
          <a:ln>
            <a:noFill/>
          </a:ln>
        </p:spPr>
        <p:txBody>
          <a:bodyPr wrap="square" lIns="0" tIns="0" rIns="0" bIns="0" anchor="t"/>
          <a:lstStyle/>
          <a:p>
            <a:pPr algn="l">
              <a:lnSpc>
                <a:spcPct val="110000"/>
              </a:lnSpc>
            </a:pPr>
            <a:r>
              <a:rPr lang="en-GB" sz="2175" b="0">
                <a:solidFill>
                  <a:srgbClr val="201D1D"/>
                </a:solidFill>
                <a:latin typeface="Segoe UI"/>
                <a:ea typeface="Segoe UI"/>
                <a:cs typeface="Segoe UI"/>
              </a:rPr>
              <a:t xml:space="preserve">The model can misunderstand a task,</a:t>
            </a:r>
            <a:endParaRPr lang="en-GB" sz="2175" b="0"/>
          </a:p>
          <a:p>
            <a:pPr algn="l">
              <a:lnSpc>
                <a:spcPct val="110000"/>
              </a:lnSpc>
            </a:pPr>
            <a:r>
              <a:rPr lang="en-GB" sz="2175" b="0">
                <a:solidFill>
                  <a:srgbClr val="201D1D"/>
                </a:solidFill>
                <a:latin typeface="Segoe UI"/>
                <a:ea typeface="Segoe UI"/>
                <a:cs typeface="Segoe UI"/>
              </a:rPr>
              <a:t xml:space="preserve">so execution checks targets and results.</a:t>
            </a:r>
            <a:endParaRPr lang="en-GB" sz="2175" b="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1">
  <p:cSld name="How I built it">
    <p:bg>
      <p:bgPr>
        <a:solidFill>
          <a:srgbClr val="FFFEFA"/>
        </a:solidFill>
        <a:effectLst/>
      </p:bgPr>
    </p:bg>
    <p:spTree>
      <p:nvGrpSpPr>
        <p:cNvPr id="1" name=""/>
        <p:cNvGrpSpPr/>
        <p:nvPr/>
      </p:nvGrpSpPr>
      <p:grpSpPr>
        <a:xfrm>
          <a:off x="0" y="0"/>
          <a:ext cx="0" cy="0"/>
          <a:chOff x="0" y="0"/>
          <a:chExt cx="0" cy="0"/>
        </a:xfrm>
      </p:grpSpPr>
      <p:sp>
        <p:nvSpPr>
          <p:cNvPr id="2" name="How I built it"/>
          <p:cNvSpPr txBox="1"/>
          <p:nvPr/>
        </p:nvSpPr>
        <p:spPr>
          <a:xfrm>
            <a:off x="609600" y="619125"/>
            <a:ext cx="10972800" cy="1162050"/>
          </a:xfrm>
          <a:prstGeom prst="rect">
            <a:avLst/>
          </a:prstGeom>
          <a:noFill/>
          <a:ln>
            <a:noFill/>
          </a:ln>
        </p:spPr>
        <p:txBody>
          <a:bodyPr wrap="square" lIns="0" tIns="0" rIns="0" bIns="0" anchor="t"/>
          <a:lstStyle/>
          <a:p>
            <a:pPr algn="l">
              <a:lnSpc>
                <a:spcPct val="110000"/>
              </a:lnSpc>
            </a:pPr>
            <a:r>
              <a:rPr lang="en-GB" sz="3600" b="1">
                <a:solidFill>
                  <a:srgbClr val="201D1D"/>
                </a:solidFill>
                <a:latin typeface="Segoe UI"/>
                <a:ea typeface="Segoe UI"/>
                <a:cs typeface="Segoe UI"/>
              </a:rPr>
              <a:t xml:space="preserve">How I built it</a:t>
            </a:r>
            <a:endParaRPr lang="en-GB" sz="3600" b="1"/>
          </a:p>
        </p:txBody>
      </p:sp>
      <p:sp>
        <p:nvSpPr>
          <p:cNvPr id="3" name="Shape 3"/>
          <p:cNvSpPr/>
          <p:nvPr/>
        </p:nvSpPr>
        <p:spPr>
          <a:xfrm>
            <a:off x="609600" y="2228850"/>
            <a:ext cx="3219450" cy="1685925"/>
          </a:xfrm>
          <a:prstGeom prst="rect">
            <a:avLst/>
          </a:prstGeom>
          <a:solidFill>
            <a:srgbClr val="FFDDBE"/>
          </a:solidFill>
          <a:ln w="9525">
            <a:noFill/>
          </a:ln>
        </p:spPr>
      </p:sp>
      <p:sp>
        <p:nvSpPr>
          <p:cNvPr id="4" name="Browser extension"/>
          <p:cNvSpPr txBox="1"/>
          <p:nvPr/>
        </p:nvSpPr>
        <p:spPr>
          <a:xfrm>
            <a:off x="819150" y="2457450"/>
            <a:ext cx="2800350" cy="495300"/>
          </a:xfrm>
          <a:prstGeom prst="rect">
            <a:avLst/>
          </a:prstGeom>
          <a:noFill/>
          <a:ln>
            <a:noFill/>
          </a:ln>
        </p:spPr>
        <p:txBody>
          <a:bodyPr wrap="square" lIns="0" tIns="0" rIns="0" bIns="0" anchor="t"/>
          <a:lstStyle/>
          <a:p>
            <a:pPr algn="l">
              <a:lnSpc>
                <a:spcPct val="110000"/>
              </a:lnSpc>
            </a:pPr>
            <a:r>
              <a:rPr lang="en-GB" sz="2100" b="1">
                <a:solidFill>
                  <a:srgbClr val="201D1D"/>
                </a:solidFill>
                <a:latin typeface="Segoe UI"/>
                <a:ea typeface="Segoe UI"/>
                <a:cs typeface="Segoe UI"/>
              </a:rPr>
              <a:t xml:space="preserve">Browser extension</a:t>
            </a:r>
            <a:endParaRPr lang="en-GB" sz="2100" b="1"/>
          </a:p>
        </p:txBody>
      </p:sp>
      <p:sp>
        <p:nvSpPr>
          <p:cNvPr id="5" name="JavaScript Monitors and acts"/>
          <p:cNvSpPr txBox="1"/>
          <p:nvPr/>
        </p:nvSpPr>
        <p:spPr>
          <a:xfrm>
            <a:off x="819150" y="3133725"/>
            <a:ext cx="2800350" cy="685800"/>
          </a:xfrm>
          <a:prstGeom prst="rect">
            <a:avLst/>
          </a:prstGeom>
          <a:noFill/>
          <a:ln>
            <a:noFill/>
          </a:ln>
        </p:spPr>
        <p:txBody>
          <a:bodyPr wrap="square" lIns="0" tIns="0" rIns="0" bIns="0" anchor="t"/>
          <a:lstStyle/>
          <a:p>
            <a:pPr algn="l">
              <a:lnSpc>
                <a:spcPct val="110000"/>
              </a:lnSpc>
            </a:pPr>
            <a:r>
              <a:rPr lang="en-GB" sz="1725" b="0">
                <a:solidFill>
                  <a:srgbClr val="201D1D"/>
                </a:solidFill>
                <a:latin typeface="Segoe UI"/>
                <a:ea typeface="Segoe UI"/>
                <a:cs typeface="Segoe UI"/>
              </a:rPr>
              <a:t xml:space="preserve">JavaScript</a:t>
            </a:r>
            <a:endParaRPr lang="en-GB" sz="1725" b="0"/>
          </a:p>
          <a:p>
            <a:pPr algn="l">
              <a:lnSpc>
                <a:spcPct val="110000"/>
              </a:lnSpc>
            </a:pPr>
            <a:r>
              <a:rPr lang="en-GB" sz="1725" b="0">
                <a:solidFill>
                  <a:srgbClr val="201D1D"/>
                </a:solidFill>
                <a:latin typeface="Segoe UI"/>
                <a:ea typeface="Segoe UI"/>
                <a:cs typeface="Segoe UI"/>
              </a:rPr>
              <a:t xml:space="preserve">Monitors and acts</a:t>
            </a:r>
            <a:endParaRPr lang="en-GB" sz="1725" b="0"/>
          </a:p>
        </p:txBody>
      </p:sp>
      <p:sp>
        <p:nvSpPr>
          <p:cNvPr id="6" name="Shape 6"/>
          <p:cNvSpPr/>
          <p:nvPr/>
        </p:nvSpPr>
        <p:spPr>
          <a:xfrm>
            <a:off x="4486275" y="2228850"/>
            <a:ext cx="3219450" cy="1685925"/>
          </a:xfrm>
          <a:prstGeom prst="rect">
            <a:avLst/>
          </a:prstGeom>
          <a:solidFill>
            <a:srgbClr val="F4EDE5"/>
          </a:solidFill>
          <a:ln w="9525">
            <a:noFill/>
          </a:ln>
        </p:spPr>
      </p:sp>
      <p:sp>
        <p:nvSpPr>
          <p:cNvPr id="7" name="Desktop app"/>
          <p:cNvSpPr txBox="1"/>
          <p:nvPr/>
        </p:nvSpPr>
        <p:spPr>
          <a:xfrm>
            <a:off x="4695825" y="2457450"/>
            <a:ext cx="2800350" cy="495300"/>
          </a:xfrm>
          <a:prstGeom prst="rect">
            <a:avLst/>
          </a:prstGeom>
          <a:noFill/>
          <a:ln>
            <a:noFill/>
          </a:ln>
        </p:spPr>
        <p:txBody>
          <a:bodyPr wrap="square" lIns="0" tIns="0" rIns="0" bIns="0" anchor="t"/>
          <a:lstStyle/>
          <a:p>
            <a:pPr algn="l">
              <a:lnSpc>
                <a:spcPct val="110000"/>
              </a:lnSpc>
            </a:pPr>
            <a:r>
              <a:rPr lang="en-GB" sz="2100" b="1">
                <a:solidFill>
                  <a:srgbClr val="201D1D"/>
                </a:solidFill>
                <a:latin typeface="Segoe UI"/>
                <a:ea typeface="Segoe UI"/>
                <a:cs typeface="Segoe UI"/>
              </a:rPr>
              <a:t xml:space="preserve">Desktop app</a:t>
            </a:r>
            <a:endParaRPr lang="en-GB" sz="2100" b="1"/>
          </a:p>
        </p:txBody>
      </p:sp>
      <p:sp>
        <p:nvSpPr>
          <p:cNvPr id="8" name="C# / .NET 10 / WPF Coordinates and validates"/>
          <p:cNvSpPr txBox="1"/>
          <p:nvPr/>
        </p:nvSpPr>
        <p:spPr>
          <a:xfrm>
            <a:off x="4695825" y="3133725"/>
            <a:ext cx="2800350" cy="685800"/>
          </a:xfrm>
          <a:prstGeom prst="rect">
            <a:avLst/>
          </a:prstGeom>
          <a:noFill/>
          <a:ln>
            <a:noFill/>
          </a:ln>
        </p:spPr>
        <p:txBody>
          <a:bodyPr wrap="square" lIns="0" tIns="0" rIns="0" bIns="0" anchor="t"/>
          <a:lstStyle/>
          <a:p>
            <a:pPr algn="l">
              <a:lnSpc>
                <a:spcPct val="110000"/>
              </a:lnSpc>
            </a:pPr>
            <a:r>
              <a:rPr lang="en-GB" sz="1725" b="0">
                <a:solidFill>
                  <a:srgbClr val="201D1D"/>
                </a:solidFill>
                <a:latin typeface="Segoe UI"/>
                <a:ea typeface="Segoe UI"/>
                <a:cs typeface="Segoe UI"/>
              </a:rPr>
              <a:t xml:space="preserve">C# / .NET 10 / WPF</a:t>
            </a:r>
            <a:endParaRPr lang="en-GB" sz="1725" b="0"/>
          </a:p>
          <a:p>
            <a:pPr algn="l">
              <a:lnSpc>
                <a:spcPct val="110000"/>
              </a:lnSpc>
            </a:pPr>
            <a:r>
              <a:rPr lang="en-GB" sz="1725" b="0">
                <a:solidFill>
                  <a:srgbClr val="201D1D"/>
                </a:solidFill>
                <a:latin typeface="Segoe UI"/>
                <a:ea typeface="Segoe UI"/>
                <a:cs typeface="Segoe UI"/>
              </a:rPr>
              <a:t xml:space="preserve">Coordinates and validates</a:t>
            </a:r>
            <a:endParaRPr lang="en-GB" sz="1725" b="0"/>
          </a:p>
        </p:txBody>
      </p:sp>
      <p:sp>
        <p:nvSpPr>
          <p:cNvPr id="9" name="Shape 9"/>
          <p:cNvSpPr/>
          <p:nvPr/>
        </p:nvSpPr>
        <p:spPr>
          <a:xfrm>
            <a:off x="8362950" y="2228850"/>
            <a:ext cx="3219450" cy="1685925"/>
          </a:xfrm>
          <a:prstGeom prst="rect">
            <a:avLst/>
          </a:prstGeom>
          <a:solidFill>
            <a:srgbClr val="201D1D"/>
          </a:solidFill>
          <a:ln w="9525">
            <a:noFill/>
          </a:ln>
        </p:spPr>
      </p:sp>
      <p:sp>
        <p:nvSpPr>
          <p:cNvPr id="10" name="Local model"/>
          <p:cNvSpPr txBox="1"/>
          <p:nvPr/>
        </p:nvSpPr>
        <p:spPr>
          <a:xfrm>
            <a:off x="8572500" y="2457450"/>
            <a:ext cx="2800350" cy="495300"/>
          </a:xfrm>
          <a:prstGeom prst="rect">
            <a:avLst/>
          </a:prstGeom>
          <a:noFill/>
          <a:ln>
            <a:noFill/>
          </a:ln>
        </p:spPr>
        <p:txBody>
          <a:bodyPr wrap="square" lIns="0" tIns="0" rIns="0" bIns="0" anchor="t"/>
          <a:lstStyle/>
          <a:p>
            <a:pPr algn="l">
              <a:lnSpc>
                <a:spcPct val="110000"/>
              </a:lnSpc>
            </a:pPr>
            <a:r>
              <a:rPr lang="en-GB" sz="2100" b="1">
                <a:solidFill>
                  <a:srgbClr val="FFFEFA"/>
                </a:solidFill>
                <a:latin typeface="Segoe UI"/>
                <a:ea typeface="Segoe UI"/>
                <a:cs typeface="Segoe UI"/>
              </a:rPr>
              <a:t xml:space="preserve">Local model</a:t>
            </a:r>
            <a:endParaRPr lang="en-GB" sz="2100" b="1"/>
          </a:p>
        </p:txBody>
      </p:sp>
      <p:sp>
        <p:nvSpPr>
          <p:cNvPr id="11" name="Gemma 4 E2B llama.cpp / CPU"/>
          <p:cNvSpPr txBox="1"/>
          <p:nvPr/>
        </p:nvSpPr>
        <p:spPr>
          <a:xfrm>
            <a:off x="8572500" y="3133725"/>
            <a:ext cx="2800350" cy="685800"/>
          </a:xfrm>
          <a:prstGeom prst="rect">
            <a:avLst/>
          </a:prstGeom>
          <a:noFill/>
          <a:ln>
            <a:noFill/>
          </a:ln>
        </p:spPr>
        <p:txBody>
          <a:bodyPr wrap="square" lIns="0" tIns="0" rIns="0" bIns="0" anchor="t"/>
          <a:lstStyle/>
          <a:p>
            <a:pPr algn="l">
              <a:lnSpc>
                <a:spcPct val="110000"/>
              </a:lnSpc>
            </a:pPr>
            <a:r>
              <a:rPr lang="en-GB" sz="1725" b="0">
                <a:solidFill>
                  <a:srgbClr val="FFFEFA"/>
                </a:solidFill>
                <a:latin typeface="Segoe UI"/>
                <a:ea typeface="Segoe UI"/>
                <a:cs typeface="Segoe UI"/>
              </a:rPr>
              <a:t xml:space="preserve">Gemma 4 E2B</a:t>
            </a:r>
            <a:endParaRPr lang="en-GB" sz="1725" b="0"/>
          </a:p>
          <a:p>
            <a:pPr algn="l">
              <a:lnSpc>
                <a:spcPct val="110000"/>
              </a:lnSpc>
            </a:pPr>
            <a:r>
              <a:rPr lang="en-GB" sz="1725" b="0">
                <a:solidFill>
                  <a:srgbClr val="FFFEFA"/>
                </a:solidFill>
                <a:latin typeface="Segoe UI"/>
                <a:ea typeface="Segoe UI"/>
                <a:cs typeface="Segoe UI"/>
              </a:rPr>
              <a:t xml:space="preserve">llama.cpp / CPU</a:t>
            </a:r>
            <a:endParaRPr lang="en-GB" sz="1725" b="0"/>
          </a:p>
        </p:txBody>
      </p:sp>
      <p:sp>
        <p:nvSpPr>
          <p:cNvPr id="12" name="Shape 12"/>
          <p:cNvSpPr/>
          <p:nvPr/>
        </p:nvSpPr>
        <p:spPr>
          <a:xfrm>
            <a:off x="3943350" y="3048000"/>
            <a:ext cx="428625" cy="28575"/>
          </a:xfrm>
          <a:prstGeom prst="rect">
            <a:avLst/>
          </a:prstGeom>
          <a:solidFill>
            <a:srgbClr val="FF7A1A"/>
          </a:solidFill>
          <a:ln w="9525">
            <a:noFill/>
          </a:ln>
        </p:spPr>
      </p:sp>
      <p:sp>
        <p:nvSpPr>
          <p:cNvPr id="13" name="Shape 13"/>
          <p:cNvSpPr/>
          <p:nvPr/>
        </p:nvSpPr>
        <p:spPr>
          <a:xfrm>
            <a:off x="7820025" y="3048000"/>
            <a:ext cx="428625" cy="28575"/>
          </a:xfrm>
          <a:prstGeom prst="rect">
            <a:avLst/>
          </a:prstGeom>
          <a:solidFill>
            <a:srgbClr val="FF7A1A"/>
          </a:solidFill>
          <a:ln w="9525">
            <a:noFill/>
          </a:ln>
        </p:spPr>
      </p:sp>
      <p:sp>
        <p:nvSpPr>
          <p:cNvPr id="14" name="Gemma recognises the task context and matches it to a l"/>
          <p:cNvSpPr txBox="1"/>
          <p:nvPr/>
        </p:nvSpPr>
        <p:spPr>
          <a:xfrm>
            <a:off x="609600" y="4410075"/>
            <a:ext cx="10972800" cy="1000125"/>
          </a:xfrm>
          <a:prstGeom prst="rect">
            <a:avLst/>
          </a:prstGeom>
          <a:noFill/>
          <a:ln>
            <a:noFill/>
          </a:ln>
        </p:spPr>
        <p:txBody>
          <a:bodyPr wrap="square" lIns="0" tIns="0" rIns="0" bIns="0" anchor="t"/>
          <a:lstStyle/>
          <a:p>
            <a:pPr algn="l">
              <a:lnSpc>
                <a:spcPct val="110000"/>
              </a:lnSpc>
            </a:pPr>
            <a:r>
              <a:rPr lang="en-GB" sz="2475" b="1">
                <a:solidFill>
                  <a:srgbClr val="201D1D"/>
                </a:solidFill>
                <a:latin typeface="Segoe UI"/>
                <a:ea typeface="Segoe UI"/>
                <a:cs typeface="Segoe UI"/>
              </a:rPr>
              <a:t xml:space="preserve">Gemma recognises the task context</a:t>
            </a:r>
            <a:endParaRPr lang="en-GB" sz="2475" b="1"/>
          </a:p>
          <a:p>
            <a:pPr algn="l">
              <a:lnSpc>
                <a:spcPct val="110000"/>
              </a:lnSpc>
            </a:pPr>
            <a:r>
              <a:rPr lang="en-GB" sz="2475" b="1">
                <a:solidFill>
                  <a:srgbClr val="201D1D"/>
                </a:solidFill>
                <a:latin typeface="Segoe UI"/>
                <a:ea typeface="Segoe UI"/>
                <a:cs typeface="Segoe UI"/>
              </a:rPr>
              <a:t xml:space="preserve">and matches it to a learned workflow.</a:t>
            </a:r>
            <a:endParaRPr lang="en-GB" sz="2475" b="1"/>
          </a:p>
        </p:txBody>
      </p:sp>
      <p:sp>
        <p:nvSpPr>
          <p:cNvPr id="15" name="I built the page triggers, workflow compiler, code-tran"/>
          <p:cNvSpPr txBox="1"/>
          <p:nvPr/>
        </p:nvSpPr>
        <p:spPr>
          <a:xfrm>
            <a:off x="609600" y="5772150"/>
            <a:ext cx="10972800" cy="685800"/>
          </a:xfrm>
          <a:prstGeom prst="rect">
            <a:avLst/>
          </a:prstGeom>
          <a:noFill/>
          <a:ln>
            <a:noFill/>
          </a:ln>
        </p:spPr>
        <p:txBody>
          <a:bodyPr wrap="square" lIns="0" tIns="0" rIns="0" bIns="0" anchor="t"/>
          <a:lstStyle/>
          <a:p>
            <a:pPr algn="l">
              <a:lnSpc>
                <a:spcPct val="110000"/>
              </a:lnSpc>
            </a:pPr>
            <a:r>
              <a:rPr lang="en-GB" sz="2025" b="0">
                <a:solidFill>
                  <a:srgbClr val="201D1D"/>
                </a:solidFill>
                <a:latin typeface="Segoe UI"/>
                <a:ea typeface="Segoe UI"/>
                <a:cs typeface="Segoe UI"/>
              </a:rPr>
              <a:t xml:space="preserve">I built the page triggers, workflow compiler, code-transfer logic and runtime manager.</a:t>
            </a:r>
            <a:endParaRPr lang="en-GB" sz="2025" b="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1">
  <p:cSld name="What works and what comes next">
    <p:bg>
      <p:bgPr>
        <a:solidFill>
          <a:srgbClr val="FFFEFA"/>
        </a:solidFill>
        <a:effectLst/>
      </p:bgPr>
    </p:bg>
    <p:spTree>
      <p:nvGrpSpPr>
        <p:cNvPr id="1" name=""/>
        <p:cNvGrpSpPr/>
        <p:nvPr/>
      </p:nvGrpSpPr>
      <p:grpSpPr>
        <a:xfrm>
          <a:off x="0" y="0"/>
          <a:ext cx="0" cy="0"/>
          <a:chOff x="0" y="0"/>
          <a:chExt cx="0" cy="0"/>
        </a:xfrm>
      </p:grpSpPr>
      <p:sp>
        <p:nvSpPr>
          <p:cNvPr id="2" name="What works and what comes next"/>
          <p:cNvSpPr txBox="1"/>
          <p:nvPr/>
        </p:nvSpPr>
        <p:spPr>
          <a:xfrm>
            <a:off x="609600" y="619125"/>
            <a:ext cx="10972800" cy="1162050"/>
          </a:xfrm>
          <a:prstGeom prst="rect">
            <a:avLst/>
          </a:prstGeom>
          <a:noFill/>
          <a:ln>
            <a:noFill/>
          </a:ln>
        </p:spPr>
        <p:txBody>
          <a:bodyPr wrap="square" lIns="0" tIns="0" rIns="0" bIns="0" anchor="t"/>
          <a:lstStyle/>
          <a:p>
            <a:pPr algn="l">
              <a:lnSpc>
                <a:spcPct val="110000"/>
              </a:lnSpc>
            </a:pPr>
            <a:r>
              <a:rPr lang="en-GB" sz="3600" b="1">
                <a:solidFill>
                  <a:srgbClr val="201D1D"/>
                </a:solidFill>
                <a:latin typeface="Segoe UI"/>
                <a:ea typeface="Segoe UI"/>
                <a:cs typeface="Segoe UI"/>
              </a:rPr>
              <a:t xml:space="preserve">What works and what comes next</a:t>
            </a:r>
            <a:endParaRPr lang="en-GB" sz="3600" b="1"/>
          </a:p>
        </p:txBody>
      </p:sp>
      <p:sp>
        <p:nvSpPr>
          <p:cNvPr id="3" name="Implemented"/>
          <p:cNvSpPr txBox="1"/>
          <p:nvPr/>
        </p:nvSpPr>
        <p:spPr>
          <a:xfrm>
            <a:off x="609600" y="2257425"/>
            <a:ext cx="5143500" cy="571500"/>
          </a:xfrm>
          <a:prstGeom prst="rect">
            <a:avLst/>
          </a:prstGeom>
          <a:noFill/>
          <a:ln>
            <a:noFill/>
          </a:ln>
        </p:spPr>
        <p:txBody>
          <a:bodyPr wrap="square" lIns="0" tIns="0" rIns="0" bIns="0" anchor="t"/>
          <a:lstStyle/>
          <a:p>
            <a:pPr algn="l">
              <a:lnSpc>
                <a:spcPct val="110000"/>
              </a:lnSpc>
            </a:pPr>
            <a:r>
              <a:rPr lang="en-GB" sz="2625" b="1">
                <a:solidFill>
                  <a:srgbClr val="201D1D"/>
                </a:solidFill>
                <a:latin typeface="Segoe UI"/>
                <a:ea typeface="Segoe UI"/>
                <a:cs typeface="Segoe UI"/>
              </a:rPr>
              <a:t xml:space="preserve">Implemented</a:t>
            </a:r>
            <a:endParaRPr lang="en-GB" sz="2625" b="1"/>
          </a:p>
        </p:txBody>
      </p:sp>
      <p:sp>
        <p:nvSpPr>
          <p:cNvPr id="4" name="Page monitoring and local matching Automatic enabled ve"/>
          <p:cNvSpPr txBox="1"/>
          <p:nvPr/>
        </p:nvSpPr>
        <p:spPr>
          <a:xfrm>
            <a:off x="609600" y="3143250"/>
            <a:ext cx="5143500" cy="2428875"/>
          </a:xfrm>
          <a:prstGeom prst="rect">
            <a:avLst/>
          </a:prstGeom>
          <a:noFill/>
          <a:ln>
            <a:noFill/>
          </a:ln>
        </p:spPr>
        <p:txBody>
          <a:bodyPr wrap="square" lIns="0" tIns="0" rIns="0" bIns="0" anchor="t"/>
          <a:lstStyle/>
          <a:p>
            <a:pPr algn="l">
              <a:lnSpc>
                <a:spcPct val="110000"/>
              </a:lnSpc>
            </a:pPr>
            <a:r>
              <a:rPr lang="en-GB" sz="2100" b="0">
                <a:solidFill>
                  <a:srgbClr val="201D1D"/>
                </a:solidFill>
                <a:latin typeface="Segoe UI"/>
                <a:ea typeface="Segoe UI"/>
                <a:cs typeface="Segoe UI"/>
              </a:rPr>
              <a:t xml:space="preserve">Page monitoring and local matching</a:t>
            </a:r>
            <a:endParaRPr lang="en-GB" sz="2100" b="0"/>
          </a:p>
          <a:p>
            <a:pPr algn="l">
              <a:lnSpc>
                <a:spcPct val="110000"/>
              </a:lnSpc>
            </a:pPr>
            <a:r>
              <a:rPr lang="en-GB" sz="2100" b="0">
                <a:solidFill>
                  <a:srgbClr val="201D1D"/>
                </a:solidFill>
                <a:latin typeface="Segoe UI"/>
                <a:ea typeface="Segoe UI"/>
                <a:cs typeface="Segoe UI"/>
              </a:rPr>
              <a:t xml:space="preserve">Automatic enabled verification runs</a:t>
            </a:r>
            <a:endParaRPr lang="en-GB" sz="2100" b="0"/>
          </a:p>
          <a:p>
            <a:pPr algn="l">
              <a:lnSpc>
                <a:spcPct val="110000"/>
              </a:lnSpc>
            </a:pPr>
            <a:r>
              <a:rPr lang="en-GB" sz="2100" b="0">
                <a:solidFill>
                  <a:srgbClr val="201D1D"/>
                </a:solidFill>
                <a:latin typeface="Segoe UI"/>
                <a:ea typeface="Segoe UI"/>
                <a:cs typeface="Segoe UI"/>
              </a:rPr>
              <a:t xml:space="preserve">Local Gemma task understanding</a:t>
            </a:r>
            <a:endParaRPr lang="en-GB" sz="2100" b="0"/>
          </a:p>
          <a:p>
            <a:pPr algn="l">
              <a:lnSpc>
                <a:spcPct val="110000"/>
              </a:lnSpc>
            </a:pPr>
            <a:r>
              <a:rPr lang="en-GB" sz="2100" b="0">
                <a:solidFill>
                  <a:srgbClr val="201D1D"/>
                </a:solidFill>
                <a:latin typeface="Segoe UI"/>
                <a:ea typeface="Segoe UI"/>
                <a:cs typeface="Segoe UI"/>
              </a:rPr>
              <a:t xml:space="preserve">Fresh-code checks on test pages</a:t>
            </a:r>
            <a:endParaRPr lang="en-GB" sz="2100" b="0"/>
          </a:p>
        </p:txBody>
      </p:sp>
      <p:sp>
        <p:nvSpPr>
          <p:cNvPr id="5" name="Next"/>
          <p:cNvSpPr txBox="1"/>
          <p:nvPr/>
        </p:nvSpPr>
        <p:spPr>
          <a:xfrm>
            <a:off x="6419850" y="2257425"/>
            <a:ext cx="5162550" cy="571500"/>
          </a:xfrm>
          <a:prstGeom prst="rect">
            <a:avLst/>
          </a:prstGeom>
          <a:noFill/>
          <a:ln>
            <a:noFill/>
          </a:ln>
        </p:spPr>
        <p:txBody>
          <a:bodyPr wrap="square" lIns="0" tIns="0" rIns="0" bIns="0" anchor="t"/>
          <a:lstStyle/>
          <a:p>
            <a:pPr algn="l">
              <a:lnSpc>
                <a:spcPct val="110000"/>
              </a:lnSpc>
            </a:pPr>
            <a:r>
              <a:rPr lang="en-GB" sz="2625" b="1">
                <a:solidFill>
                  <a:srgbClr val="201D1D"/>
                </a:solidFill>
                <a:latin typeface="Segoe UI"/>
                <a:ea typeface="Segoe UI"/>
                <a:cs typeface="Segoe UI"/>
              </a:rPr>
              <a:t xml:space="preserve">Next</a:t>
            </a:r>
            <a:endParaRPr lang="en-GB" sz="2625" b="1"/>
          </a:p>
        </p:txBody>
      </p:sp>
      <p:sp>
        <p:nvSpPr>
          <p:cNvPr id="6" name="Broaden background learning and automation Test real un"/>
          <p:cNvSpPr txBox="1"/>
          <p:nvPr/>
        </p:nvSpPr>
        <p:spPr>
          <a:xfrm>
            <a:off x="6419850" y="3143250"/>
            <a:ext cx="5162550" cy="2428875"/>
          </a:xfrm>
          <a:prstGeom prst="rect">
            <a:avLst/>
          </a:prstGeom>
          <a:noFill/>
          <a:ln>
            <a:noFill/>
          </a:ln>
        </p:spPr>
        <p:txBody>
          <a:bodyPr wrap="square" lIns="0" tIns="0" rIns="0" bIns="0" anchor="t"/>
          <a:lstStyle/>
          <a:p>
            <a:pPr algn="l">
              <a:lnSpc>
                <a:spcPct val="110000"/>
              </a:lnSpc>
            </a:pPr>
            <a:r>
              <a:rPr lang="en-GB" sz="2100" b="0">
                <a:solidFill>
                  <a:srgbClr val="201D1D"/>
                </a:solidFill>
                <a:latin typeface="Segoe UI"/>
                <a:ea typeface="Segoe UI"/>
                <a:cs typeface="Segoe UI"/>
              </a:rPr>
              <a:t xml:space="preserve">Broaden background learning and automation</a:t>
            </a:r>
            <a:endParaRPr lang="en-GB" sz="2100" b="0"/>
          </a:p>
          <a:p>
            <a:pPr algn="l">
              <a:lnSpc>
                <a:spcPct val="110000"/>
              </a:lnSpc>
            </a:pPr>
            <a:r>
              <a:rPr lang="en-GB" sz="2100" b="0">
                <a:solidFill>
                  <a:srgbClr val="201D1D"/>
                </a:solidFill>
                <a:latin typeface="Segoe UI"/>
                <a:ea typeface="Segoe UI"/>
                <a:cs typeface="Segoe UI"/>
              </a:rPr>
              <a:t xml:space="preserve">Test real university and WhatsApp flows</a:t>
            </a:r>
            <a:endParaRPr lang="en-GB" sz="2100" b="0"/>
          </a:p>
          <a:p>
            <a:pPr algn="l">
              <a:lnSpc>
                <a:spcPct val="110000"/>
              </a:lnSpc>
            </a:pPr>
            <a:r>
              <a:rPr lang="en-GB" sz="2100" b="0">
                <a:solidFill>
                  <a:srgbClr val="201D1D"/>
                </a:solidFill>
                <a:latin typeface="Segoe UI"/>
                <a:ea typeface="Segoe UI"/>
                <a:cs typeface="Segoe UI"/>
              </a:rPr>
              <a:t xml:space="preserve">Measure performance on my laptop</a:t>
            </a:r>
            <a:endParaRPr lang="en-GB" sz="2100" b="0"/>
          </a:p>
          <a:p>
            <a:pPr algn="l">
              <a:lnSpc>
                <a:spcPct val="110000"/>
              </a:lnSpc>
            </a:pPr>
            <a:r>
              <a:rPr lang="en-GB" sz="2100" b="0">
                <a:solidFill>
                  <a:srgbClr val="201D1D"/>
                </a:solidFill>
                <a:latin typeface="Segoe UI"/>
                <a:ea typeface="Segoe UI"/>
                <a:cs typeface="Segoe UI"/>
              </a:rPr>
              <a:t xml:space="preserve">Fix remaining end-to-end QA issues</a:t>
            </a:r>
            <a:endParaRPr lang="en-GB" sz="2100" b="0"/>
          </a:p>
        </p:txBody>
      </p:sp>
      <p:sp>
        <p:nvSpPr>
          <p:cNvPr id="7" name="Shape 7"/>
          <p:cNvSpPr/>
          <p:nvPr/>
        </p:nvSpPr>
        <p:spPr>
          <a:xfrm>
            <a:off x="609600" y="5857875"/>
            <a:ext cx="10972800" cy="12382"/>
          </a:xfrm>
          <a:prstGeom prst="rect">
            <a:avLst/>
          </a:prstGeom>
          <a:solidFill>
            <a:srgbClr val="E7DDD3"/>
          </a:solidFill>
          <a:ln w="9525">
            <a:noFill/>
          </a:ln>
        </p:spPr>
      </p:sp>
      <p:sp>
        <p:nvSpPr>
          <p:cNvPr id="8" name="github.com/MLouchini/Kopi"/>
          <p:cNvSpPr txBox="1"/>
          <p:nvPr/>
        </p:nvSpPr>
        <p:spPr>
          <a:xfrm>
            <a:off x="609600" y="6134100"/>
            <a:ext cx="10972800" cy="400050"/>
          </a:xfrm>
          <a:prstGeom prst="rect">
            <a:avLst/>
          </a:prstGeom>
          <a:noFill/>
          <a:ln>
            <a:noFill/>
          </a:ln>
        </p:spPr>
        <p:txBody>
          <a:bodyPr wrap="square" lIns="0" tIns="0" rIns="0" bIns="0" anchor="t"/>
          <a:lstStyle/>
          <a:p>
            <a:pPr algn="l">
              <a:lnSpc>
                <a:spcPct val="110000"/>
              </a:lnSpc>
            </a:pPr>
            <a:r>
              <a:rPr lang="en-GB" sz="1875" b="1">
                <a:solidFill>
                  <a:srgbClr val="FF7A1A"/>
                </a:solidFill>
                <a:latin typeface="Segoe UI"/>
                <a:ea typeface="Segoe UI"/>
                <a:cs typeface="Segoe UI"/>
              </a:rPr>
              <a:t xml:space="preserve">github.com/MLouchini/Kopi</a:t>
            </a:r>
            <a:endParaRPr lang="en-GB" sz="1875" b="1"/>
          </a:p>
        </p:txBody>
      </p:sp>
    </p:spTree>
  </p:cSld>
  <p:clrMapOvr>
    <a:masterClrMapping/>
  </p:clrMapOvr>
</p:sld>
</file>

<file path=ppt/theme/theme1.xml><?xml version="1.0" encoding="utf-8"?>
<a:theme xmlns:a="http://schemas.openxmlformats.org/drawingml/2006/main" name="Kopi">
  <a:themeElements>
    <a:clrScheme name="Kopi">
      <a:dk1>
        <a:srgbClr val="201D1D"/>
      </a:dk1>
      <a:lt1>
        <a:srgbClr val="FFFEFA"/>
      </a:lt1>
      <a:dk2>
        <a:srgbClr val="776B62"/>
      </a:dk2>
      <a:lt2>
        <a:srgbClr val="FFDDBE"/>
      </a:lt2>
      <a:accent1>
        <a:srgbClr val="FF7A1A"/>
      </a:accent1>
      <a:accent2>
        <a:srgbClr val="FFDDBE"/>
      </a:accent2>
      <a:accent3>
        <a:srgbClr val="201D1D"/>
      </a:accent3>
      <a:accent4>
        <a:srgbClr val="BD6933"/>
      </a:accent4>
      <a:accent5>
        <a:srgbClr val="F4EDE5"/>
      </a:accent5>
      <a:accent6>
        <a:srgbClr val="776B62"/>
      </a:accent6>
      <a:hlink>
        <a:srgbClr val="B24E00"/>
      </a:hlink>
      <a:folHlink>
        <a:srgbClr val="776B62"/>
      </a:folHlink>
    </a:clrScheme>
    <a:fontScheme name="Kopi">
      <a:majorFont>
        <a:latin typeface="Segoe UI"/>
        <a:ea typeface=""/>
        <a:cs typeface=""/>
      </a:majorFont>
      <a:minorFont>
        <a:latin typeface="Segoe UI"/>
        <a:ea typeface=""/>
        <a:cs typeface=""/>
      </a:minorFont>
    </a:fontScheme>
    <a:fmtScheme name="Kopi">
      <a:fillStyleLst>
        <a:solidFill>
          <a:srgbClr val="FFFEFA"/>
        </a:solidFill>
        <a:solidFill>
          <a:srgbClr val="FF7A1A"/>
        </a:solidFill>
        <a:solidFill>
          <a:srgbClr val="FFDDBE"/>
        </a:solidFill>
      </a:fillStyleLst>
      <a:lnStyleLst>
        <a:ln w="9525">
          <a:solidFill>
            <a:srgbClr val="201D1D"/>
          </a:solidFill>
          <a:prstDash val="solid"/>
        </a:ln>
        <a:ln w="19050">
          <a:solidFill>
            <a:srgbClr val="201D1D"/>
          </a:solidFill>
          <a:prstDash val="solid"/>
        </a:ln>
        <a:ln w="28575">
          <a:solidFill>
            <a:srgbClr val="201D1D"/>
          </a:solidFill>
          <a:prstDash val="solid"/>
        </a:ln>
      </a:lnStyleLst>
      <a:effectStyleLst>
        <a:effectStyle>
          <a:effectLst/>
        </a:effectStyle>
        <a:effectStyle>
          <a:effectLst/>
        </a:effectStyle>
        <a:effectStyle>
          <a:effectLst/>
        </a:effectStyle>
      </a:effectStyleLst>
      <a:bgFillStyleLst>
        <a:solidFill>
          <a:srgbClr val="FFFEFA"/>
        </a:solidFill>
        <a:solidFill>
          <a:srgbClr val="FFFEFA"/>
        </a:solidFill>
        <a:solidFill>
          <a:srgbClr val="FFFEFA"/>
        </a:solidFill>
      </a:bgFillStyleLst>
    </a:fmtScheme>
  </a:themeElements>
</a:theme>
</file>

<file path=docProps/app.xml><?xml version="1.0" encoding="utf-8"?>
<Properties xmlns="http://schemas.openxmlformats.org/officeDocument/2006/extended-properties">
  <Application>Kopi</Application>
  <PresentationFormat>On-screen Show (16:9)</PresentationFormat>
  <Slides>8</Slides>
  <Notes>8</Notes>
</Properties>
</file>

<file path=docProps/core.xml><?xml version="1.0" encoding="utf-8"?>
<cp:coreProperties xmlns:cp="http://schemas.openxmlformats.org/package/2006/metadata/core-properties" xmlns:dc="http://purl.org/dc/elements/1.1/">
  <dc:title>Kopi — Hackathon Pitch</dc:title>
  <dc:creator>Kopi</dc:creator>
  <dc:subject>Local AI browser workflow learner</dc:subject>
</cp:coreProperties>
</file>